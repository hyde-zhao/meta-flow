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4"/>
  </p:notesMasterIdLst>
  <p:sldIdLst>
    <p:sldId id="256" r:id="rId2"/>
    <p:sldId id="257" r:id="rId3"/>
    <p:sldId id="510" r:id="rId4"/>
    <p:sldId id="512" r:id="rId5"/>
    <p:sldId id="513" r:id="rId6"/>
    <p:sldId id="266" r:id="rId7"/>
    <p:sldId id="493" r:id="rId8"/>
    <p:sldId id="477" r:id="rId9"/>
    <p:sldId id="514" r:id="rId10"/>
    <p:sldId id="478" r:id="rId11"/>
    <p:sldId id="516" r:id="rId12"/>
    <p:sldId id="515" r:id="rId13"/>
    <p:sldId id="517" r:id="rId14"/>
    <p:sldId id="518" r:id="rId15"/>
    <p:sldId id="519" r:id="rId16"/>
    <p:sldId id="520" r:id="rId17"/>
    <p:sldId id="521" r:id="rId18"/>
    <p:sldId id="522" r:id="rId19"/>
    <p:sldId id="523" r:id="rId20"/>
    <p:sldId id="524" r:id="rId21"/>
    <p:sldId id="526" r:id="rId22"/>
    <p:sldId id="527" r:id="rId23"/>
    <p:sldId id="530" r:id="rId24"/>
    <p:sldId id="528" r:id="rId25"/>
    <p:sldId id="529" r:id="rId26"/>
    <p:sldId id="531" r:id="rId27"/>
    <p:sldId id="532" r:id="rId28"/>
    <p:sldId id="533" r:id="rId29"/>
    <p:sldId id="534" r:id="rId30"/>
    <p:sldId id="535" r:id="rId31"/>
    <p:sldId id="536" r:id="rId32"/>
    <p:sldId id="370" r:id="rId33"/>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nxing" initials="l" lastIdx="1" clrIdx="0">
    <p:extLst>
      <p:ext uri="{19B8F6BF-5375-455C-9EA6-DF929625EA0E}">
        <p15:presenceInfo xmlns:p15="http://schemas.microsoft.com/office/powerpoint/2012/main" userId="lanx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3277F"/>
    <a:srgbClr val="0000FF"/>
    <a:srgbClr val="02287E"/>
    <a:srgbClr val="FF9933"/>
    <a:srgbClr val="C50419"/>
    <a:srgbClr val="0B27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2407" autoAdjust="0"/>
  </p:normalViewPr>
  <p:slideViewPr>
    <p:cSldViewPr snapToGrid="0" snapToObjects="1">
      <p:cViewPr varScale="1">
        <p:scale>
          <a:sx n="93" d="100"/>
          <a:sy n="93" d="100"/>
        </p:scale>
        <p:origin x="80" y="4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4A6861-B161-4F43-923A-F47F72EF7662}" type="datetimeFigureOut">
              <a:rPr lang="zh-CN" altLang="en-US" smtClean="0"/>
              <a:t>2022/7/19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612C20-2F18-4BA5-B846-D159E077CBF5}" type="slidenum">
              <a:rPr lang="zh-CN" altLang="en-US" smtClean="0"/>
              <a:t>‹#›</a:t>
            </a:fld>
            <a:endParaRPr lang="zh-CN" altLang="en-US"/>
          </a:p>
        </p:txBody>
      </p:sp>
    </p:spTree>
    <p:extLst>
      <p:ext uri="{BB962C8B-B14F-4D97-AF65-F5344CB8AC3E}">
        <p14:creationId xmlns:p14="http://schemas.microsoft.com/office/powerpoint/2010/main" val="1234244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4</a:t>
            </a:fld>
            <a:endParaRPr lang="zh-CN" altLang="en-US"/>
          </a:p>
        </p:txBody>
      </p:sp>
    </p:spTree>
    <p:extLst>
      <p:ext uri="{BB962C8B-B14F-4D97-AF65-F5344CB8AC3E}">
        <p14:creationId xmlns:p14="http://schemas.microsoft.com/office/powerpoint/2010/main" val="590159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5</a:t>
            </a:fld>
            <a:endParaRPr lang="zh-CN" altLang="en-US"/>
          </a:p>
        </p:txBody>
      </p:sp>
    </p:spTree>
    <p:extLst>
      <p:ext uri="{BB962C8B-B14F-4D97-AF65-F5344CB8AC3E}">
        <p14:creationId xmlns:p14="http://schemas.microsoft.com/office/powerpoint/2010/main" val="162789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7</a:t>
            </a:fld>
            <a:endParaRPr lang="zh-CN" altLang="en-US"/>
          </a:p>
        </p:txBody>
      </p:sp>
    </p:spTree>
    <p:extLst>
      <p:ext uri="{BB962C8B-B14F-4D97-AF65-F5344CB8AC3E}">
        <p14:creationId xmlns:p14="http://schemas.microsoft.com/office/powerpoint/2010/main" val="176266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10</a:t>
            </a:fld>
            <a:endParaRPr lang="zh-CN" altLang="en-US"/>
          </a:p>
        </p:txBody>
      </p:sp>
    </p:spTree>
    <p:extLst>
      <p:ext uri="{BB962C8B-B14F-4D97-AF65-F5344CB8AC3E}">
        <p14:creationId xmlns:p14="http://schemas.microsoft.com/office/powerpoint/2010/main" val="857940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11</a:t>
            </a:fld>
            <a:endParaRPr lang="zh-CN" altLang="en-US"/>
          </a:p>
        </p:txBody>
      </p:sp>
    </p:spTree>
    <p:extLst>
      <p:ext uri="{BB962C8B-B14F-4D97-AF65-F5344CB8AC3E}">
        <p14:creationId xmlns:p14="http://schemas.microsoft.com/office/powerpoint/2010/main" val="1754064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12</a:t>
            </a:fld>
            <a:endParaRPr lang="zh-CN" altLang="en-US"/>
          </a:p>
        </p:txBody>
      </p:sp>
    </p:spTree>
    <p:extLst>
      <p:ext uri="{BB962C8B-B14F-4D97-AF65-F5344CB8AC3E}">
        <p14:creationId xmlns:p14="http://schemas.microsoft.com/office/powerpoint/2010/main" val="1201366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13</a:t>
            </a:fld>
            <a:endParaRPr lang="zh-CN" altLang="en-US"/>
          </a:p>
        </p:txBody>
      </p:sp>
    </p:spTree>
    <p:extLst>
      <p:ext uri="{BB962C8B-B14F-4D97-AF65-F5344CB8AC3E}">
        <p14:creationId xmlns:p14="http://schemas.microsoft.com/office/powerpoint/2010/main" val="3094446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14</a:t>
            </a:fld>
            <a:endParaRPr lang="zh-CN" altLang="en-US"/>
          </a:p>
        </p:txBody>
      </p:sp>
    </p:spTree>
    <p:extLst>
      <p:ext uri="{BB962C8B-B14F-4D97-AF65-F5344CB8AC3E}">
        <p14:creationId xmlns:p14="http://schemas.microsoft.com/office/powerpoint/2010/main" val="2159465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15</a:t>
            </a:fld>
            <a:endParaRPr lang="zh-CN" altLang="en-US"/>
          </a:p>
        </p:txBody>
      </p:sp>
    </p:spTree>
    <p:extLst>
      <p:ext uri="{BB962C8B-B14F-4D97-AF65-F5344CB8AC3E}">
        <p14:creationId xmlns:p14="http://schemas.microsoft.com/office/powerpoint/2010/main" val="1494020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16</a:t>
            </a:fld>
            <a:endParaRPr lang="zh-CN" altLang="en-US"/>
          </a:p>
        </p:txBody>
      </p:sp>
    </p:spTree>
    <p:extLst>
      <p:ext uri="{BB962C8B-B14F-4D97-AF65-F5344CB8AC3E}">
        <p14:creationId xmlns:p14="http://schemas.microsoft.com/office/powerpoint/2010/main" val="1602773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17</a:t>
            </a:fld>
            <a:endParaRPr lang="zh-CN" altLang="en-US"/>
          </a:p>
        </p:txBody>
      </p:sp>
    </p:spTree>
    <p:extLst>
      <p:ext uri="{BB962C8B-B14F-4D97-AF65-F5344CB8AC3E}">
        <p14:creationId xmlns:p14="http://schemas.microsoft.com/office/powerpoint/2010/main" val="373081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18</a:t>
            </a:fld>
            <a:endParaRPr lang="zh-CN" altLang="en-US"/>
          </a:p>
        </p:txBody>
      </p:sp>
    </p:spTree>
    <p:extLst>
      <p:ext uri="{BB962C8B-B14F-4D97-AF65-F5344CB8AC3E}">
        <p14:creationId xmlns:p14="http://schemas.microsoft.com/office/powerpoint/2010/main" val="3707448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19</a:t>
            </a:fld>
            <a:endParaRPr lang="zh-CN" altLang="en-US"/>
          </a:p>
        </p:txBody>
      </p:sp>
    </p:spTree>
    <p:extLst>
      <p:ext uri="{BB962C8B-B14F-4D97-AF65-F5344CB8AC3E}">
        <p14:creationId xmlns:p14="http://schemas.microsoft.com/office/powerpoint/2010/main" val="1071031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20</a:t>
            </a:fld>
            <a:endParaRPr lang="zh-CN" altLang="en-US"/>
          </a:p>
        </p:txBody>
      </p:sp>
    </p:spTree>
    <p:extLst>
      <p:ext uri="{BB962C8B-B14F-4D97-AF65-F5344CB8AC3E}">
        <p14:creationId xmlns:p14="http://schemas.microsoft.com/office/powerpoint/2010/main" val="20479341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21</a:t>
            </a:fld>
            <a:endParaRPr lang="zh-CN" altLang="en-US"/>
          </a:p>
        </p:txBody>
      </p:sp>
    </p:spTree>
    <p:extLst>
      <p:ext uri="{BB962C8B-B14F-4D97-AF65-F5344CB8AC3E}">
        <p14:creationId xmlns:p14="http://schemas.microsoft.com/office/powerpoint/2010/main" val="2515165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22</a:t>
            </a:fld>
            <a:endParaRPr lang="zh-CN" altLang="en-US"/>
          </a:p>
        </p:txBody>
      </p:sp>
    </p:spTree>
    <p:extLst>
      <p:ext uri="{BB962C8B-B14F-4D97-AF65-F5344CB8AC3E}">
        <p14:creationId xmlns:p14="http://schemas.microsoft.com/office/powerpoint/2010/main" val="2722446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所谓路径分析法，就是指对能够覆盖流程的各种路径进行分析，得到一个路径的集合。在测试时，我们只需要按照这个路径集合进行测试即可。</a:t>
            </a:r>
            <a:endParaRPr lang="en-US" altLang="zh-CN" dirty="0" smtClean="0"/>
          </a:p>
          <a:p>
            <a:r>
              <a:rPr lang="zh-CN" altLang="en-US" dirty="0" smtClean="0"/>
              <a:t>不同的覆盖策略，能够得到不同的路径集合。常见的覆盖策略有语句覆盖、分支覆盖、全覆盖和最小线性无关覆盖</a:t>
            </a:r>
            <a:endParaRPr lang="zh-CN" altLang="en-US"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23</a:t>
            </a:fld>
            <a:endParaRPr lang="zh-CN" altLang="en-US"/>
          </a:p>
        </p:txBody>
      </p:sp>
    </p:spTree>
    <p:extLst>
      <p:ext uri="{BB962C8B-B14F-4D97-AF65-F5344CB8AC3E}">
        <p14:creationId xmlns:p14="http://schemas.microsoft.com/office/powerpoint/2010/main" val="40950530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25</a:t>
            </a:fld>
            <a:endParaRPr lang="zh-CN" altLang="en-US"/>
          </a:p>
        </p:txBody>
      </p:sp>
    </p:spTree>
    <p:extLst>
      <p:ext uri="{BB962C8B-B14F-4D97-AF65-F5344CB8AC3E}">
        <p14:creationId xmlns:p14="http://schemas.microsoft.com/office/powerpoint/2010/main" val="3767653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26</a:t>
            </a:fld>
            <a:endParaRPr lang="zh-CN" altLang="en-US"/>
          </a:p>
        </p:txBody>
      </p:sp>
    </p:spTree>
    <p:extLst>
      <p:ext uri="{BB962C8B-B14F-4D97-AF65-F5344CB8AC3E}">
        <p14:creationId xmlns:p14="http://schemas.microsoft.com/office/powerpoint/2010/main" val="1875049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27</a:t>
            </a:fld>
            <a:endParaRPr lang="zh-CN" altLang="en-US"/>
          </a:p>
        </p:txBody>
      </p:sp>
    </p:spTree>
    <p:extLst>
      <p:ext uri="{BB962C8B-B14F-4D97-AF65-F5344CB8AC3E}">
        <p14:creationId xmlns:p14="http://schemas.microsoft.com/office/powerpoint/2010/main" val="4273104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28</a:t>
            </a:fld>
            <a:endParaRPr lang="zh-CN" altLang="en-US"/>
          </a:p>
        </p:txBody>
      </p:sp>
    </p:spTree>
    <p:extLst>
      <p:ext uri="{BB962C8B-B14F-4D97-AF65-F5344CB8AC3E}">
        <p14:creationId xmlns:p14="http://schemas.microsoft.com/office/powerpoint/2010/main" val="3697291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29</a:t>
            </a:fld>
            <a:endParaRPr lang="zh-CN" altLang="en-US"/>
          </a:p>
        </p:txBody>
      </p:sp>
    </p:spTree>
    <p:extLst>
      <p:ext uri="{BB962C8B-B14F-4D97-AF65-F5344CB8AC3E}">
        <p14:creationId xmlns:p14="http://schemas.microsoft.com/office/powerpoint/2010/main" val="10204398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30</a:t>
            </a:fld>
            <a:endParaRPr lang="zh-CN" altLang="en-US"/>
          </a:p>
        </p:txBody>
      </p:sp>
    </p:spTree>
    <p:extLst>
      <p:ext uri="{BB962C8B-B14F-4D97-AF65-F5344CB8AC3E}">
        <p14:creationId xmlns:p14="http://schemas.microsoft.com/office/powerpoint/2010/main" val="33299560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31</a:t>
            </a:fld>
            <a:endParaRPr lang="zh-CN" altLang="en-US"/>
          </a:p>
        </p:txBody>
      </p:sp>
    </p:spTree>
    <p:extLst>
      <p:ext uri="{BB962C8B-B14F-4D97-AF65-F5344CB8AC3E}">
        <p14:creationId xmlns:p14="http://schemas.microsoft.com/office/powerpoint/2010/main" val="3851252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F9E1B693-632D-4080-9CF6-EA28B66DC801}" type="slidenum">
              <a:rPr lang="zh-CN" altLang="en-US" smtClean="0"/>
              <a:t>32</a:t>
            </a:fld>
            <a:endParaRPr lang="zh-CN" altLang="en-US"/>
          </a:p>
        </p:txBody>
      </p:sp>
    </p:spTree>
    <p:extLst>
      <p:ext uri="{BB962C8B-B14F-4D97-AF65-F5344CB8AC3E}">
        <p14:creationId xmlns:p14="http://schemas.microsoft.com/office/powerpoint/2010/main" val="222322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2022/7/19</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6502400"/>
            <a:ext cx="12192000" cy="355600"/>
          </a:xfrm>
          <a:prstGeom prst="rect">
            <a:avLst/>
          </a:prstGeom>
        </p:spPr>
      </p:pic>
      <p:sp>
        <p:nvSpPr>
          <p:cNvPr id="10" name="文本框 9">
            <a:extLst>
              <a:ext uri="{FF2B5EF4-FFF2-40B4-BE49-F238E27FC236}">
                <a16:creationId xmlns:a16="http://schemas.microsoft.com/office/drawing/2014/main" id="{4F2EB915-CDFB-4407-95A7-5AE7C21DF43E}"/>
              </a:ext>
            </a:extLst>
          </p:cNvPr>
          <p:cNvSpPr txBox="1"/>
          <p:nvPr userDrawn="1"/>
        </p:nvSpPr>
        <p:spPr>
          <a:xfrm>
            <a:off x="626630" y="6523296"/>
            <a:ext cx="2698175" cy="307777"/>
          </a:xfrm>
          <a:prstGeom prst="rect">
            <a:avLst/>
          </a:prstGeom>
          <a:noFill/>
        </p:spPr>
        <p:txBody>
          <a:bodyPr wrap="none" rtlCol="0">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杭州安恒信息技术股份有限公司</a:t>
            </a:r>
          </a:p>
        </p:txBody>
      </p:sp>
      <p:pic>
        <p:nvPicPr>
          <p:cNvPr id="11" name="图片 10">
            <a:extLst>
              <a:ext uri="{FF2B5EF4-FFF2-40B4-BE49-F238E27FC236}">
                <a16:creationId xmlns:a16="http://schemas.microsoft.com/office/drawing/2014/main" id="{9A44D34A-1AC9-42C8-80CE-A3769DAC291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8143" b="16509"/>
          <a:stretch/>
        </p:blipFill>
        <p:spPr>
          <a:xfrm>
            <a:off x="10253985" y="331178"/>
            <a:ext cx="1274787" cy="624788"/>
          </a:xfrm>
          <a:prstGeom prst="rect">
            <a:avLst/>
          </a:prstGeom>
        </p:spPr>
      </p:pic>
    </p:spTree>
    <p:extLst>
      <p:ext uri="{BB962C8B-B14F-4D97-AF65-F5344CB8AC3E}">
        <p14:creationId xmlns:p14="http://schemas.microsoft.com/office/powerpoint/2010/main" val="1258103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65BD5-6D5D-C748-9616-8AA1B30A72FE}" type="datetimeFigureOut">
              <a:rPr kumimoji="1" lang="zh-CN" altLang="en-US" smtClean="0"/>
              <a:t>2022/7/19</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221111-15F1-D446-BC8D-E5E1B78BB3FA}" type="slidenum">
              <a:rPr kumimoji="1" lang="zh-CN" altLang="en-US" smtClean="0"/>
              <a:t>‹#›</a:t>
            </a:fld>
            <a:endParaRPr kumimoji="1" lang="zh-CN" altLang="en-US"/>
          </a:p>
        </p:txBody>
      </p:sp>
    </p:spTree>
    <p:extLst>
      <p:ext uri="{BB962C8B-B14F-4D97-AF65-F5344CB8AC3E}">
        <p14:creationId xmlns:p14="http://schemas.microsoft.com/office/powerpoint/2010/main" val="56933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28.png"/><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620706" y="4637712"/>
            <a:ext cx="3759707" cy="1199752"/>
          </a:xfrm>
          <a:prstGeom prst="rect">
            <a:avLst/>
          </a:prstGeom>
          <a:noFill/>
        </p:spPr>
        <p:txBody>
          <a:bodyPr wrap="square" rtlCol="0" anchor="t">
            <a:spAutoFit/>
          </a:bodyPr>
          <a:lstStyle/>
          <a:p>
            <a:pPr defTabSz="1218072">
              <a:lnSpc>
                <a:spcPct val="150000"/>
              </a:lnSpc>
            </a:pPr>
            <a:r>
              <a:rPr lang="zh-CN" altLang="en-US" sz="1599" dirty="0">
                <a:solidFill>
                  <a:srgbClr val="1F2A66"/>
                </a:solidFill>
                <a:latin typeface="Arial"/>
                <a:ea typeface="微软雅黑"/>
              </a:rPr>
              <a:t>主讲人</a:t>
            </a:r>
            <a:r>
              <a:rPr lang="zh-CN" altLang="en-US" sz="1599" dirty="0" smtClean="0">
                <a:solidFill>
                  <a:srgbClr val="1F2A66"/>
                </a:solidFill>
                <a:latin typeface="Arial"/>
                <a:ea typeface="微软雅黑"/>
              </a:rPr>
              <a:t>：</a:t>
            </a:r>
            <a:r>
              <a:rPr lang="zh-CN" altLang="en-US" sz="1599" dirty="0">
                <a:solidFill>
                  <a:srgbClr val="1F2A66"/>
                </a:solidFill>
                <a:latin typeface="Arial"/>
                <a:ea typeface="微软雅黑"/>
              </a:rPr>
              <a:t>赵海波</a:t>
            </a:r>
            <a:endParaRPr lang="en-US" altLang="zh-CN" sz="1599" dirty="0">
              <a:solidFill>
                <a:srgbClr val="1F2A66"/>
              </a:solidFill>
              <a:latin typeface="Arial"/>
              <a:ea typeface="微软雅黑"/>
            </a:endParaRPr>
          </a:p>
          <a:p>
            <a:pPr defTabSz="1218072">
              <a:lnSpc>
                <a:spcPct val="150000"/>
              </a:lnSpc>
            </a:pPr>
            <a:r>
              <a:rPr lang="zh-CN" altLang="en-US" sz="1599" dirty="0">
                <a:solidFill>
                  <a:srgbClr val="1F2A66"/>
                </a:solidFill>
                <a:latin typeface="Arial"/>
                <a:ea typeface="微软雅黑"/>
              </a:rPr>
              <a:t>工号</a:t>
            </a:r>
            <a:r>
              <a:rPr lang="zh-CN" altLang="en-US" sz="1599" dirty="0" smtClean="0">
                <a:solidFill>
                  <a:srgbClr val="1F2A66"/>
                </a:solidFill>
                <a:latin typeface="Arial"/>
                <a:ea typeface="微软雅黑"/>
              </a:rPr>
              <a:t>：</a:t>
            </a:r>
            <a:r>
              <a:rPr lang="en-US" altLang="zh-CN" sz="1599" dirty="0" smtClean="0">
                <a:solidFill>
                  <a:srgbClr val="1F2A66"/>
                </a:solidFill>
                <a:latin typeface="Arial"/>
                <a:ea typeface="微软雅黑"/>
              </a:rPr>
              <a:t>AH8364</a:t>
            </a:r>
            <a:endParaRPr lang="en-US" altLang="zh-CN" sz="1599" dirty="0">
              <a:solidFill>
                <a:srgbClr val="1F2A66"/>
              </a:solidFill>
              <a:latin typeface="Arial"/>
              <a:ea typeface="微软雅黑"/>
            </a:endParaRPr>
          </a:p>
          <a:p>
            <a:pPr defTabSz="1218072">
              <a:lnSpc>
                <a:spcPct val="150000"/>
              </a:lnSpc>
            </a:pPr>
            <a:r>
              <a:rPr lang="zh-CN" altLang="en-US" sz="1599" dirty="0">
                <a:solidFill>
                  <a:srgbClr val="1F2A66"/>
                </a:solidFill>
                <a:latin typeface="Arial"/>
                <a:ea typeface="微软雅黑"/>
              </a:rPr>
              <a:t>时间：</a:t>
            </a:r>
            <a:r>
              <a:rPr lang="en-US" altLang="zh-CN" sz="1599" dirty="0" smtClean="0">
                <a:solidFill>
                  <a:srgbClr val="1F2A66"/>
                </a:solidFill>
                <a:latin typeface="Arial"/>
                <a:ea typeface="微软雅黑"/>
              </a:rPr>
              <a:t>2022-07-18</a:t>
            </a:r>
            <a:endParaRPr lang="zh-CN" altLang="en-US" sz="1599" dirty="0">
              <a:solidFill>
                <a:srgbClr val="1F2A66"/>
              </a:solidFill>
              <a:latin typeface="Arial"/>
              <a:ea typeface="微软雅黑"/>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706" y="644046"/>
            <a:ext cx="1817694" cy="745533"/>
          </a:xfrm>
          <a:prstGeom prst="rect">
            <a:avLst/>
          </a:prstGeom>
        </p:spPr>
      </p:pic>
      <p:sp>
        <p:nvSpPr>
          <p:cNvPr id="9" name="文本框 8"/>
          <p:cNvSpPr txBox="1"/>
          <p:nvPr/>
        </p:nvSpPr>
        <p:spPr>
          <a:xfrm>
            <a:off x="620706" y="6076212"/>
            <a:ext cx="3015873" cy="276999"/>
          </a:xfrm>
          <a:prstGeom prst="rect">
            <a:avLst/>
          </a:prstGeom>
          <a:noFill/>
        </p:spPr>
        <p:txBody>
          <a:bodyPr wrap="square" rtlCol="0" anchor="t">
            <a:spAutoFit/>
          </a:bodyPr>
          <a:lstStyle/>
          <a:p>
            <a:r>
              <a:rPr lang="en-US" altLang="zh-CN" sz="1200">
                <a:solidFill>
                  <a:srgbClr val="03277F"/>
                </a:solidFill>
                <a:latin typeface="Microsoft YaHei Light" charset="-122"/>
                <a:ea typeface="Microsoft YaHei Light" charset="-122"/>
                <a:cs typeface="Microsoft YaHei Light" charset="-122"/>
              </a:rPr>
              <a:t>www.dbappsecurity.com.cn</a:t>
            </a:r>
            <a:endParaRPr lang="en-US" altLang="zh-CN" sz="1200" dirty="0">
              <a:solidFill>
                <a:srgbClr val="03277F"/>
              </a:solidFill>
              <a:latin typeface="Microsoft YaHei Light" charset="-122"/>
              <a:ea typeface="Microsoft YaHei Light" charset="-122"/>
              <a:cs typeface="Microsoft YaHei Light" charset="-122"/>
            </a:endParaRPr>
          </a:p>
        </p:txBody>
      </p:sp>
      <p:sp>
        <p:nvSpPr>
          <p:cNvPr id="7" name="文本框 6">
            <a:extLst>
              <a:ext uri="{FF2B5EF4-FFF2-40B4-BE49-F238E27FC236}">
                <a16:creationId xmlns:a16="http://schemas.microsoft.com/office/drawing/2014/main" id="{A414B1F6-D664-482A-AFE4-D204F8897A33}"/>
              </a:ext>
            </a:extLst>
          </p:cNvPr>
          <p:cNvSpPr txBox="1"/>
          <p:nvPr/>
        </p:nvSpPr>
        <p:spPr>
          <a:xfrm>
            <a:off x="940344" y="2141571"/>
            <a:ext cx="5447267" cy="1200329"/>
          </a:xfrm>
          <a:prstGeom prst="rect">
            <a:avLst/>
          </a:prstGeom>
          <a:noFill/>
        </p:spPr>
        <p:txBody>
          <a:bodyPr wrap="square" rtlCol="0" anchor="t">
            <a:spAutoFit/>
          </a:bodyPr>
          <a:lstStyle/>
          <a:p>
            <a:pPr algn="ctr">
              <a:lnSpc>
                <a:spcPct val="150000"/>
              </a:lnSpc>
            </a:pPr>
            <a:r>
              <a:rPr lang="zh-CN" altLang="en-US" sz="4800" b="1" dirty="0" smtClean="0">
                <a:solidFill>
                  <a:srgbClr val="1F2A66"/>
                </a:solidFill>
                <a:latin typeface="微软雅黑" panose="020B0503020204020204" pitchFamily="34" charset="-122"/>
                <a:ea typeface="微软雅黑" panose="020B0503020204020204" pitchFamily="34" charset="-122"/>
              </a:rPr>
              <a:t>测试用例设计方法</a:t>
            </a:r>
            <a:endParaRPr lang="en-US" altLang="zh-CN" sz="4800" b="1" dirty="0">
              <a:solidFill>
                <a:srgbClr val="1F2A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150735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68FB483-DBE2-4818-8002-2CAC389B3227}"/>
              </a:ext>
            </a:extLst>
          </p:cNvPr>
          <p:cNvSpPr txBox="1"/>
          <p:nvPr/>
        </p:nvSpPr>
        <p:spPr>
          <a:xfrm>
            <a:off x="1494625" y="2663011"/>
            <a:ext cx="2076359" cy="1200329"/>
          </a:xfrm>
          <a:prstGeom prst="rect">
            <a:avLst/>
          </a:prstGeom>
          <a:noFill/>
        </p:spPr>
        <p:txBody>
          <a:bodyPr wrap="square" rtlCol="0">
            <a:spAutoFit/>
          </a:bodyPr>
          <a:lstStyle/>
          <a:p>
            <a:pPr algn="r">
              <a:defRPr/>
            </a:pPr>
            <a:r>
              <a:rPr lang="zh-CN" altLang="en-US" sz="4400" b="1" dirty="0">
                <a:solidFill>
                  <a:srgbClr val="03277F"/>
                </a:solidFill>
                <a:latin typeface="Agency FB" panose="020F0502020204030204"/>
                <a:ea typeface="微软雅黑"/>
                <a:cs typeface="+mn-ea"/>
                <a:sym typeface="+mn-lt"/>
              </a:rPr>
              <a:t>目录</a:t>
            </a:r>
            <a:endParaRPr lang="en-US" altLang="zh-CN" sz="4400" b="1" dirty="0">
              <a:solidFill>
                <a:srgbClr val="03277F"/>
              </a:solidFill>
              <a:latin typeface="Agency FB" panose="020F0502020204030204"/>
              <a:ea typeface="微软雅黑"/>
              <a:cs typeface="+mn-ea"/>
              <a:sym typeface="+mn-lt"/>
            </a:endParaRPr>
          </a:p>
          <a:p>
            <a:pPr algn="r">
              <a:defRPr/>
            </a:pPr>
            <a:r>
              <a:rPr lang="en-US" altLang="zh-CN" sz="2800" b="1" dirty="0">
                <a:solidFill>
                  <a:prstClr val="black">
                    <a:lumMod val="65000"/>
                    <a:lumOff val="35000"/>
                  </a:prstClr>
                </a:solidFill>
                <a:latin typeface="Agency FB" panose="020F0502020204030204"/>
                <a:ea typeface="微软雅黑"/>
                <a:cs typeface="+mn-ea"/>
                <a:sym typeface="+mn-lt"/>
              </a:rPr>
              <a:t>CONENTS</a:t>
            </a:r>
            <a:endParaRPr lang="zh-CN" altLang="en-US" sz="2800" b="1" dirty="0">
              <a:solidFill>
                <a:prstClr val="black">
                  <a:lumMod val="65000"/>
                  <a:lumOff val="35000"/>
                </a:prstClr>
              </a:solidFill>
              <a:latin typeface="Agency FB" panose="020F0502020204030204"/>
              <a:ea typeface="微软雅黑"/>
              <a:cs typeface="+mn-ea"/>
              <a:sym typeface="+mn-lt"/>
            </a:endParaRPr>
          </a:p>
        </p:txBody>
      </p:sp>
      <p:cxnSp>
        <p:nvCxnSpPr>
          <p:cNvPr id="3" name="直接连接符 16">
            <a:extLst>
              <a:ext uri="{FF2B5EF4-FFF2-40B4-BE49-F238E27FC236}">
                <a16:creationId xmlns:a16="http://schemas.microsoft.com/office/drawing/2014/main" id="{E1880898-9350-4190-B13A-D30EED454796}"/>
              </a:ext>
            </a:extLst>
          </p:cNvPr>
          <p:cNvCxnSpPr/>
          <p:nvPr/>
        </p:nvCxnSpPr>
        <p:spPr>
          <a:xfrm>
            <a:off x="4530514" y="1806946"/>
            <a:ext cx="0" cy="2674620"/>
          </a:xfrm>
          <a:prstGeom prst="line">
            <a:avLst/>
          </a:prstGeom>
          <a:noFill/>
          <a:ln w="6350" cap="flat" cmpd="sng" algn="ctr">
            <a:solidFill>
              <a:sysClr val="windowText" lastClr="000000">
                <a:lumMod val="65000"/>
                <a:lumOff val="35000"/>
              </a:sysClr>
            </a:solidFill>
            <a:prstDash val="dash"/>
            <a:miter lim="800000"/>
          </a:ln>
          <a:effectLst/>
        </p:spPr>
      </p:cxnSp>
      <p:sp>
        <p:nvSpPr>
          <p:cNvPr id="5" name="TextBox 119">
            <a:extLst>
              <a:ext uri="{FF2B5EF4-FFF2-40B4-BE49-F238E27FC236}">
                <a16:creationId xmlns:a16="http://schemas.microsoft.com/office/drawing/2014/main" id="{5E97D6A1-C07D-49E0-B6D0-D6C37EA06A63}"/>
              </a:ext>
            </a:extLst>
          </p:cNvPr>
          <p:cNvSpPr txBox="1"/>
          <p:nvPr/>
        </p:nvSpPr>
        <p:spPr>
          <a:xfrm>
            <a:off x="5437109" y="3073120"/>
            <a:ext cx="4003704" cy="369332"/>
          </a:xfrm>
          <a:prstGeom prst="rect">
            <a:avLst/>
          </a:prstGeom>
          <a:noFill/>
        </p:spPr>
        <p:txBody>
          <a:bodyPr wrap="square" rtlCol="0">
            <a:spAutoFit/>
          </a:bodyPr>
          <a:lstStyle/>
          <a:p>
            <a:pPr defTabSz="914217"/>
            <a:r>
              <a:rPr lang="en-US" b="1" dirty="0" smtClean="0">
                <a:solidFill>
                  <a:srgbClr val="03277F"/>
                </a:solidFill>
                <a:latin typeface="微软雅黑" panose="020B0503020204020204" pitchFamily="34" charset="-122"/>
                <a:ea typeface="微软雅黑" panose="020B0503020204020204" pitchFamily="34" charset="-122"/>
                <a:cs typeface="+mn-ea"/>
                <a:sym typeface="+mn-lt"/>
              </a:rPr>
              <a:t>02</a:t>
            </a:r>
            <a:r>
              <a:rPr lang="zh-CN" altLang="en-US" b="1" dirty="0" smtClean="0">
                <a:solidFill>
                  <a:srgbClr val="03277F"/>
                </a:solidFill>
                <a:latin typeface="微软雅黑" panose="020B0503020204020204" pitchFamily="34" charset="-122"/>
                <a:ea typeface="微软雅黑" panose="020B0503020204020204" pitchFamily="34" charset="-122"/>
                <a:cs typeface="+mn-ea"/>
                <a:sym typeface="+mn-lt"/>
              </a:rPr>
              <a:t>、流程图法设计测试用例</a:t>
            </a:r>
            <a:endParaRPr lang="zh-CN" altLang="en-US" b="1" dirty="0">
              <a:solidFill>
                <a:srgbClr val="03277F"/>
              </a:solidFill>
              <a:latin typeface="Agency FB" panose="020F0502020204030204"/>
              <a:ea typeface="微软雅黑"/>
              <a:cs typeface="+mn-ea"/>
              <a:sym typeface="+mn-lt"/>
            </a:endParaRPr>
          </a:p>
        </p:txBody>
      </p:sp>
      <p:sp>
        <p:nvSpPr>
          <p:cNvPr id="8" name="TextBox 119">
            <a:extLst>
              <a:ext uri="{FF2B5EF4-FFF2-40B4-BE49-F238E27FC236}">
                <a16:creationId xmlns:a16="http://schemas.microsoft.com/office/drawing/2014/main" id="{168D1770-E40E-4C47-A6B3-A3B1FFA493B8}"/>
              </a:ext>
            </a:extLst>
          </p:cNvPr>
          <p:cNvSpPr txBox="1"/>
          <p:nvPr/>
        </p:nvSpPr>
        <p:spPr>
          <a:xfrm>
            <a:off x="5437109" y="3518883"/>
            <a:ext cx="3266624" cy="369332"/>
          </a:xfrm>
          <a:prstGeom prst="rect">
            <a:avLst/>
          </a:prstGeom>
          <a:noFill/>
        </p:spPr>
        <p:txBody>
          <a:bodyPr wrap="square" rtlCol="0">
            <a:spAutoFit/>
          </a:bodyPr>
          <a:lstStyle/>
          <a:p>
            <a:pPr defTabSz="914217"/>
            <a:r>
              <a:rPr lang="en-US" altLang="zh-CN" b="1" dirty="0" smtClean="0">
                <a:solidFill>
                  <a:srgbClr val="03277F"/>
                </a:solidFill>
                <a:latin typeface="微软雅黑" panose="020B0503020204020204" pitchFamily="34" charset="-122"/>
                <a:ea typeface="微软雅黑" panose="020B0503020204020204" pitchFamily="34" charset="-122"/>
                <a:cs typeface="+mn-ea"/>
                <a:sym typeface="+mn-lt"/>
              </a:rPr>
              <a:t>03</a:t>
            </a:r>
            <a:r>
              <a:rPr lang="zh-CN" altLang="en-US" b="1" dirty="0" smtClean="0">
                <a:solidFill>
                  <a:srgbClr val="03277F"/>
                </a:solidFill>
                <a:latin typeface="微软雅黑" panose="020B0503020204020204" pitchFamily="34" charset="-122"/>
                <a:ea typeface="微软雅黑" panose="020B0503020204020204" pitchFamily="34" charset="-122"/>
                <a:cs typeface="+mn-ea"/>
                <a:sym typeface="+mn-lt"/>
              </a:rPr>
              <a:t>、状态机法设计测试用例</a:t>
            </a:r>
            <a:endParaRPr lang="zh-CN" altLang="en-US" b="1" dirty="0">
              <a:solidFill>
                <a:srgbClr val="03277F"/>
              </a:solidFill>
              <a:latin typeface="Agency FB" panose="020F0502020204030204"/>
              <a:ea typeface="微软雅黑"/>
              <a:cs typeface="+mn-ea"/>
              <a:sym typeface="+mn-lt"/>
            </a:endParaRPr>
          </a:p>
        </p:txBody>
      </p:sp>
      <p:sp>
        <p:nvSpPr>
          <p:cNvPr id="12" name="Rectangle 120">
            <a:extLst>
              <a:ext uri="{FF2B5EF4-FFF2-40B4-BE49-F238E27FC236}">
                <a16:creationId xmlns:a16="http://schemas.microsoft.com/office/drawing/2014/main" id="{A1548EEB-028A-4707-9CA0-4FC31A91FE4A}"/>
              </a:ext>
            </a:extLst>
          </p:cNvPr>
          <p:cNvSpPr/>
          <p:nvPr/>
        </p:nvSpPr>
        <p:spPr>
          <a:xfrm>
            <a:off x="5437108" y="3655617"/>
            <a:ext cx="3593486" cy="292901"/>
          </a:xfrm>
          <a:prstGeom prst="rect">
            <a:avLst/>
          </a:prstGeom>
        </p:spPr>
        <p:txBody>
          <a:bodyPr wrap="square">
            <a:spAutoFit/>
          </a:bodyPr>
          <a:lstStyle/>
          <a:p>
            <a:pPr defTabSz="914217">
              <a:lnSpc>
                <a:spcPct val="150000"/>
              </a:lnSpc>
            </a:pPr>
            <a:endParaRPr lang="id-ID" sz="1000" dirty="0">
              <a:solidFill>
                <a:prstClr val="black">
                  <a:lumMod val="65000"/>
                  <a:lumOff val="35000"/>
                </a:prstClr>
              </a:solidFill>
              <a:latin typeface="Agency FB" panose="020F0502020204030204"/>
              <a:ea typeface="微软雅黑"/>
              <a:cs typeface="+mn-ea"/>
              <a:sym typeface="+mn-lt"/>
            </a:endParaRPr>
          </a:p>
        </p:txBody>
      </p:sp>
      <p:sp>
        <p:nvSpPr>
          <p:cNvPr id="7" name="TextBox 119">
            <a:extLst>
              <a:ext uri="{FF2B5EF4-FFF2-40B4-BE49-F238E27FC236}">
                <a16:creationId xmlns:a16="http://schemas.microsoft.com/office/drawing/2014/main" id="{5E97D6A1-C07D-49E0-B6D0-D6C37EA06A63}"/>
              </a:ext>
            </a:extLst>
          </p:cNvPr>
          <p:cNvSpPr txBox="1"/>
          <p:nvPr/>
        </p:nvSpPr>
        <p:spPr>
          <a:xfrm>
            <a:off x="5437109" y="2661539"/>
            <a:ext cx="4003704" cy="369332"/>
          </a:xfrm>
          <a:prstGeom prst="rect">
            <a:avLst/>
          </a:prstGeom>
          <a:noFill/>
        </p:spPr>
        <p:txBody>
          <a:bodyPr wrap="square" rtlCol="0">
            <a:spAutoFit/>
          </a:bodyPr>
          <a:lstStyle/>
          <a:p>
            <a:pPr defTabSz="914217"/>
            <a:r>
              <a:rPr lang="en-US" b="1" dirty="0">
                <a:solidFill>
                  <a:srgbClr val="03277F"/>
                </a:solidFill>
                <a:latin typeface="微软雅黑" panose="020B0503020204020204" pitchFamily="34" charset="-122"/>
                <a:ea typeface="微软雅黑" panose="020B0503020204020204" pitchFamily="34" charset="-122"/>
                <a:cs typeface="+mn-ea"/>
                <a:sym typeface="+mn-lt"/>
              </a:rPr>
              <a:t>01</a:t>
            </a:r>
            <a:r>
              <a:rPr lang="zh-CN" altLang="en-US" b="1" dirty="0" smtClean="0">
                <a:solidFill>
                  <a:srgbClr val="03277F"/>
                </a:solidFill>
                <a:latin typeface="微软雅黑" panose="020B0503020204020204" pitchFamily="34" charset="-122"/>
                <a:ea typeface="微软雅黑" panose="020B0503020204020204" pitchFamily="34" charset="-122"/>
                <a:cs typeface="+mn-ea"/>
                <a:sym typeface="+mn-lt"/>
              </a:rPr>
              <a:t>、测试用例设计步骤和方法概述</a:t>
            </a:r>
            <a:endParaRPr lang="zh-CN" altLang="en-US" b="1" dirty="0">
              <a:solidFill>
                <a:srgbClr val="03277F"/>
              </a:solidFill>
              <a:latin typeface="Agency FB" panose="020F0502020204030204"/>
              <a:ea typeface="微软雅黑"/>
              <a:cs typeface="+mn-ea"/>
              <a:sym typeface="+mn-lt"/>
            </a:endParaRPr>
          </a:p>
        </p:txBody>
      </p:sp>
    </p:spTree>
    <p:extLst>
      <p:ext uri="{BB962C8B-B14F-4D97-AF65-F5344CB8AC3E}">
        <p14:creationId xmlns:p14="http://schemas.microsoft.com/office/powerpoint/2010/main" val="11220389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Part01</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p:cNvSpPr txBox="1"/>
          <p:nvPr/>
        </p:nvSpPr>
        <p:spPr>
          <a:xfrm>
            <a:off x="1842766" y="2947892"/>
            <a:ext cx="9109407" cy="923330"/>
          </a:xfrm>
          <a:prstGeom prst="rect">
            <a:avLst/>
          </a:prstGeom>
          <a:noFill/>
        </p:spPr>
        <p:txBody>
          <a:bodyPr wrap="square" rtlCol="0">
            <a:spAutoFit/>
          </a:bodyPr>
          <a:lstStyle/>
          <a:p>
            <a:pPr algn="ctr"/>
            <a:r>
              <a:rPr kumimoji="1" lang="zh-CN" altLang="en-US" sz="5400" b="1" dirty="0" smtClean="0">
                <a:solidFill>
                  <a:srgbClr val="03277F"/>
                </a:solidFill>
                <a:latin typeface="Microsoft YaHei" charset="-122"/>
                <a:ea typeface="Microsoft YaHei" charset="-122"/>
                <a:cs typeface="Microsoft YaHei" charset="-122"/>
              </a:rPr>
              <a:t>测试用例设计步骤和方法概述</a:t>
            </a:r>
            <a:endParaRPr kumimoji="1" lang="zh-CN" altLang="en-US" sz="5400" b="1" dirty="0">
              <a:solidFill>
                <a:srgbClr val="03277F"/>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29364980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测试用例设计</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步骤</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spect="1" noChangeArrowheads="1"/>
          </p:cNvSpPr>
          <p:nvPr/>
        </p:nvSpPr>
        <p:spPr>
          <a:xfrm>
            <a:off x="481976" y="1147979"/>
            <a:ext cx="6683756" cy="4964795"/>
          </a:xfrm>
          <a:prstGeom prst="rect">
            <a:avLst/>
          </a:prstGeom>
        </p:spPr>
        <p:txBody>
          <a:bodyPr vert="horz" lIns="91440" tIns="45720" rIns="91440" bIns="45720" rtlCol="0">
            <a:normAutofit fontScale="70000" lnSpcReduction="20000"/>
          </a:bodyPr>
          <a:lstStyle/>
          <a:p>
            <a:pPr lvl="1" defTabSz="914400">
              <a:spcBef>
                <a:spcPct val="20000"/>
              </a:spcBef>
              <a:defRPr/>
            </a:pPr>
            <a:endParaRPr lang="zh-CN" altLang="en-US"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300" dirty="0">
                <a:latin typeface="华文细黑" pitchFamily="2" charset="-122"/>
                <a:ea typeface="华文细黑" pitchFamily="2" charset="-122"/>
              </a:rPr>
              <a:t>第一</a:t>
            </a:r>
            <a:r>
              <a:rPr lang="zh-CN" altLang="en-US" sz="2300" dirty="0" smtClean="0">
                <a:latin typeface="华文细黑" pitchFamily="2" charset="-122"/>
                <a:ea typeface="华文细黑" pitchFamily="2" charset="-122"/>
              </a:rPr>
              <a:t>步：对测试点进行分类：对测试点进行分类，然后为不同的类型选择最合适的测试设计方法</a:t>
            </a:r>
            <a:endParaRPr lang="en-US" altLang="zh-CN" sz="2300" dirty="0" smtClean="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endParaRPr lang="en-US" altLang="zh-CN" sz="2300" dirty="0" smtClean="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300" dirty="0" smtClean="0">
                <a:latin typeface="华文细黑" pitchFamily="2" charset="-122"/>
                <a:ea typeface="华文细黑" pitchFamily="2" charset="-122"/>
              </a:rPr>
              <a:t>第二步：建模</a:t>
            </a:r>
            <a:endParaRPr lang="en-US" altLang="zh-CN" sz="2300" dirty="0" smtClean="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r>
              <a:rPr lang="zh-CN" altLang="en-US" sz="2300" dirty="0" smtClean="0">
                <a:latin typeface="华文细黑" pitchFamily="2" charset="-122"/>
                <a:ea typeface="华文细黑" pitchFamily="2" charset="-122"/>
              </a:rPr>
              <a:t>对“参数和数据”类，可以通过“等价类分析表”来建立测试模型</a:t>
            </a:r>
            <a:endParaRPr lang="en-US" altLang="zh-CN" sz="2300" dirty="0" smtClean="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r>
              <a:rPr lang="zh-CN" altLang="en-US" sz="2300" dirty="0">
                <a:latin typeface="华文细黑" pitchFamily="2" charset="-122"/>
                <a:ea typeface="华文细黑" pitchFamily="2" charset="-122"/>
              </a:rPr>
              <a:t>对</a:t>
            </a:r>
            <a:r>
              <a:rPr lang="zh-CN" altLang="en-US" sz="2300" dirty="0" smtClean="0">
                <a:latin typeface="华文细黑" pitchFamily="2" charset="-122"/>
                <a:ea typeface="华文细黑" pitchFamily="2" charset="-122"/>
              </a:rPr>
              <a:t>“流程”</a:t>
            </a:r>
            <a:r>
              <a:rPr lang="zh-CN" altLang="en-US" sz="2300" dirty="0">
                <a:latin typeface="华文细黑" pitchFamily="2" charset="-122"/>
                <a:ea typeface="华文细黑" pitchFamily="2" charset="-122"/>
              </a:rPr>
              <a:t>类，可以通过</a:t>
            </a:r>
            <a:r>
              <a:rPr lang="zh-CN" altLang="en-US" sz="2300" dirty="0" smtClean="0">
                <a:latin typeface="华文细黑" pitchFamily="2" charset="-122"/>
                <a:ea typeface="华文细黑" pitchFamily="2" charset="-122"/>
              </a:rPr>
              <a:t>“流程图”</a:t>
            </a:r>
            <a:r>
              <a:rPr lang="zh-CN" altLang="en-US" sz="2300" dirty="0">
                <a:latin typeface="华文细黑" pitchFamily="2" charset="-122"/>
                <a:ea typeface="华文细黑" pitchFamily="2" charset="-122"/>
              </a:rPr>
              <a:t>来建立测试模型</a:t>
            </a:r>
            <a:endParaRPr lang="en-US" altLang="zh-CN" sz="2300" dirty="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r>
              <a:rPr lang="zh-CN" altLang="en-US" sz="2300" dirty="0">
                <a:latin typeface="华文细黑" pitchFamily="2" charset="-122"/>
                <a:ea typeface="华文细黑" pitchFamily="2" charset="-122"/>
              </a:rPr>
              <a:t>对</a:t>
            </a:r>
            <a:r>
              <a:rPr lang="zh-CN" altLang="en-US" sz="2300" dirty="0" smtClean="0">
                <a:latin typeface="华文细黑" pitchFamily="2" charset="-122"/>
                <a:ea typeface="华文细黑" pitchFamily="2" charset="-122"/>
              </a:rPr>
              <a:t>“状态迁移”</a:t>
            </a:r>
            <a:r>
              <a:rPr lang="zh-CN" altLang="en-US" sz="2300" dirty="0">
                <a:latin typeface="华文细黑" pitchFamily="2" charset="-122"/>
                <a:ea typeface="华文细黑" pitchFamily="2" charset="-122"/>
              </a:rPr>
              <a:t>类，可以通过</a:t>
            </a:r>
            <a:r>
              <a:rPr lang="zh-CN" altLang="en-US" sz="2300" dirty="0" smtClean="0">
                <a:latin typeface="华文细黑" pitchFamily="2" charset="-122"/>
                <a:ea typeface="华文细黑" pitchFamily="2" charset="-122"/>
              </a:rPr>
              <a:t>“状态机”</a:t>
            </a:r>
            <a:r>
              <a:rPr lang="zh-CN" altLang="en-US" sz="2300" dirty="0">
                <a:latin typeface="华文细黑" pitchFamily="2" charset="-122"/>
                <a:ea typeface="华文细黑" pitchFamily="2" charset="-122"/>
              </a:rPr>
              <a:t>来建立测试</a:t>
            </a:r>
            <a:r>
              <a:rPr lang="zh-CN" altLang="en-US" sz="2300" dirty="0" smtClean="0">
                <a:latin typeface="华文细黑" pitchFamily="2" charset="-122"/>
                <a:ea typeface="华文细黑" pitchFamily="2" charset="-122"/>
              </a:rPr>
              <a:t>模型</a:t>
            </a:r>
            <a:endParaRPr lang="en-US" altLang="zh-CN" sz="2300" dirty="0" smtClean="0">
              <a:latin typeface="华文细黑" pitchFamily="2" charset="-122"/>
              <a:ea typeface="华文细黑" pitchFamily="2" charset="-122"/>
            </a:endParaRPr>
          </a:p>
          <a:p>
            <a:pPr marL="800089" lvl="1" indent="-342900" defTabSz="914400">
              <a:spcBef>
                <a:spcPct val="20000"/>
              </a:spcBef>
              <a:buFont typeface="Wingdings" panose="05000000000000000000" pitchFamily="2" charset="2"/>
              <a:buChar char="Ø"/>
              <a:defRPr/>
            </a:pPr>
            <a:endParaRPr lang="en-US" altLang="zh-CN" sz="2300" dirty="0" smtClean="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300" dirty="0" smtClean="0">
                <a:latin typeface="华文细黑" pitchFamily="2" charset="-122"/>
                <a:ea typeface="华文细黑" pitchFamily="2" charset="-122"/>
              </a:rPr>
              <a:t>第三步：确定测试条件和测试数据：测试模型建好后，我们需要设计一些测试条件和测试数据，以覆盖这个测试模型。例如我们对某些测试点已经建好了模型（绘制出了和这几个测试点相关的流程图），接下来我们就需要确定通过怎样的条件和输入，能够覆盖这个流程图的各个分支。</a:t>
            </a:r>
            <a:endParaRPr lang="en-US" altLang="zh-CN" sz="2300" dirty="0" smtClean="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endParaRPr lang="en-US" altLang="zh-CN" sz="2300" dirty="0" smtClean="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2300" dirty="0" smtClean="0">
                <a:latin typeface="华文细黑" pitchFamily="2" charset="-122"/>
                <a:ea typeface="华文细黑" pitchFamily="2" charset="-122"/>
              </a:rPr>
              <a:t>第四步：根据经验扩展、补充测试用例：我们通过测试建模和覆盖测试模型得到的测试用例也只能基于概率进行覆盖。因此我们还需要根据经验，根据系统的失效规律白补充一些测试用例，以进一步加强测试的覆盖度和有效性。</a:t>
            </a:r>
            <a:endParaRPr lang="en-US" altLang="zh-CN" sz="2300" dirty="0" smtClean="0">
              <a:latin typeface="华文细黑" pitchFamily="2" charset="-122"/>
              <a:ea typeface="华文细黑" pitchFamily="2" charset="-122"/>
            </a:endParaRPr>
          </a:p>
          <a:p>
            <a:pPr lvl="0" defTabSz="914400">
              <a:spcBef>
                <a:spcPct val="20000"/>
              </a:spcBef>
              <a:defRPr/>
            </a:pPr>
            <a:endParaRPr lang="en-US" altLang="zh-CN" sz="2400" dirty="0">
              <a:latin typeface="华文细黑" pitchFamily="2" charset="-122"/>
              <a:ea typeface="华文细黑" pitchFamily="2" charset="-122"/>
            </a:endParaRPr>
          </a:p>
          <a:p>
            <a:pPr marL="914389" lvl="1" indent="-457200" defTabSz="914400">
              <a:spcBef>
                <a:spcPct val="20000"/>
              </a:spcBef>
              <a:buFont typeface="+mj-lt"/>
              <a:buAutoNum type="arabicPeriod"/>
              <a:defRPr/>
            </a:pPr>
            <a:endParaRPr lang="zh-CN" altLang="en-US" sz="2400" dirty="0">
              <a:latin typeface="华文细黑" pitchFamily="2" charset="-122"/>
              <a:ea typeface="华文细黑" pitchFamily="2" charset="-122"/>
            </a:endParaRPr>
          </a:p>
        </p:txBody>
      </p:sp>
      <p:pic>
        <p:nvPicPr>
          <p:cNvPr id="5" name="图片 4"/>
          <p:cNvPicPr>
            <a:picLocks noChangeAspect="1"/>
          </p:cNvPicPr>
          <p:nvPr/>
        </p:nvPicPr>
        <p:blipFill>
          <a:blip r:embed="rId3"/>
          <a:stretch>
            <a:fillRect/>
          </a:stretch>
        </p:blipFill>
        <p:spPr>
          <a:xfrm>
            <a:off x="8016736" y="1257884"/>
            <a:ext cx="2022462" cy="4760452"/>
          </a:xfrm>
          <a:prstGeom prst="rect">
            <a:avLst/>
          </a:prstGeom>
        </p:spPr>
      </p:pic>
    </p:spTree>
    <p:extLst>
      <p:ext uri="{BB962C8B-B14F-4D97-AF65-F5344CB8AC3E}">
        <p14:creationId xmlns:p14="http://schemas.microsoft.com/office/powerpoint/2010/main" val="31851011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路径分析法设计方法的选择</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5" name="表格 4"/>
          <p:cNvGraphicFramePr>
            <a:graphicFrameLocks noGrp="1"/>
          </p:cNvGraphicFramePr>
          <p:nvPr>
            <p:extLst>
              <p:ext uri="{D42A27DB-BD31-4B8C-83A1-F6EECF244321}">
                <p14:modId xmlns:p14="http://schemas.microsoft.com/office/powerpoint/2010/main" val="9971462"/>
              </p:ext>
            </p:extLst>
          </p:nvPr>
        </p:nvGraphicFramePr>
        <p:xfrm>
          <a:off x="624839" y="1540041"/>
          <a:ext cx="10691720" cy="3479800"/>
        </p:xfrm>
        <a:graphic>
          <a:graphicData uri="http://schemas.openxmlformats.org/drawingml/2006/table">
            <a:tbl>
              <a:tblPr firstRow="1" bandRow="1">
                <a:tableStyleId>{5C22544A-7EE6-4342-B048-85BDC9FD1C3A}</a:tableStyleId>
              </a:tblPr>
              <a:tblGrid>
                <a:gridCol w="2520811">
                  <a:extLst>
                    <a:ext uri="{9D8B030D-6E8A-4147-A177-3AD203B41FA5}">
                      <a16:colId xmlns:a16="http://schemas.microsoft.com/office/drawing/2014/main" val="1701733293"/>
                    </a:ext>
                  </a:extLst>
                </a:gridCol>
                <a:gridCol w="3701283">
                  <a:extLst>
                    <a:ext uri="{9D8B030D-6E8A-4147-A177-3AD203B41FA5}">
                      <a16:colId xmlns:a16="http://schemas.microsoft.com/office/drawing/2014/main" val="702657216"/>
                    </a:ext>
                  </a:extLst>
                </a:gridCol>
                <a:gridCol w="4469626">
                  <a:extLst>
                    <a:ext uri="{9D8B030D-6E8A-4147-A177-3AD203B41FA5}">
                      <a16:colId xmlns:a16="http://schemas.microsoft.com/office/drawing/2014/main" val="395705528"/>
                    </a:ext>
                  </a:extLst>
                </a:gridCol>
              </a:tblGrid>
              <a:tr h="306735">
                <a:tc>
                  <a:txBody>
                    <a:bodyPr/>
                    <a:lstStyle/>
                    <a:p>
                      <a:r>
                        <a:rPr lang="zh-CN" altLang="en-US" dirty="0" smtClean="0"/>
                        <a:t>测试用例设计方法</a:t>
                      </a:r>
                      <a:endParaRPr lang="zh-CN" altLang="en-US" dirty="0"/>
                    </a:p>
                  </a:txBody>
                  <a:tcPr/>
                </a:tc>
                <a:tc>
                  <a:txBody>
                    <a:bodyPr/>
                    <a:lstStyle/>
                    <a:p>
                      <a:r>
                        <a:rPr lang="zh-CN" altLang="en-US" dirty="0" smtClean="0"/>
                        <a:t>方法特点</a:t>
                      </a:r>
                      <a:endParaRPr lang="zh-CN" altLang="en-US" dirty="0"/>
                    </a:p>
                  </a:txBody>
                  <a:tcPr/>
                </a:tc>
                <a:tc>
                  <a:txBody>
                    <a:bodyPr/>
                    <a:lstStyle/>
                    <a:p>
                      <a:r>
                        <a:rPr lang="zh-CN" altLang="en-US" dirty="0" smtClean="0"/>
                        <a:t>适合的功能</a:t>
                      </a:r>
                      <a:endParaRPr lang="zh-CN" altLang="en-US" dirty="0"/>
                    </a:p>
                  </a:txBody>
                  <a:tcPr/>
                </a:tc>
                <a:extLst>
                  <a:ext uri="{0D108BD9-81ED-4DB2-BD59-A6C34878D82A}">
                    <a16:rowId xmlns:a16="http://schemas.microsoft.com/office/drawing/2014/main" val="4210436333"/>
                  </a:ext>
                </a:extLst>
              </a:tr>
              <a:tr h="370840">
                <a:tc>
                  <a:txBody>
                    <a:bodyPr/>
                    <a:lstStyle/>
                    <a:p>
                      <a:r>
                        <a:rPr lang="zh-CN" altLang="en-US" dirty="0" smtClean="0"/>
                        <a:t>等价类划分</a:t>
                      </a:r>
                      <a:r>
                        <a:rPr lang="en-US" altLang="zh-CN" dirty="0" smtClean="0"/>
                        <a:t>&amp;</a:t>
                      </a:r>
                      <a:r>
                        <a:rPr lang="zh-CN" altLang="en-US" dirty="0" smtClean="0"/>
                        <a:t>数据组合法</a:t>
                      </a:r>
                      <a:endParaRPr lang="zh-CN" altLang="en-US" dirty="0"/>
                    </a:p>
                  </a:txBody>
                  <a:tcPr/>
                </a:tc>
                <a:tc>
                  <a:txBody>
                    <a:bodyPr/>
                    <a:lstStyle/>
                    <a:p>
                      <a:r>
                        <a:rPr lang="zh-CN" altLang="en-US" dirty="0" smtClean="0"/>
                        <a:t>通过数据的提取并进行等价类划分，再将数据进行组合的方法来完成用例设计</a:t>
                      </a:r>
                      <a:endParaRPr lang="en-US" altLang="zh-CN" dirty="0" smtClean="0"/>
                    </a:p>
                  </a:txBody>
                  <a:tcPr/>
                </a:tc>
                <a:tc>
                  <a:txBody>
                    <a:bodyPr/>
                    <a:lstStyle/>
                    <a:p>
                      <a:r>
                        <a:rPr lang="en-US" altLang="zh-CN" dirty="0" smtClean="0"/>
                        <a:t>1</a:t>
                      </a:r>
                      <a:r>
                        <a:rPr lang="zh-CN" altLang="en-US" dirty="0" smtClean="0"/>
                        <a:t>、适用于逻辑比较简单的功能，通常情况只有一个处理逻辑</a:t>
                      </a:r>
                      <a:endParaRPr lang="en-US" altLang="zh-CN" dirty="0" smtClean="0"/>
                    </a:p>
                    <a:p>
                      <a:r>
                        <a:rPr lang="en-US" altLang="zh-CN" dirty="0" smtClean="0"/>
                        <a:t>2</a:t>
                      </a:r>
                      <a:r>
                        <a:rPr lang="zh-CN" altLang="en-US" dirty="0" smtClean="0"/>
                        <a:t>、该方法是所有用例设计方法的基础</a:t>
                      </a:r>
                      <a:endParaRPr lang="zh-CN" altLang="en-US" dirty="0"/>
                    </a:p>
                  </a:txBody>
                  <a:tcPr/>
                </a:tc>
                <a:extLst>
                  <a:ext uri="{0D108BD9-81ED-4DB2-BD59-A6C34878D82A}">
                    <a16:rowId xmlns:a16="http://schemas.microsoft.com/office/drawing/2014/main" val="2141304531"/>
                  </a:ext>
                </a:extLst>
              </a:tr>
              <a:tr h="370840">
                <a:tc>
                  <a:txBody>
                    <a:bodyPr/>
                    <a:lstStyle/>
                    <a:p>
                      <a:r>
                        <a:rPr lang="zh-CN" altLang="en-US" dirty="0" smtClean="0"/>
                        <a:t>流程图法</a:t>
                      </a:r>
                      <a:endParaRPr lang="zh-CN" altLang="en-US" dirty="0"/>
                    </a:p>
                  </a:txBody>
                  <a:tcPr/>
                </a:tc>
                <a:tc>
                  <a:txBody>
                    <a:bodyPr/>
                    <a:lstStyle/>
                    <a:p>
                      <a:r>
                        <a:rPr lang="zh-CN" altLang="en-US" dirty="0" smtClean="0"/>
                        <a:t>通过绘制流程图，并获取流程路径，在流程路径上完成数据分析完成用例设计的方法</a:t>
                      </a:r>
                      <a:endParaRPr lang="zh-CN" altLang="en-US" dirty="0"/>
                    </a:p>
                  </a:txBody>
                  <a:tcPr/>
                </a:tc>
                <a:tc>
                  <a:txBody>
                    <a:bodyPr/>
                    <a:lstStyle/>
                    <a:p>
                      <a:r>
                        <a:rPr lang="en-US" altLang="zh-CN" dirty="0" smtClean="0"/>
                        <a:t>1</a:t>
                      </a:r>
                      <a:r>
                        <a:rPr lang="zh-CN" altLang="en-US" dirty="0" smtClean="0"/>
                        <a:t>、适用于不同的输入流在功能中的处理存在多条分支路径处理的功能</a:t>
                      </a:r>
                      <a:endParaRPr lang="en-US" altLang="zh-CN" dirty="0" smtClean="0"/>
                    </a:p>
                  </a:txBody>
                  <a:tcPr/>
                </a:tc>
                <a:extLst>
                  <a:ext uri="{0D108BD9-81ED-4DB2-BD59-A6C34878D82A}">
                    <a16:rowId xmlns:a16="http://schemas.microsoft.com/office/drawing/2014/main" val="4195388688"/>
                  </a:ext>
                </a:extLst>
              </a:tr>
              <a:tr h="370840">
                <a:tc>
                  <a:txBody>
                    <a:bodyPr/>
                    <a:lstStyle/>
                    <a:p>
                      <a:r>
                        <a:rPr lang="zh-CN" altLang="en-US" dirty="0" smtClean="0"/>
                        <a:t>状态图法</a:t>
                      </a:r>
                      <a:endParaRPr lang="zh-CN" altLang="en-US" dirty="0"/>
                    </a:p>
                  </a:txBody>
                  <a:tcPr/>
                </a:tc>
                <a:tc>
                  <a:txBody>
                    <a:bodyPr/>
                    <a:lstStyle/>
                    <a:p>
                      <a:r>
                        <a:rPr lang="zh-CN" altLang="en-US" dirty="0" smtClean="0"/>
                        <a:t>通过绘制状态迁移图，获取状态迁移路径，并对每条路径完成数据分析完成用例设计的方法</a:t>
                      </a:r>
                      <a:endParaRPr lang="zh-CN" altLang="en-US" dirty="0"/>
                    </a:p>
                  </a:txBody>
                  <a:tcPr/>
                </a:tc>
                <a:tc>
                  <a:txBody>
                    <a:bodyPr/>
                    <a:lstStyle/>
                    <a:p>
                      <a:r>
                        <a:rPr lang="en-US" altLang="zh-CN" dirty="0" smtClean="0"/>
                        <a:t>1</a:t>
                      </a:r>
                      <a:r>
                        <a:rPr lang="zh-CN" altLang="en-US" dirty="0" smtClean="0"/>
                        <a:t>、适用于软件功能存在状态，每个状态有不同的处理逻辑且在迁移条件达成后会发生状态迁移的功能。例如</a:t>
                      </a:r>
                      <a:r>
                        <a:rPr lang="en-US" altLang="zh-CN" dirty="0" smtClean="0"/>
                        <a:t>TCP</a:t>
                      </a:r>
                      <a:r>
                        <a:rPr lang="zh-CN" altLang="en-US" dirty="0" smtClean="0"/>
                        <a:t>三次握手等</a:t>
                      </a:r>
                      <a:endParaRPr lang="zh-CN" altLang="en-US" dirty="0"/>
                    </a:p>
                  </a:txBody>
                  <a:tcPr/>
                </a:tc>
                <a:extLst>
                  <a:ext uri="{0D108BD9-81ED-4DB2-BD59-A6C34878D82A}">
                    <a16:rowId xmlns:a16="http://schemas.microsoft.com/office/drawing/2014/main" val="1095677665"/>
                  </a:ext>
                </a:extLst>
              </a:tr>
              <a:tr h="370840">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530109356"/>
                  </a:ext>
                </a:extLst>
              </a:tr>
            </a:tbl>
          </a:graphicData>
        </a:graphic>
      </p:graphicFrame>
    </p:spTree>
    <p:extLst>
      <p:ext uri="{BB962C8B-B14F-4D97-AF65-F5344CB8AC3E}">
        <p14:creationId xmlns:p14="http://schemas.microsoft.com/office/powerpoint/2010/main" val="8375523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smtClean="0">
                <a:solidFill>
                  <a:srgbClr val="C00000"/>
                </a:solidFill>
                <a:latin typeface="Microsoft YaHei" charset="-122"/>
                <a:ea typeface="Microsoft YaHei" charset="-122"/>
                <a:cs typeface="Microsoft YaHei" charset="-122"/>
              </a:rPr>
              <a:t>Part02</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smtClean="0">
                <a:solidFill>
                  <a:srgbClr val="03277F"/>
                </a:solidFill>
                <a:latin typeface="Microsoft YaHei" charset="-122"/>
                <a:ea typeface="Microsoft YaHei" charset="-122"/>
                <a:cs typeface="Microsoft YaHei" charset="-122"/>
              </a:rPr>
              <a:t>流程图法设计测试用例</a:t>
            </a:r>
            <a:endParaRPr kumimoji="1" lang="zh-CN" altLang="en-US" sz="5400" b="1" dirty="0">
              <a:solidFill>
                <a:srgbClr val="03277F"/>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15687856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a:t>
            </a:r>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法设计测试用例步骤</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4536911" cy="2668588"/>
          </a:xfrm>
          <a:prstGeom prst="rect">
            <a:avLst/>
          </a:prstGeom>
        </p:spPr>
        <p:txBody>
          <a:bodyPr vert="horz" lIns="91440" tIns="45720" rIns="91440" bIns="45720" rtlCol="0">
            <a:normAutofit/>
          </a:bodyPr>
          <a:lstStyle/>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对于流程类的功能适合使用路径分析法进行测试用例设计</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采用四步法设计测试用例，具体步骤入右图</a:t>
            </a:r>
            <a:endParaRPr lang="zh-CN" altLang="en-US" sz="2400" dirty="0">
              <a:latin typeface="华文细黑" pitchFamily="2" charset="-122"/>
              <a:ea typeface="华文细黑" pitchFamily="2" charset="-122"/>
            </a:endParaRPr>
          </a:p>
        </p:txBody>
      </p:sp>
      <p:pic>
        <p:nvPicPr>
          <p:cNvPr id="3" name="图片 2"/>
          <p:cNvPicPr>
            <a:picLocks noChangeAspect="1"/>
          </p:cNvPicPr>
          <p:nvPr/>
        </p:nvPicPr>
        <p:blipFill>
          <a:blip r:embed="rId3"/>
          <a:stretch>
            <a:fillRect/>
          </a:stretch>
        </p:blipFill>
        <p:spPr>
          <a:xfrm>
            <a:off x="5274934" y="1256927"/>
            <a:ext cx="5959123" cy="4198008"/>
          </a:xfrm>
          <a:prstGeom prst="rect">
            <a:avLst/>
          </a:prstGeom>
        </p:spPr>
      </p:pic>
    </p:spTree>
    <p:extLst>
      <p:ext uri="{BB962C8B-B14F-4D97-AF65-F5344CB8AC3E}">
        <p14:creationId xmlns:p14="http://schemas.microsoft.com/office/powerpoint/2010/main" val="3614410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5025527"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smtClean="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举例</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内容占位符 1">
            <a:extLst>
              <a:ext uri="{FF2B5EF4-FFF2-40B4-BE49-F238E27FC236}">
                <a16:creationId xmlns:a16="http://schemas.microsoft.com/office/drawing/2014/main" id="{170FEFEA-96BC-43E2-AE3C-319C13D40D99}"/>
              </a:ext>
            </a:extLst>
          </p:cNvPr>
          <p:cNvSpPr txBox="1">
            <a:spLocks/>
          </p:cNvSpPr>
          <p:nvPr/>
        </p:nvSpPr>
        <p:spPr>
          <a:xfrm>
            <a:off x="624840" y="1371608"/>
            <a:ext cx="8821668" cy="120658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000" b="1" dirty="0" smtClean="0"/>
              <a:t>功能功能介绍</a:t>
            </a:r>
            <a:r>
              <a:rPr kumimoji="1" lang="zh-CN" altLang="en-US" sz="2000" dirty="0" smtClean="0"/>
              <a:t>：“使用</a:t>
            </a:r>
            <a:r>
              <a:rPr kumimoji="1" lang="en-US" altLang="zh-CN" sz="2000" dirty="0" smtClean="0"/>
              <a:t>PC</a:t>
            </a:r>
            <a:r>
              <a:rPr kumimoji="1" lang="zh-CN" altLang="en-US" sz="2000" dirty="0" smtClean="0"/>
              <a:t>连接</a:t>
            </a:r>
            <a:r>
              <a:rPr kumimoji="1" lang="en-US" altLang="zh-CN" sz="2000" dirty="0" err="1" smtClean="0"/>
              <a:t>WiFi</a:t>
            </a:r>
            <a:r>
              <a:rPr kumimoji="1" lang="zh-CN" altLang="en-US" sz="2000" dirty="0" smtClean="0"/>
              <a:t>”使用流程图法进行测试用例设计</a:t>
            </a:r>
            <a:endParaRPr kumimoji="1" lang="en-US" altLang="zh-CN" sz="2000" dirty="0" smtClean="0"/>
          </a:p>
          <a:p>
            <a:endParaRPr kumimoji="1" lang="en-US" altLang="zh-CN" sz="2000" dirty="0" smtClean="0"/>
          </a:p>
          <a:p>
            <a:r>
              <a:rPr kumimoji="1" lang="zh-CN" altLang="en-US" sz="2000" b="1" dirty="0" smtClean="0"/>
              <a:t>测试点如下</a:t>
            </a:r>
            <a:r>
              <a:rPr kumimoji="1" lang="zh-CN" altLang="en-US" sz="2000" dirty="0" smtClean="0"/>
              <a:t>：</a:t>
            </a:r>
            <a:endParaRPr kumimoji="1" lang="en-US" altLang="zh-CN" sz="2000" dirty="0" smtClean="0"/>
          </a:p>
          <a:p>
            <a:endParaRPr kumimoji="1" lang="en-US" altLang="zh-CN" sz="2000" dirty="0"/>
          </a:p>
          <a:p>
            <a:endParaRPr kumimoji="1" lang="en-US" altLang="zh-CN" sz="2000" dirty="0" smtClean="0"/>
          </a:p>
          <a:p>
            <a:endParaRPr kumimoji="1" lang="en-US" altLang="zh-CN" sz="2000" dirty="0"/>
          </a:p>
          <a:p>
            <a:endParaRPr kumimoji="1" lang="en-US" altLang="zh-CN" sz="2000" dirty="0" smtClean="0"/>
          </a:p>
          <a:p>
            <a:endParaRPr kumimoji="1" lang="en-US" altLang="zh-CN" sz="2000" dirty="0"/>
          </a:p>
          <a:p>
            <a:pPr marL="0" indent="0">
              <a:buNone/>
            </a:pPr>
            <a:r>
              <a:rPr kumimoji="1" lang="en-US" altLang="zh-CN" sz="2000" dirty="0" smtClean="0"/>
              <a:t>                                                                                     --</a:t>
            </a:r>
            <a:r>
              <a:rPr kumimoji="1" lang="zh-CN" altLang="en-US" sz="2000" dirty="0" smtClean="0"/>
              <a:t>来源</a:t>
            </a:r>
            <a:r>
              <a:rPr kumimoji="1" lang="en-US" altLang="zh-CN" sz="2000" dirty="0" smtClean="0"/>
              <a:t>《</a:t>
            </a:r>
            <a:r>
              <a:rPr kumimoji="1" lang="zh-CN" altLang="en-US" sz="2000" dirty="0" smtClean="0"/>
              <a:t>测试架构师炼成之道</a:t>
            </a:r>
            <a:r>
              <a:rPr kumimoji="1" lang="en-US" altLang="zh-CN" sz="2000" dirty="0" smtClean="0"/>
              <a:t>》</a:t>
            </a:r>
            <a:endParaRPr kumimoji="1" lang="zh-CN" altLang="en-US" sz="2000" dirty="0"/>
          </a:p>
        </p:txBody>
      </p:sp>
      <p:pic>
        <p:nvPicPr>
          <p:cNvPr id="6" name="图片 5"/>
          <p:cNvPicPr>
            <a:picLocks noChangeAspect="1"/>
          </p:cNvPicPr>
          <p:nvPr/>
        </p:nvPicPr>
        <p:blipFill>
          <a:blip r:embed="rId2"/>
          <a:stretch>
            <a:fillRect/>
          </a:stretch>
        </p:blipFill>
        <p:spPr>
          <a:xfrm>
            <a:off x="684712" y="2688167"/>
            <a:ext cx="9415788" cy="1287972"/>
          </a:xfrm>
          <a:prstGeom prst="rect">
            <a:avLst/>
          </a:prstGeom>
        </p:spPr>
      </p:pic>
    </p:spTree>
    <p:extLst>
      <p:ext uri="{BB962C8B-B14F-4D97-AF65-F5344CB8AC3E}">
        <p14:creationId xmlns:p14="http://schemas.microsoft.com/office/powerpoint/2010/main" val="18959266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5025527"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smtClean="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举例</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内容占位符 1">
            <a:extLst>
              <a:ext uri="{FF2B5EF4-FFF2-40B4-BE49-F238E27FC236}">
                <a16:creationId xmlns:a16="http://schemas.microsoft.com/office/drawing/2014/main" id="{170FEFEA-96BC-43E2-AE3C-319C13D40D99}"/>
              </a:ext>
            </a:extLst>
          </p:cNvPr>
          <p:cNvSpPr txBox="1">
            <a:spLocks/>
          </p:cNvSpPr>
          <p:nvPr/>
        </p:nvSpPr>
        <p:spPr>
          <a:xfrm>
            <a:off x="553989" y="1125245"/>
            <a:ext cx="7579358" cy="401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000" dirty="0" smtClean="0"/>
              <a:t>“使用</a:t>
            </a:r>
            <a:r>
              <a:rPr kumimoji="1" lang="en-US" altLang="zh-CN" sz="2000" dirty="0" smtClean="0"/>
              <a:t>PC</a:t>
            </a:r>
            <a:r>
              <a:rPr kumimoji="1" lang="zh-CN" altLang="en-US" sz="2000" dirty="0" smtClean="0"/>
              <a:t>连接</a:t>
            </a:r>
            <a:r>
              <a:rPr kumimoji="1" lang="en-US" altLang="zh-CN" sz="2000" dirty="0" err="1" smtClean="0"/>
              <a:t>WiFi</a:t>
            </a:r>
            <a:r>
              <a:rPr kumimoji="1" lang="zh-CN" altLang="en-US" sz="2000" dirty="0" smtClean="0"/>
              <a:t>”流程图如下</a:t>
            </a:r>
            <a:endParaRPr kumimoji="1" lang="zh-CN" altLang="en-US" sz="2000" dirty="0"/>
          </a:p>
        </p:txBody>
      </p:sp>
      <p:pic>
        <p:nvPicPr>
          <p:cNvPr id="7" name="图片 6"/>
          <p:cNvPicPr>
            <a:picLocks noChangeAspect="1"/>
          </p:cNvPicPr>
          <p:nvPr/>
        </p:nvPicPr>
        <p:blipFill>
          <a:blip r:embed="rId2"/>
          <a:stretch>
            <a:fillRect/>
          </a:stretch>
        </p:blipFill>
        <p:spPr>
          <a:xfrm>
            <a:off x="1010652" y="1619114"/>
            <a:ext cx="4792007" cy="4497297"/>
          </a:xfrm>
          <a:prstGeom prst="rect">
            <a:avLst/>
          </a:prstGeom>
        </p:spPr>
      </p:pic>
    </p:spTree>
    <p:extLst>
      <p:ext uri="{BB962C8B-B14F-4D97-AF65-F5344CB8AC3E}">
        <p14:creationId xmlns:p14="http://schemas.microsoft.com/office/powerpoint/2010/main" val="21506798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内容占位符 1">
            <a:extLst>
              <a:ext uri="{FF2B5EF4-FFF2-40B4-BE49-F238E27FC236}">
                <a16:creationId xmlns:a16="http://schemas.microsoft.com/office/drawing/2014/main" id="{170FEFEA-96BC-43E2-AE3C-319C13D40D99}"/>
              </a:ext>
            </a:extLst>
          </p:cNvPr>
          <p:cNvSpPr txBox="1">
            <a:spLocks/>
          </p:cNvSpPr>
          <p:nvPr/>
        </p:nvSpPr>
        <p:spPr>
          <a:xfrm>
            <a:off x="706389" y="5995160"/>
            <a:ext cx="7579358" cy="401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dirty="0"/>
              <a:t>如</a:t>
            </a:r>
            <a:r>
              <a:rPr kumimoji="1" lang="zh-CN" altLang="en-US" sz="2000" dirty="0" smtClean="0"/>
              <a:t>图所示</a:t>
            </a:r>
            <a:r>
              <a:rPr kumimoji="1" lang="en-US" altLang="zh-CN" sz="2000" dirty="0" smtClean="0"/>
              <a:t>P1-e1-d1-e4-d2-e7-d3-e10-P5</a:t>
            </a:r>
            <a:r>
              <a:rPr kumimoji="1" lang="zh-CN" altLang="en-US" sz="2000" dirty="0" smtClean="0"/>
              <a:t>为一条路径</a:t>
            </a:r>
            <a:endParaRPr kumimoji="1" lang="en-US" altLang="zh-CN" sz="2000" dirty="0" smtClean="0"/>
          </a:p>
        </p:txBody>
      </p:sp>
      <p:pic>
        <p:nvPicPr>
          <p:cNvPr id="3" name="图片 2"/>
          <p:cNvPicPr>
            <a:picLocks noChangeAspect="1"/>
          </p:cNvPicPr>
          <p:nvPr/>
        </p:nvPicPr>
        <p:blipFill>
          <a:blip r:embed="rId3"/>
          <a:stretch>
            <a:fillRect/>
          </a:stretch>
        </p:blipFill>
        <p:spPr>
          <a:xfrm>
            <a:off x="787683" y="1423164"/>
            <a:ext cx="4705592" cy="4441371"/>
          </a:xfrm>
          <a:prstGeom prst="rect">
            <a:avLst/>
          </a:prstGeom>
        </p:spPr>
      </p:pic>
      <p:pic>
        <p:nvPicPr>
          <p:cNvPr id="6" name="图片 5"/>
          <p:cNvPicPr>
            <a:picLocks noChangeAspect="1"/>
          </p:cNvPicPr>
          <p:nvPr/>
        </p:nvPicPr>
        <p:blipFill>
          <a:blip r:embed="rId4"/>
          <a:stretch>
            <a:fillRect/>
          </a:stretch>
        </p:blipFill>
        <p:spPr>
          <a:xfrm>
            <a:off x="5623904" y="1473584"/>
            <a:ext cx="6118917" cy="4390952"/>
          </a:xfrm>
          <a:prstGeom prst="rect">
            <a:avLst/>
          </a:prstGeom>
        </p:spPr>
      </p:pic>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787683" y="941910"/>
            <a:ext cx="7579358" cy="401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000" dirty="0" smtClean="0"/>
              <a:t>“使用</a:t>
            </a:r>
            <a:r>
              <a:rPr kumimoji="1" lang="en-US" altLang="zh-CN" sz="2000" dirty="0" smtClean="0"/>
              <a:t>PC</a:t>
            </a:r>
            <a:r>
              <a:rPr kumimoji="1" lang="zh-CN" altLang="en-US" sz="2000" dirty="0" smtClean="0"/>
              <a:t>连接</a:t>
            </a:r>
            <a:r>
              <a:rPr kumimoji="1" lang="en-US" altLang="zh-CN" sz="2000" dirty="0" err="1" smtClean="0"/>
              <a:t>WiFi</a:t>
            </a:r>
            <a:r>
              <a:rPr kumimoji="1" lang="zh-CN" altLang="en-US" sz="2000" dirty="0" smtClean="0"/>
              <a:t>”路径分析</a:t>
            </a:r>
            <a:endParaRPr kumimoji="1" lang="zh-CN" altLang="en-US" sz="2000" dirty="0"/>
          </a:p>
        </p:txBody>
      </p:sp>
    </p:spTree>
    <p:extLst>
      <p:ext uri="{BB962C8B-B14F-4D97-AF65-F5344CB8AC3E}">
        <p14:creationId xmlns:p14="http://schemas.microsoft.com/office/powerpoint/2010/main" val="36808611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4" y="397744"/>
            <a:ext cx="5568667"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smtClean="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内容占位符 1">
            <a:extLst>
              <a:ext uri="{FF2B5EF4-FFF2-40B4-BE49-F238E27FC236}">
                <a16:creationId xmlns:a16="http://schemas.microsoft.com/office/drawing/2014/main" id="{170FEFEA-96BC-43E2-AE3C-319C13D40D99}"/>
              </a:ext>
            </a:extLst>
          </p:cNvPr>
          <p:cNvSpPr txBox="1">
            <a:spLocks/>
          </p:cNvSpPr>
          <p:nvPr/>
        </p:nvSpPr>
        <p:spPr>
          <a:xfrm>
            <a:off x="706389" y="5995160"/>
            <a:ext cx="7579358" cy="401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CN" sz="2000" dirty="0" smtClean="0"/>
          </a:p>
        </p:txBody>
      </p: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787682" y="1292751"/>
            <a:ext cx="9318843" cy="432448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400" dirty="0" smtClean="0"/>
              <a:t>覆盖分析</a:t>
            </a:r>
            <a:endParaRPr kumimoji="1" lang="en-US" altLang="zh-CN" sz="2400" dirty="0"/>
          </a:p>
          <a:p>
            <a:pPr lvl="1">
              <a:buFont typeface="Wingdings" panose="05000000000000000000" pitchFamily="2" charset="2"/>
              <a:buChar char="Ø"/>
            </a:pPr>
            <a:r>
              <a:rPr lang="zh-CN" altLang="en-US" dirty="0" smtClean="0"/>
              <a:t>语句覆盖</a:t>
            </a:r>
            <a:endParaRPr lang="en-US" altLang="zh-CN" dirty="0" smtClean="0"/>
          </a:p>
          <a:p>
            <a:pPr lvl="1">
              <a:buFont typeface="Wingdings" panose="05000000000000000000" pitchFamily="2" charset="2"/>
              <a:buChar char="Ø"/>
            </a:pPr>
            <a:r>
              <a:rPr lang="zh-CN" altLang="en-US" dirty="0" smtClean="0"/>
              <a:t>分支覆盖</a:t>
            </a:r>
            <a:endParaRPr lang="en-US" altLang="zh-CN" dirty="0" smtClean="0"/>
          </a:p>
          <a:p>
            <a:pPr lvl="1">
              <a:buFont typeface="Wingdings" panose="05000000000000000000" pitchFamily="2" charset="2"/>
              <a:buChar char="Ø"/>
            </a:pPr>
            <a:r>
              <a:rPr lang="zh-CN" altLang="en-US" dirty="0" smtClean="0"/>
              <a:t>全覆盖</a:t>
            </a:r>
            <a:endParaRPr lang="en-US" altLang="zh-CN" dirty="0" smtClean="0"/>
          </a:p>
          <a:p>
            <a:pPr lvl="1">
              <a:buFont typeface="Wingdings" panose="05000000000000000000" pitchFamily="2" charset="2"/>
              <a:buChar char="Ø"/>
            </a:pPr>
            <a:r>
              <a:rPr lang="zh-CN" altLang="en-US" dirty="0" smtClean="0"/>
              <a:t>最小</a:t>
            </a:r>
            <a:r>
              <a:rPr lang="zh-CN" altLang="en-US" dirty="0"/>
              <a:t>线性无关</a:t>
            </a:r>
            <a:r>
              <a:rPr lang="zh-CN" altLang="en-US" dirty="0" smtClean="0"/>
              <a:t>覆盖</a:t>
            </a:r>
            <a:endParaRPr lang="en-US" altLang="zh-CN" dirty="0" smtClean="0"/>
          </a:p>
          <a:p>
            <a:pPr marL="457200" lvl="1" indent="0">
              <a:buNone/>
            </a:pPr>
            <a:endParaRPr lang="en-US" altLang="zh-CN" dirty="0" smtClean="0"/>
          </a:p>
          <a:p>
            <a:r>
              <a:rPr lang="zh-CN" altLang="en-US" sz="2400" dirty="0"/>
              <a:t>所谓路径分析法，就是指对能够覆盖流程的各种路径进行分析，得到一个路径的集合。在测试时，我们只需要按照这个路径集合进行测试即可。</a:t>
            </a:r>
            <a:endParaRPr lang="en-US" altLang="zh-CN" sz="2400" dirty="0"/>
          </a:p>
          <a:p>
            <a:r>
              <a:rPr lang="zh-CN" altLang="en-US" sz="2400" dirty="0"/>
              <a:t>不同的覆盖策略，能够得到不同的路径集合。常见的覆盖策略有</a:t>
            </a:r>
            <a:endParaRPr lang="en-US" altLang="zh-CN" sz="2400" dirty="0"/>
          </a:p>
          <a:p>
            <a:pPr marL="457200" lvl="1" indent="0">
              <a:buNone/>
            </a:pPr>
            <a:endParaRPr lang="zh-CN" altLang="en-US" sz="1600" dirty="0"/>
          </a:p>
          <a:p>
            <a:endParaRPr kumimoji="1" lang="zh-CN" altLang="en-US" sz="2000" dirty="0"/>
          </a:p>
        </p:txBody>
      </p:sp>
    </p:spTree>
    <p:extLst>
      <p:ext uri="{BB962C8B-B14F-4D97-AF65-F5344CB8AC3E}">
        <p14:creationId xmlns:p14="http://schemas.microsoft.com/office/powerpoint/2010/main" val="14408149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40" y="1142433"/>
            <a:ext cx="5384074" cy="24395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语句覆盖</a:t>
            </a:r>
            <a:endParaRPr kumimoji="1" lang="en-US" altLang="zh-CN" sz="2000" b="1" dirty="0" smtClean="0"/>
          </a:p>
          <a:p>
            <a:r>
              <a:rPr kumimoji="1" lang="zh-CN" altLang="en-US" sz="2000" dirty="0" smtClean="0"/>
              <a:t>语句覆盖是指覆盖系统中所有判定和过程的最小路径集合。</a:t>
            </a:r>
            <a:endParaRPr kumimoji="1" lang="en-US" altLang="zh-CN" sz="2000" dirty="0" smtClean="0"/>
          </a:p>
          <a:p>
            <a:r>
              <a:rPr kumimoji="1" lang="zh-CN" altLang="en-US" sz="2000" dirty="0" smtClean="0"/>
              <a:t>对于</a:t>
            </a:r>
            <a:r>
              <a:rPr kumimoji="1" lang="en-US" altLang="zh-CN" sz="2000" dirty="0" smtClean="0"/>
              <a:t>PC</a:t>
            </a:r>
            <a:r>
              <a:rPr kumimoji="1" lang="zh-CN" altLang="en-US" sz="2000" dirty="0" smtClean="0"/>
              <a:t>连接</a:t>
            </a:r>
            <a:r>
              <a:rPr kumimoji="1" lang="en-US" altLang="zh-CN" sz="2000" dirty="0" err="1" smtClean="0"/>
              <a:t>wifi</a:t>
            </a:r>
            <a:r>
              <a:rPr kumimoji="1" lang="zh-CN" altLang="en-US" sz="2000" dirty="0" smtClean="0"/>
              <a:t>示例来说，语句覆盖只需要如图所示的两条路径即可。</a:t>
            </a:r>
            <a:endParaRPr kumimoji="1" lang="en-US" altLang="zh-CN" sz="2000" dirty="0"/>
          </a:p>
          <a:p>
            <a:r>
              <a:rPr kumimoji="1" lang="zh-CN" altLang="en-US" sz="2000" dirty="0" smtClean="0"/>
              <a:t>语句覆盖是比较弱的，不会考虑流程中的“判定”以及这些“判定”“过程”之间的相互关系，如果测试只按照“语句覆盖”的方式来进行测试，就很容易出现遗留。例如在这个示例中，即使我们执行了语句覆盖中所有路径，流程中所有“真假混合”的路径（如“</a:t>
            </a:r>
            <a:r>
              <a:rPr kumimoji="1" lang="en-US" altLang="zh-CN" sz="2000" dirty="0" smtClean="0"/>
              <a:t>P1-d1-P2-d2-d3-P5</a:t>
            </a:r>
            <a:r>
              <a:rPr kumimoji="1" lang="zh-CN" altLang="en-US" sz="2000" dirty="0" smtClean="0"/>
              <a:t>”都没有执行到）</a:t>
            </a:r>
            <a:endParaRPr kumimoji="1" lang="en-US" altLang="zh-CN" sz="2000" dirty="0" smtClean="0"/>
          </a:p>
          <a:p>
            <a:endParaRPr kumimoji="1" lang="zh-CN" altLang="en-US" sz="2000" dirty="0"/>
          </a:p>
        </p:txBody>
      </p:sp>
      <p:pic>
        <p:nvPicPr>
          <p:cNvPr id="8" name="图片 7"/>
          <p:cNvPicPr>
            <a:picLocks noChangeAspect="1"/>
          </p:cNvPicPr>
          <p:nvPr/>
        </p:nvPicPr>
        <p:blipFill>
          <a:blip r:embed="rId3"/>
          <a:stretch>
            <a:fillRect/>
          </a:stretch>
        </p:blipFill>
        <p:spPr>
          <a:xfrm>
            <a:off x="6139543" y="1142433"/>
            <a:ext cx="5603420" cy="4913918"/>
          </a:xfrm>
          <a:prstGeom prst="rect">
            <a:avLst/>
          </a:prstGeom>
        </p:spPr>
      </p:pic>
    </p:spTree>
    <p:extLst>
      <p:ext uri="{BB962C8B-B14F-4D97-AF65-F5344CB8AC3E}">
        <p14:creationId xmlns:p14="http://schemas.microsoft.com/office/powerpoint/2010/main" val="2518052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5384075" cy="24395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分支覆盖</a:t>
            </a:r>
            <a:endParaRPr kumimoji="1" lang="en-US" altLang="zh-CN" sz="2000" b="1" dirty="0" smtClean="0"/>
          </a:p>
          <a:p>
            <a:r>
              <a:rPr kumimoji="1" lang="zh-CN" altLang="en-US" sz="2000" dirty="0" smtClean="0"/>
              <a:t>分支覆盖是指覆盖系统中每个判定的所有分支所需的最小路径数。</a:t>
            </a:r>
            <a:endParaRPr kumimoji="1" lang="en-US" altLang="zh-CN" sz="2000" dirty="0" smtClean="0"/>
          </a:p>
          <a:p>
            <a:r>
              <a:rPr kumimoji="1" lang="zh-CN" altLang="en-US" sz="2000" dirty="0" smtClean="0"/>
              <a:t>对于“</a:t>
            </a:r>
            <a:r>
              <a:rPr kumimoji="1" lang="en-US" altLang="zh-CN" sz="2000" dirty="0" smtClean="0"/>
              <a:t>PC</a:t>
            </a:r>
            <a:r>
              <a:rPr kumimoji="1" lang="zh-CN" altLang="en-US" sz="2000" dirty="0" smtClean="0"/>
              <a:t>连接</a:t>
            </a:r>
            <a:r>
              <a:rPr kumimoji="1" lang="en-US" altLang="zh-CN" sz="2000" dirty="0" err="1" smtClean="0"/>
              <a:t>wifi</a:t>
            </a:r>
            <a:r>
              <a:rPr kumimoji="1" lang="zh-CN" altLang="en-US" sz="2000" dirty="0" smtClean="0"/>
              <a:t>”的示例来说，满足分支覆盖的路径集合和语句覆盖的路径集合是一样的。“路径</a:t>
            </a:r>
            <a:r>
              <a:rPr kumimoji="1" lang="en-US" altLang="zh-CN" sz="2000" dirty="0" smtClean="0"/>
              <a:t>1</a:t>
            </a:r>
            <a:r>
              <a:rPr kumimoji="1" lang="zh-CN" altLang="en-US" sz="2000" dirty="0" smtClean="0"/>
              <a:t>”覆盖了所有“判定”结果为“真”的情况，“路径</a:t>
            </a:r>
            <a:r>
              <a:rPr kumimoji="1" lang="en-US" altLang="zh-CN" sz="2000" dirty="0" smtClean="0"/>
              <a:t>2</a:t>
            </a:r>
            <a:r>
              <a:rPr kumimoji="1" lang="zh-CN" altLang="en-US" sz="2000" dirty="0" smtClean="0"/>
              <a:t>”覆盖了所有判定结果为“假”的情况。</a:t>
            </a:r>
            <a:endParaRPr kumimoji="1" lang="en-US" altLang="zh-CN" sz="2000" dirty="0" smtClean="0"/>
          </a:p>
          <a:p>
            <a:r>
              <a:rPr kumimoji="1" lang="zh-CN" altLang="en-US" sz="2000" dirty="0" smtClean="0"/>
              <a:t>分支覆盖考虑流程中的“判定”，但是没有考虑这些“判定”之间的关系。分支覆盖也不是一种很强的覆盖。</a:t>
            </a:r>
            <a:endParaRPr kumimoji="1" lang="en-US" altLang="zh-CN" sz="2000" dirty="0" smtClean="0"/>
          </a:p>
          <a:p>
            <a:pPr marL="0" indent="0">
              <a:buNone/>
            </a:pPr>
            <a:endParaRPr kumimoji="1" lang="zh-CN" altLang="en-US" sz="2000" dirty="0"/>
          </a:p>
        </p:txBody>
      </p:sp>
      <p:pic>
        <p:nvPicPr>
          <p:cNvPr id="6" name="图片 5"/>
          <p:cNvPicPr>
            <a:picLocks noChangeAspect="1"/>
          </p:cNvPicPr>
          <p:nvPr/>
        </p:nvPicPr>
        <p:blipFill>
          <a:blip r:embed="rId3"/>
          <a:stretch>
            <a:fillRect/>
          </a:stretch>
        </p:blipFill>
        <p:spPr>
          <a:xfrm>
            <a:off x="6191797" y="1142433"/>
            <a:ext cx="5603420" cy="4913918"/>
          </a:xfrm>
          <a:prstGeom prst="rect">
            <a:avLst/>
          </a:prstGeom>
        </p:spPr>
      </p:pic>
    </p:spTree>
    <p:extLst>
      <p:ext uri="{BB962C8B-B14F-4D97-AF65-F5344CB8AC3E}">
        <p14:creationId xmlns:p14="http://schemas.microsoft.com/office/powerpoint/2010/main" val="2918367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5384075"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全覆盖</a:t>
            </a:r>
            <a:endParaRPr kumimoji="1" lang="en-US" altLang="zh-CN" sz="2000" b="1" dirty="0" smtClean="0"/>
          </a:p>
          <a:p>
            <a:r>
              <a:rPr kumimoji="1" lang="zh-CN" altLang="en-US" sz="2000" dirty="0" smtClean="0"/>
              <a:t>全覆盖是指</a:t>
            </a:r>
            <a:r>
              <a:rPr kumimoji="1" lang="en-US" altLang="zh-CN" sz="2000" dirty="0" smtClean="0"/>
              <a:t>100%</a:t>
            </a:r>
            <a:r>
              <a:rPr kumimoji="1" lang="zh-CN" altLang="en-US" sz="2000" dirty="0" smtClean="0"/>
              <a:t>地覆盖系统所有可能的路径的集合。</a:t>
            </a:r>
            <a:endParaRPr kumimoji="1" lang="en-US" altLang="zh-CN" sz="2000" dirty="0" smtClean="0"/>
          </a:p>
          <a:p>
            <a:r>
              <a:rPr kumimoji="1" lang="zh-CN" altLang="en-US" sz="2000" dirty="0" smtClean="0"/>
              <a:t>对于“</a:t>
            </a:r>
            <a:r>
              <a:rPr kumimoji="1" lang="en-US" altLang="zh-CN" sz="2000" dirty="0" smtClean="0"/>
              <a:t>PC</a:t>
            </a:r>
            <a:r>
              <a:rPr kumimoji="1" lang="zh-CN" altLang="en-US" sz="2000" dirty="0" smtClean="0"/>
              <a:t>连接</a:t>
            </a:r>
            <a:r>
              <a:rPr kumimoji="1" lang="en-US" altLang="zh-CN" sz="2000" dirty="0" err="1" smtClean="0"/>
              <a:t>wifi</a:t>
            </a:r>
            <a:r>
              <a:rPr kumimoji="1" lang="zh-CN" altLang="en-US" sz="2000" dirty="0" smtClean="0"/>
              <a:t>”的示例来说，根据排列组合算法。全路径为</a:t>
            </a:r>
            <a:r>
              <a:rPr kumimoji="1" lang="en-US" altLang="zh-CN" sz="2000" dirty="0" smtClean="0"/>
              <a:t>2*2*2=8</a:t>
            </a:r>
            <a:r>
              <a:rPr kumimoji="1" lang="zh-CN" altLang="en-US" sz="2000" dirty="0" smtClean="0"/>
              <a:t>条，如图所示。</a:t>
            </a:r>
            <a:endParaRPr kumimoji="1" lang="en-US" altLang="zh-CN" sz="2000" dirty="0"/>
          </a:p>
          <a:p>
            <a:r>
              <a:rPr kumimoji="1" lang="zh-CN" altLang="en-US" sz="2000" dirty="0" smtClean="0"/>
              <a:t>全覆盖包含了系统所有可能的路径，覆盖能力很强，但是该覆盖方法仅适用于一个微型的系统，对于普通系统来说，随着判定增加而呈指数类型增长的路径数是的需要测试的路径数目非常庞大，完全超出了一个测试推断能够承担的正常工作量，在实际中很难按此执行</a:t>
            </a:r>
            <a:endParaRPr kumimoji="1" lang="en-US" altLang="zh-CN" sz="2000" dirty="0" smtClean="0"/>
          </a:p>
        </p:txBody>
      </p:sp>
      <p:pic>
        <p:nvPicPr>
          <p:cNvPr id="3" name="图片 2"/>
          <p:cNvPicPr>
            <a:picLocks noChangeAspect="1"/>
          </p:cNvPicPr>
          <p:nvPr/>
        </p:nvPicPr>
        <p:blipFill>
          <a:blip r:embed="rId3"/>
          <a:stretch>
            <a:fillRect/>
          </a:stretch>
        </p:blipFill>
        <p:spPr>
          <a:xfrm>
            <a:off x="6095999" y="1068304"/>
            <a:ext cx="5899159" cy="4897067"/>
          </a:xfrm>
          <a:prstGeom prst="rect">
            <a:avLst/>
          </a:prstGeom>
        </p:spPr>
      </p:pic>
    </p:spTree>
    <p:extLst>
      <p:ext uri="{BB962C8B-B14F-4D97-AF65-F5344CB8AC3E}">
        <p14:creationId xmlns:p14="http://schemas.microsoft.com/office/powerpoint/2010/main" val="38837726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5384075"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最小线性无关覆盖</a:t>
            </a:r>
            <a:endParaRPr kumimoji="1" lang="en-US" altLang="zh-CN" sz="2000" b="1" dirty="0" smtClean="0"/>
          </a:p>
          <a:p>
            <a:r>
              <a:rPr kumimoji="1" lang="zh-CN" altLang="en-US" sz="2000" dirty="0" smtClean="0"/>
              <a:t>仔细分析全覆盖，就会发现全覆盖的路径中有很多被重复执行的路径片段，例如路径</a:t>
            </a:r>
            <a:r>
              <a:rPr kumimoji="1" lang="en-US" altLang="zh-CN" sz="2000" dirty="0" smtClean="0"/>
              <a:t>3</a:t>
            </a:r>
            <a:r>
              <a:rPr kumimoji="1" lang="zh-CN" altLang="en-US" sz="2000" dirty="0" smtClean="0"/>
              <a:t>和路径</a:t>
            </a:r>
            <a:r>
              <a:rPr kumimoji="1" lang="en-US" altLang="zh-CN" sz="2000" dirty="0" smtClean="0"/>
              <a:t>6</a:t>
            </a:r>
            <a:r>
              <a:rPr kumimoji="1" lang="zh-CN" altLang="en-US" sz="2000" dirty="0" smtClean="0"/>
              <a:t>中的</a:t>
            </a:r>
            <a:r>
              <a:rPr kumimoji="1" lang="en-US" altLang="zh-CN" sz="2000" dirty="0" smtClean="0"/>
              <a:t>d1-e2-P2-e3</a:t>
            </a:r>
            <a:r>
              <a:rPr kumimoji="1" lang="zh-CN" altLang="en-US" sz="2000" dirty="0" smtClean="0"/>
              <a:t>。我们希望能有一种覆盖方式，仅保留流程图中每个路径片段能够被至少执行一次，在这种覆盖策略下得到最少路径组合，就是最小现行无关覆盖。</a:t>
            </a:r>
            <a:endParaRPr kumimoji="1" lang="en-US" altLang="zh-CN" sz="2000" dirty="0" smtClean="0"/>
          </a:p>
        </p:txBody>
      </p:sp>
      <p:pic>
        <p:nvPicPr>
          <p:cNvPr id="3" name="图片 2"/>
          <p:cNvPicPr>
            <a:picLocks noChangeAspect="1"/>
          </p:cNvPicPr>
          <p:nvPr/>
        </p:nvPicPr>
        <p:blipFill>
          <a:blip r:embed="rId3"/>
          <a:stretch>
            <a:fillRect/>
          </a:stretch>
        </p:blipFill>
        <p:spPr>
          <a:xfrm>
            <a:off x="6095999" y="1068304"/>
            <a:ext cx="5899159" cy="4897067"/>
          </a:xfrm>
          <a:prstGeom prst="rect">
            <a:avLst/>
          </a:prstGeom>
        </p:spPr>
      </p:pic>
    </p:spTree>
    <p:extLst>
      <p:ext uri="{BB962C8B-B14F-4D97-AF65-F5344CB8AC3E}">
        <p14:creationId xmlns:p14="http://schemas.microsoft.com/office/powerpoint/2010/main" val="42534616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7717972"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最小线性无关覆盖的计算方式</a:t>
            </a:r>
            <a:endParaRPr kumimoji="1" lang="en-US" altLang="zh-CN" sz="2000" b="1" dirty="0" smtClean="0"/>
          </a:p>
          <a:p>
            <a:r>
              <a:rPr kumimoji="1" lang="zh-CN" altLang="en-US" sz="2000" dirty="0" smtClean="0"/>
              <a:t>等式</a:t>
            </a:r>
            <a:r>
              <a:rPr kumimoji="1" lang="en-US" altLang="zh-CN" sz="2000" dirty="0" smtClean="0"/>
              <a:t>1</a:t>
            </a:r>
            <a:r>
              <a:rPr kumimoji="1" lang="zh-CN" altLang="en-US" sz="2000" dirty="0" smtClean="0"/>
              <a:t>：一个系统中线性无关路径（</a:t>
            </a:r>
            <a:r>
              <a:rPr kumimoji="1" lang="en-US" altLang="zh-CN" sz="2000" dirty="0" smtClean="0"/>
              <a:t>IP</a:t>
            </a:r>
            <a:r>
              <a:rPr kumimoji="1" lang="zh-CN" altLang="en-US" sz="2000" dirty="0" smtClean="0"/>
              <a:t>）</a:t>
            </a:r>
            <a:r>
              <a:rPr kumimoji="1" lang="en-US" altLang="zh-CN" sz="2000" dirty="0" smtClean="0"/>
              <a:t>=</a:t>
            </a:r>
            <a:r>
              <a:rPr kumimoji="1" lang="zh-CN" altLang="en-US" sz="2000" dirty="0" smtClean="0"/>
              <a:t>边数（</a:t>
            </a:r>
            <a:r>
              <a:rPr kumimoji="1" lang="en-US" altLang="zh-CN" sz="2000" dirty="0" smtClean="0"/>
              <a:t>E</a:t>
            </a:r>
            <a:r>
              <a:rPr kumimoji="1" lang="zh-CN" altLang="en-US" sz="2000" dirty="0" smtClean="0"/>
              <a:t>）</a:t>
            </a:r>
            <a:r>
              <a:rPr kumimoji="1" lang="en-US" altLang="zh-CN" sz="2000" dirty="0" smtClean="0"/>
              <a:t>-</a:t>
            </a:r>
            <a:r>
              <a:rPr kumimoji="1" lang="zh-CN" altLang="en-US" sz="2000" dirty="0" smtClean="0"/>
              <a:t>节点数（</a:t>
            </a:r>
            <a:r>
              <a:rPr kumimoji="1" lang="en-US" altLang="zh-CN" sz="2000" dirty="0" smtClean="0"/>
              <a:t>N</a:t>
            </a:r>
            <a:r>
              <a:rPr kumimoji="1" lang="zh-CN" altLang="en-US" sz="2000" dirty="0" smtClean="0"/>
              <a:t>）</a:t>
            </a:r>
            <a:r>
              <a:rPr kumimoji="1" lang="en-US" altLang="zh-CN" sz="2000" dirty="0" smtClean="0"/>
              <a:t>+2</a:t>
            </a:r>
          </a:p>
          <a:p>
            <a:r>
              <a:rPr kumimoji="1" lang="zh-CN" altLang="en-US" sz="2000" dirty="0" smtClean="0"/>
              <a:t>等式</a:t>
            </a:r>
            <a:r>
              <a:rPr kumimoji="1" lang="en-US" altLang="zh-CN" sz="2000" dirty="0" smtClean="0"/>
              <a:t>2</a:t>
            </a:r>
            <a:r>
              <a:rPr kumimoji="1" lang="zh-CN" altLang="en-US" sz="2000" dirty="0" smtClean="0"/>
              <a:t>：一个系统中线性无关路径（</a:t>
            </a:r>
            <a:r>
              <a:rPr kumimoji="1" lang="en-US" altLang="zh-CN" sz="2000" dirty="0" smtClean="0"/>
              <a:t>IP</a:t>
            </a:r>
            <a:r>
              <a:rPr kumimoji="1" lang="zh-CN" altLang="en-US" sz="2000" dirty="0" smtClean="0"/>
              <a:t>）</a:t>
            </a:r>
            <a:r>
              <a:rPr kumimoji="1" lang="en-US" altLang="zh-CN" sz="2000" dirty="0" smtClean="0"/>
              <a:t>=</a:t>
            </a:r>
            <a:r>
              <a:rPr kumimoji="1" lang="zh-CN" altLang="en-US" sz="2000" dirty="0" smtClean="0"/>
              <a:t>判定数（</a:t>
            </a:r>
            <a:r>
              <a:rPr kumimoji="1" lang="en-US" altLang="zh-CN" sz="2000" dirty="0" smtClean="0"/>
              <a:t>P</a:t>
            </a:r>
            <a:r>
              <a:rPr kumimoji="1" lang="zh-CN" altLang="en-US" sz="2000" dirty="0" smtClean="0"/>
              <a:t>）</a:t>
            </a:r>
            <a:r>
              <a:rPr kumimoji="1" lang="en-US" altLang="zh-CN" sz="2000" dirty="0" smtClean="0"/>
              <a:t>+1</a:t>
            </a:r>
          </a:p>
          <a:p>
            <a:r>
              <a:rPr kumimoji="1" lang="zh-CN" altLang="en-US" sz="2000" dirty="0" smtClean="0"/>
              <a:t>等式</a:t>
            </a:r>
            <a:r>
              <a:rPr kumimoji="1" lang="en-US" altLang="zh-CN" sz="2000" dirty="0" smtClean="0"/>
              <a:t>3</a:t>
            </a:r>
            <a:r>
              <a:rPr kumimoji="1" lang="zh-CN" altLang="en-US" sz="2000" dirty="0" smtClean="0"/>
              <a:t>：一个系统中现行无关路径（</a:t>
            </a:r>
            <a:r>
              <a:rPr kumimoji="1" lang="en-US" altLang="zh-CN" sz="2000" dirty="0" smtClean="0"/>
              <a:t>IP</a:t>
            </a:r>
            <a:r>
              <a:rPr kumimoji="1" lang="zh-CN" altLang="en-US" sz="2000" dirty="0" smtClean="0"/>
              <a:t>）</a:t>
            </a:r>
            <a:r>
              <a:rPr kumimoji="1" lang="en-US" altLang="zh-CN" sz="2000" dirty="0" smtClean="0"/>
              <a:t>=</a:t>
            </a:r>
            <a:r>
              <a:rPr kumimoji="1" lang="zh-CN" altLang="en-US" sz="2000" dirty="0" smtClean="0"/>
              <a:t>区域数（</a:t>
            </a:r>
            <a:r>
              <a:rPr kumimoji="1" lang="en-US" altLang="zh-CN" sz="2000" dirty="0" smtClean="0"/>
              <a:t>R</a:t>
            </a:r>
            <a:r>
              <a:rPr kumimoji="1" lang="zh-CN" altLang="en-US" sz="2000" dirty="0" smtClean="0"/>
              <a:t>）</a:t>
            </a:r>
            <a:r>
              <a:rPr kumimoji="1" lang="en-US" altLang="zh-CN" sz="2000" dirty="0" smtClean="0"/>
              <a:t>+1</a:t>
            </a:r>
          </a:p>
          <a:p>
            <a:pPr marL="0" indent="0">
              <a:buNone/>
            </a:pPr>
            <a:r>
              <a:rPr kumimoji="1" lang="en-US" altLang="zh-CN" sz="2000" dirty="0"/>
              <a:t> </a:t>
            </a:r>
            <a:r>
              <a:rPr kumimoji="1" lang="en-US" altLang="zh-CN" sz="2000" dirty="0" smtClean="0"/>
              <a:t>                                                                                 --</a:t>
            </a:r>
            <a:r>
              <a:rPr kumimoji="1" lang="zh-CN" altLang="en-US" sz="2000" dirty="0" smtClean="0"/>
              <a:t>来源</a:t>
            </a:r>
            <a:r>
              <a:rPr kumimoji="1" lang="en-US" altLang="zh-CN" sz="2000" dirty="0" smtClean="0"/>
              <a:t>《</a:t>
            </a:r>
            <a:r>
              <a:rPr kumimoji="1" lang="zh-CN" altLang="en-US" sz="2000" dirty="0" smtClean="0"/>
              <a:t>图与超图</a:t>
            </a:r>
            <a:r>
              <a:rPr kumimoji="1" lang="en-US" altLang="zh-CN" sz="2000" dirty="0" smtClean="0"/>
              <a:t>》</a:t>
            </a:r>
          </a:p>
          <a:p>
            <a:pPr marL="0" indent="0">
              <a:buNone/>
            </a:pPr>
            <a:r>
              <a:rPr kumimoji="1" lang="zh-CN" altLang="en-US" sz="1200" dirty="0" smtClean="0">
                <a:solidFill>
                  <a:schemeClr val="accent1">
                    <a:lumMod val="75000"/>
                  </a:schemeClr>
                </a:solidFill>
              </a:rPr>
              <a:t>在本例中边数</a:t>
            </a:r>
            <a:r>
              <a:rPr kumimoji="1" lang="en-US" altLang="zh-CN" sz="1200" dirty="0" smtClean="0">
                <a:solidFill>
                  <a:schemeClr val="accent1">
                    <a:lumMod val="75000"/>
                  </a:schemeClr>
                </a:solidFill>
              </a:rPr>
              <a:t>E=10</a:t>
            </a:r>
            <a:r>
              <a:rPr kumimoji="1" lang="zh-CN" altLang="en-US" sz="1200" dirty="0" smtClean="0">
                <a:solidFill>
                  <a:schemeClr val="accent1">
                    <a:lumMod val="75000"/>
                  </a:schemeClr>
                </a:solidFill>
              </a:rPr>
              <a:t>，节点数</a:t>
            </a:r>
            <a:r>
              <a:rPr kumimoji="1" lang="en-US" altLang="zh-CN" sz="1200" dirty="0" smtClean="0">
                <a:solidFill>
                  <a:schemeClr val="accent1">
                    <a:lumMod val="75000"/>
                  </a:schemeClr>
                </a:solidFill>
              </a:rPr>
              <a:t>N=8</a:t>
            </a:r>
            <a:r>
              <a:rPr kumimoji="1" lang="zh-CN" altLang="en-US" sz="1200" dirty="0" smtClean="0">
                <a:solidFill>
                  <a:schemeClr val="accent1">
                    <a:lumMod val="75000"/>
                  </a:schemeClr>
                </a:solidFill>
              </a:rPr>
              <a:t>，区域数</a:t>
            </a:r>
            <a:r>
              <a:rPr kumimoji="1" lang="en-US" altLang="zh-CN" sz="1200" dirty="0" smtClean="0">
                <a:solidFill>
                  <a:schemeClr val="accent1">
                    <a:lumMod val="75000"/>
                  </a:schemeClr>
                </a:solidFill>
              </a:rPr>
              <a:t>R=3</a:t>
            </a:r>
          </a:p>
          <a:p>
            <a:pPr marL="0" indent="0">
              <a:buNone/>
            </a:pPr>
            <a:r>
              <a:rPr kumimoji="1" lang="zh-CN" altLang="en-US" sz="1200" dirty="0" smtClean="0">
                <a:solidFill>
                  <a:schemeClr val="accent1">
                    <a:lumMod val="75000"/>
                  </a:schemeClr>
                </a:solidFill>
              </a:rPr>
              <a:t>使用等式</a:t>
            </a:r>
            <a:r>
              <a:rPr kumimoji="1" lang="en-US" altLang="zh-CN" sz="1200" dirty="0" smtClean="0">
                <a:solidFill>
                  <a:schemeClr val="accent1">
                    <a:lumMod val="75000"/>
                  </a:schemeClr>
                </a:solidFill>
              </a:rPr>
              <a:t>1</a:t>
            </a:r>
            <a:r>
              <a:rPr kumimoji="1" lang="zh-CN" altLang="en-US" sz="1200" dirty="0" smtClean="0">
                <a:solidFill>
                  <a:schemeClr val="accent1">
                    <a:lumMod val="75000"/>
                  </a:schemeClr>
                </a:solidFill>
              </a:rPr>
              <a:t>：</a:t>
            </a:r>
            <a:r>
              <a:rPr kumimoji="1" lang="en-US" altLang="zh-CN" sz="1200" dirty="0" smtClean="0">
                <a:solidFill>
                  <a:schemeClr val="accent1">
                    <a:lumMod val="75000"/>
                  </a:schemeClr>
                </a:solidFill>
              </a:rPr>
              <a:t>10-8+2=4</a:t>
            </a:r>
          </a:p>
          <a:p>
            <a:pPr marL="0" indent="0">
              <a:buNone/>
            </a:pPr>
            <a:r>
              <a:rPr kumimoji="1" lang="zh-CN" altLang="en-US" sz="1200" dirty="0">
                <a:solidFill>
                  <a:schemeClr val="accent1">
                    <a:lumMod val="75000"/>
                  </a:schemeClr>
                </a:solidFill>
              </a:rPr>
              <a:t>使用</a:t>
            </a:r>
            <a:r>
              <a:rPr kumimoji="1" lang="zh-CN" altLang="en-US" sz="1200" dirty="0" smtClean="0">
                <a:solidFill>
                  <a:schemeClr val="accent1">
                    <a:lumMod val="75000"/>
                  </a:schemeClr>
                </a:solidFill>
              </a:rPr>
              <a:t>等式</a:t>
            </a:r>
            <a:r>
              <a:rPr kumimoji="1" lang="en-US" altLang="zh-CN" sz="1200" dirty="0" smtClean="0">
                <a:solidFill>
                  <a:schemeClr val="accent1">
                    <a:lumMod val="75000"/>
                  </a:schemeClr>
                </a:solidFill>
              </a:rPr>
              <a:t>2</a:t>
            </a:r>
            <a:r>
              <a:rPr kumimoji="1" lang="zh-CN" altLang="en-US" sz="1200" dirty="0" smtClean="0">
                <a:solidFill>
                  <a:schemeClr val="accent1">
                    <a:lumMod val="75000"/>
                  </a:schemeClr>
                </a:solidFill>
              </a:rPr>
              <a:t>：</a:t>
            </a:r>
            <a:r>
              <a:rPr kumimoji="1" lang="en-US" altLang="zh-CN" sz="1200" dirty="0" smtClean="0">
                <a:solidFill>
                  <a:schemeClr val="accent1">
                    <a:lumMod val="75000"/>
                  </a:schemeClr>
                </a:solidFill>
              </a:rPr>
              <a:t>3+1=4</a:t>
            </a:r>
            <a:endParaRPr kumimoji="1" lang="en-US" altLang="zh-CN" sz="1200" dirty="0">
              <a:solidFill>
                <a:schemeClr val="accent1">
                  <a:lumMod val="75000"/>
                </a:schemeClr>
              </a:solidFill>
            </a:endParaRPr>
          </a:p>
          <a:p>
            <a:pPr marL="0" indent="0">
              <a:buNone/>
            </a:pPr>
            <a:r>
              <a:rPr kumimoji="1" lang="zh-CN" altLang="en-US" sz="1200" dirty="0">
                <a:solidFill>
                  <a:schemeClr val="accent1">
                    <a:lumMod val="75000"/>
                  </a:schemeClr>
                </a:solidFill>
              </a:rPr>
              <a:t>使用</a:t>
            </a:r>
            <a:r>
              <a:rPr kumimoji="1" lang="zh-CN" altLang="en-US" sz="1200" dirty="0" smtClean="0">
                <a:solidFill>
                  <a:schemeClr val="accent1">
                    <a:lumMod val="75000"/>
                  </a:schemeClr>
                </a:solidFill>
              </a:rPr>
              <a:t>等式</a:t>
            </a:r>
            <a:r>
              <a:rPr kumimoji="1" lang="en-US" altLang="zh-CN" sz="1200" dirty="0" smtClean="0">
                <a:solidFill>
                  <a:schemeClr val="accent1">
                    <a:lumMod val="75000"/>
                  </a:schemeClr>
                </a:solidFill>
              </a:rPr>
              <a:t>3</a:t>
            </a:r>
            <a:r>
              <a:rPr kumimoji="1" lang="zh-CN" altLang="en-US" sz="1200" dirty="0">
                <a:solidFill>
                  <a:schemeClr val="accent1">
                    <a:lumMod val="75000"/>
                  </a:schemeClr>
                </a:solidFill>
              </a:rPr>
              <a:t>使用等式</a:t>
            </a:r>
            <a:r>
              <a:rPr kumimoji="1" lang="en-US" altLang="zh-CN" sz="1200" dirty="0">
                <a:solidFill>
                  <a:schemeClr val="accent1">
                    <a:lumMod val="75000"/>
                  </a:schemeClr>
                </a:solidFill>
              </a:rPr>
              <a:t>1</a:t>
            </a:r>
            <a:r>
              <a:rPr kumimoji="1" lang="zh-CN" altLang="en-US" sz="1200" dirty="0">
                <a:solidFill>
                  <a:schemeClr val="accent1">
                    <a:lumMod val="75000"/>
                  </a:schemeClr>
                </a:solidFill>
              </a:rPr>
              <a:t>：</a:t>
            </a:r>
            <a:r>
              <a:rPr kumimoji="1" lang="en-US" altLang="zh-CN" sz="1200" dirty="0">
                <a:solidFill>
                  <a:schemeClr val="accent1">
                    <a:lumMod val="75000"/>
                  </a:schemeClr>
                </a:solidFill>
              </a:rPr>
              <a:t>10-8+2=4</a:t>
            </a:r>
          </a:p>
          <a:p>
            <a:pPr marL="0" indent="0">
              <a:buNone/>
            </a:pPr>
            <a:r>
              <a:rPr kumimoji="1" lang="zh-CN" altLang="en-US" sz="1200" dirty="0" smtClean="0">
                <a:solidFill>
                  <a:schemeClr val="accent1">
                    <a:lumMod val="75000"/>
                  </a:schemeClr>
                </a:solidFill>
              </a:rPr>
              <a:t>：</a:t>
            </a:r>
            <a:r>
              <a:rPr kumimoji="1" lang="en-US" altLang="zh-CN" sz="1200" dirty="0" smtClean="0">
                <a:solidFill>
                  <a:schemeClr val="accent1">
                    <a:lumMod val="75000"/>
                  </a:schemeClr>
                </a:solidFill>
              </a:rPr>
              <a:t>3+1=4</a:t>
            </a:r>
          </a:p>
          <a:p>
            <a:pPr marL="0" indent="0">
              <a:buNone/>
            </a:pPr>
            <a:endParaRPr kumimoji="1" lang="en-US" altLang="zh-CN" sz="2000" dirty="0"/>
          </a:p>
          <a:p>
            <a:pPr marL="0" indent="0">
              <a:buNone/>
            </a:pPr>
            <a:r>
              <a:rPr kumimoji="1" lang="zh-CN" altLang="en-US" sz="2000" dirty="0"/>
              <a:t>约定</a:t>
            </a:r>
            <a:r>
              <a:rPr kumimoji="1" lang="en-US" altLang="zh-CN" sz="2000" dirty="0" smtClean="0"/>
              <a:t>1</a:t>
            </a:r>
            <a:r>
              <a:rPr kumimoji="1" lang="zh-CN" altLang="en-US" sz="2000" dirty="0" smtClean="0"/>
              <a:t>：“流程图”的“入口”和“出口”不能作为边数计算</a:t>
            </a:r>
            <a:endParaRPr kumimoji="1" lang="en-US" altLang="zh-CN" sz="2000" dirty="0" smtClean="0"/>
          </a:p>
          <a:p>
            <a:pPr marL="0" indent="0">
              <a:buNone/>
            </a:pPr>
            <a:r>
              <a:rPr kumimoji="1" lang="zh-CN" altLang="en-US" sz="2000" dirty="0" smtClean="0"/>
              <a:t>约定</a:t>
            </a:r>
            <a:r>
              <a:rPr kumimoji="1" lang="en-US" altLang="zh-CN" sz="2000" dirty="0" smtClean="0"/>
              <a:t>2</a:t>
            </a:r>
            <a:r>
              <a:rPr kumimoji="1" lang="zh-CN" altLang="en-US" sz="2000" dirty="0" smtClean="0"/>
              <a:t>：一个“流程图”只有一个“入口点”和一个“出口点”</a:t>
            </a:r>
            <a:endParaRPr kumimoji="1" lang="en-US" altLang="zh-CN" sz="2000" dirty="0"/>
          </a:p>
          <a:p>
            <a:pPr marL="0" indent="0">
              <a:buNone/>
            </a:pPr>
            <a:endParaRPr kumimoji="1" lang="en-US" altLang="zh-CN" sz="2000" dirty="0" smtClean="0"/>
          </a:p>
        </p:txBody>
      </p:sp>
      <p:pic>
        <p:nvPicPr>
          <p:cNvPr id="5" name="图片 4"/>
          <p:cNvPicPr>
            <a:picLocks noChangeAspect="1"/>
          </p:cNvPicPr>
          <p:nvPr/>
        </p:nvPicPr>
        <p:blipFill>
          <a:blip r:embed="rId3"/>
          <a:stretch>
            <a:fillRect/>
          </a:stretch>
        </p:blipFill>
        <p:spPr>
          <a:xfrm>
            <a:off x="8342811" y="740345"/>
            <a:ext cx="3297972" cy="5065579"/>
          </a:xfrm>
          <a:prstGeom prst="rect">
            <a:avLst/>
          </a:prstGeom>
        </p:spPr>
      </p:pic>
    </p:spTree>
    <p:extLst>
      <p:ext uri="{BB962C8B-B14F-4D97-AF65-F5344CB8AC3E}">
        <p14:creationId xmlns:p14="http://schemas.microsoft.com/office/powerpoint/2010/main" val="33416256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4391298"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最小线性无关路径的获取方法</a:t>
            </a:r>
            <a:endParaRPr kumimoji="1" lang="en-US" altLang="zh-CN" sz="2000" b="1" dirty="0" smtClean="0"/>
          </a:p>
          <a:p>
            <a:r>
              <a:rPr kumimoji="1" lang="zh-CN" altLang="en-US" sz="2000" dirty="0" smtClean="0"/>
              <a:t>参照右图的流程图进入流程图后遇到判定，判断“判定为假的路径是否被执行过”</a:t>
            </a:r>
            <a:endParaRPr kumimoji="1" lang="en-US" altLang="zh-CN" sz="2000" dirty="0" smtClean="0"/>
          </a:p>
          <a:p>
            <a:r>
              <a:rPr kumimoji="1" lang="zh-CN" altLang="en-US" sz="2000" dirty="0" smtClean="0"/>
              <a:t>如果没有执行过判定为“假”的分支，则执行判定为“假”所在的分支，此后遇到判定只执行判定为“真”所在的分支</a:t>
            </a:r>
            <a:endParaRPr kumimoji="1" lang="en-US" altLang="zh-CN" sz="2000" dirty="0" smtClean="0"/>
          </a:p>
          <a:p>
            <a:r>
              <a:rPr kumimoji="1" lang="zh-CN" altLang="en-US" sz="2000" dirty="0" smtClean="0"/>
              <a:t>如果已执行过判定为“假”的分支，则执行判定为“真”的分支，以此往复</a:t>
            </a:r>
            <a:endParaRPr kumimoji="1" lang="en-US" altLang="zh-CN" sz="2000" dirty="0" smtClean="0"/>
          </a:p>
          <a:p>
            <a:pPr marL="0" indent="0">
              <a:buNone/>
            </a:pPr>
            <a:endParaRPr kumimoji="1" lang="en-US" altLang="zh-CN" sz="2000" dirty="0" smtClean="0"/>
          </a:p>
        </p:txBody>
      </p:sp>
      <p:pic>
        <p:nvPicPr>
          <p:cNvPr id="3" name="图片 2"/>
          <p:cNvPicPr>
            <a:picLocks noChangeAspect="1"/>
          </p:cNvPicPr>
          <p:nvPr/>
        </p:nvPicPr>
        <p:blipFill>
          <a:blip r:embed="rId3"/>
          <a:stretch>
            <a:fillRect/>
          </a:stretch>
        </p:blipFill>
        <p:spPr>
          <a:xfrm>
            <a:off x="5626253" y="1142433"/>
            <a:ext cx="4041066" cy="3747728"/>
          </a:xfrm>
          <a:prstGeom prst="rect">
            <a:avLst/>
          </a:prstGeom>
        </p:spPr>
      </p:pic>
    </p:spTree>
    <p:extLst>
      <p:ext uri="{BB962C8B-B14F-4D97-AF65-F5344CB8AC3E}">
        <p14:creationId xmlns:p14="http://schemas.microsoft.com/office/powerpoint/2010/main" val="23787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4391298"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示例的最小线性无关路径</a:t>
            </a:r>
            <a:endParaRPr kumimoji="1" lang="en-US" altLang="zh-CN" sz="2000" b="1" dirty="0" smtClean="0"/>
          </a:p>
          <a:p>
            <a:pPr marL="0" indent="0">
              <a:buNone/>
            </a:pPr>
            <a:endParaRPr kumimoji="1" lang="en-US" altLang="zh-CN" sz="2000" dirty="0" smtClean="0"/>
          </a:p>
        </p:txBody>
      </p:sp>
      <p:pic>
        <p:nvPicPr>
          <p:cNvPr id="5" name="图片 4"/>
          <p:cNvPicPr>
            <a:picLocks noChangeAspect="1"/>
          </p:cNvPicPr>
          <p:nvPr/>
        </p:nvPicPr>
        <p:blipFill>
          <a:blip r:embed="rId3"/>
          <a:stretch>
            <a:fillRect/>
          </a:stretch>
        </p:blipFill>
        <p:spPr>
          <a:xfrm>
            <a:off x="736771" y="1913090"/>
            <a:ext cx="10053905" cy="3886819"/>
          </a:xfrm>
          <a:prstGeom prst="rect">
            <a:avLst/>
          </a:prstGeom>
        </p:spPr>
      </p:pic>
    </p:spTree>
    <p:extLst>
      <p:ext uri="{BB962C8B-B14F-4D97-AF65-F5344CB8AC3E}">
        <p14:creationId xmlns:p14="http://schemas.microsoft.com/office/powerpoint/2010/main" val="10182600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9877698"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基础用例设计</a:t>
            </a:r>
            <a:endParaRPr kumimoji="1" lang="en-US" altLang="zh-CN" sz="2000" b="1" dirty="0" smtClean="0"/>
          </a:p>
          <a:p>
            <a:r>
              <a:rPr kumimoji="1" lang="zh-CN" altLang="en-US" sz="2000" dirty="0" smtClean="0"/>
              <a:t>由于线性无关路径判断约定只能有一个输入一个输出，而示例“</a:t>
            </a:r>
            <a:r>
              <a:rPr kumimoji="1" lang="en-US" altLang="zh-CN" sz="2000" dirty="0" smtClean="0"/>
              <a:t>PC</a:t>
            </a:r>
            <a:r>
              <a:rPr kumimoji="1" lang="zh-CN" altLang="en-US" sz="2000" dirty="0" smtClean="0"/>
              <a:t>连接</a:t>
            </a:r>
            <a:r>
              <a:rPr kumimoji="1" lang="en-US" altLang="zh-CN" sz="2000" dirty="0" err="1" smtClean="0"/>
              <a:t>wifi</a:t>
            </a:r>
            <a:r>
              <a:rPr kumimoji="1" lang="zh-CN" altLang="en-US" sz="2000" dirty="0" smtClean="0"/>
              <a:t>”示例有两个输出，因此需要拆分为两个子流程图</a:t>
            </a:r>
            <a:endParaRPr kumimoji="1" lang="en-US" altLang="zh-CN" sz="2000" dirty="0" smtClean="0"/>
          </a:p>
        </p:txBody>
      </p:sp>
      <p:pic>
        <p:nvPicPr>
          <p:cNvPr id="6" name="图片 5"/>
          <p:cNvPicPr>
            <a:picLocks noChangeAspect="1"/>
          </p:cNvPicPr>
          <p:nvPr/>
        </p:nvPicPr>
        <p:blipFill>
          <a:blip r:embed="rId3"/>
          <a:stretch>
            <a:fillRect/>
          </a:stretch>
        </p:blipFill>
        <p:spPr>
          <a:xfrm>
            <a:off x="624840" y="2359343"/>
            <a:ext cx="4022902" cy="3775492"/>
          </a:xfrm>
          <a:prstGeom prst="rect">
            <a:avLst/>
          </a:prstGeom>
        </p:spPr>
      </p:pic>
      <p:pic>
        <p:nvPicPr>
          <p:cNvPr id="3" name="图片 2"/>
          <p:cNvPicPr>
            <a:picLocks noChangeAspect="1"/>
          </p:cNvPicPr>
          <p:nvPr/>
        </p:nvPicPr>
        <p:blipFill>
          <a:blip r:embed="rId4"/>
          <a:stretch>
            <a:fillRect/>
          </a:stretch>
        </p:blipFill>
        <p:spPr>
          <a:xfrm>
            <a:off x="5007935" y="2455137"/>
            <a:ext cx="3450866" cy="3560104"/>
          </a:xfrm>
          <a:prstGeom prst="rect">
            <a:avLst/>
          </a:prstGeom>
        </p:spPr>
      </p:pic>
      <p:pic>
        <p:nvPicPr>
          <p:cNvPr id="8" name="图片 7"/>
          <p:cNvPicPr>
            <a:picLocks noChangeAspect="1"/>
          </p:cNvPicPr>
          <p:nvPr/>
        </p:nvPicPr>
        <p:blipFill>
          <a:blip r:embed="rId5"/>
          <a:stretch>
            <a:fillRect/>
          </a:stretch>
        </p:blipFill>
        <p:spPr>
          <a:xfrm>
            <a:off x="8458801" y="2455137"/>
            <a:ext cx="3036513" cy="3560104"/>
          </a:xfrm>
          <a:prstGeom prst="rect">
            <a:avLst/>
          </a:prstGeom>
        </p:spPr>
      </p:pic>
    </p:spTree>
    <p:extLst>
      <p:ext uri="{BB962C8B-B14F-4D97-AF65-F5344CB8AC3E}">
        <p14:creationId xmlns:p14="http://schemas.microsoft.com/office/powerpoint/2010/main" val="1053649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9877698"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基础用例设计</a:t>
            </a:r>
            <a:endParaRPr kumimoji="1" lang="en-US" altLang="zh-CN" sz="2000" b="1" dirty="0" smtClean="0"/>
          </a:p>
          <a:p>
            <a:r>
              <a:rPr kumimoji="1" lang="zh-CN" altLang="en-US" sz="2000" dirty="0" smtClean="0"/>
              <a:t>对于大多数的场景推荐使用最小线性无关路径进行覆盖</a:t>
            </a:r>
            <a:endParaRPr kumimoji="1" lang="en-US" altLang="zh-CN" sz="2000" dirty="0" smtClean="0"/>
          </a:p>
          <a:p>
            <a:r>
              <a:rPr kumimoji="1" lang="zh-CN" altLang="en-US" sz="2000" dirty="0" smtClean="0"/>
              <a:t>由于线性无关路径判断约定只能有一个输入一个输出，而示例“</a:t>
            </a:r>
            <a:r>
              <a:rPr kumimoji="1" lang="en-US" altLang="zh-CN" sz="2000" dirty="0" smtClean="0"/>
              <a:t>PC</a:t>
            </a:r>
            <a:r>
              <a:rPr kumimoji="1" lang="zh-CN" altLang="en-US" sz="2000" dirty="0" smtClean="0"/>
              <a:t>连接</a:t>
            </a:r>
            <a:r>
              <a:rPr kumimoji="1" lang="en-US" altLang="zh-CN" sz="2000" dirty="0" err="1" smtClean="0"/>
              <a:t>wifi</a:t>
            </a:r>
            <a:r>
              <a:rPr kumimoji="1" lang="zh-CN" altLang="en-US" sz="2000" dirty="0" smtClean="0"/>
              <a:t>”示例有两个输出，因此需要拆分为两个子流程图</a:t>
            </a:r>
            <a:endParaRPr kumimoji="1" lang="en-US" altLang="zh-CN" sz="2000" dirty="0" smtClean="0"/>
          </a:p>
        </p:txBody>
      </p:sp>
      <p:pic>
        <p:nvPicPr>
          <p:cNvPr id="6" name="图片 5"/>
          <p:cNvPicPr>
            <a:picLocks noChangeAspect="1"/>
          </p:cNvPicPr>
          <p:nvPr/>
        </p:nvPicPr>
        <p:blipFill>
          <a:blip r:embed="rId3"/>
          <a:stretch>
            <a:fillRect/>
          </a:stretch>
        </p:blipFill>
        <p:spPr>
          <a:xfrm>
            <a:off x="624840" y="2742517"/>
            <a:ext cx="4022902" cy="3636161"/>
          </a:xfrm>
          <a:prstGeom prst="rect">
            <a:avLst/>
          </a:prstGeom>
        </p:spPr>
      </p:pic>
      <p:pic>
        <p:nvPicPr>
          <p:cNvPr id="3" name="图片 2"/>
          <p:cNvPicPr>
            <a:picLocks noChangeAspect="1"/>
          </p:cNvPicPr>
          <p:nvPr/>
        </p:nvPicPr>
        <p:blipFill>
          <a:blip r:embed="rId4"/>
          <a:stretch>
            <a:fillRect/>
          </a:stretch>
        </p:blipFill>
        <p:spPr>
          <a:xfrm>
            <a:off x="5007935" y="2742518"/>
            <a:ext cx="3450866" cy="3560104"/>
          </a:xfrm>
          <a:prstGeom prst="rect">
            <a:avLst/>
          </a:prstGeom>
        </p:spPr>
      </p:pic>
      <p:pic>
        <p:nvPicPr>
          <p:cNvPr id="8" name="图片 7"/>
          <p:cNvPicPr>
            <a:picLocks noChangeAspect="1"/>
          </p:cNvPicPr>
          <p:nvPr/>
        </p:nvPicPr>
        <p:blipFill>
          <a:blip r:embed="rId5"/>
          <a:stretch>
            <a:fillRect/>
          </a:stretch>
        </p:blipFill>
        <p:spPr>
          <a:xfrm>
            <a:off x="8458801" y="2742518"/>
            <a:ext cx="3036513" cy="3560104"/>
          </a:xfrm>
          <a:prstGeom prst="rect">
            <a:avLst/>
          </a:prstGeom>
        </p:spPr>
      </p:pic>
    </p:spTree>
    <p:extLst>
      <p:ext uri="{BB962C8B-B14F-4D97-AF65-F5344CB8AC3E}">
        <p14:creationId xmlns:p14="http://schemas.microsoft.com/office/powerpoint/2010/main" val="42531200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5880464"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基础用例设计</a:t>
            </a:r>
            <a:endParaRPr kumimoji="1" lang="en-US" altLang="zh-CN" sz="2000" b="1" dirty="0" smtClean="0"/>
          </a:p>
          <a:p>
            <a:r>
              <a:rPr kumimoji="1" lang="zh-CN" altLang="en-US" sz="2000" dirty="0" smtClean="0"/>
              <a:t>基础用例只要将路径中的节点和判定进行组合即可</a:t>
            </a:r>
            <a:endParaRPr kumimoji="1" lang="en-US" altLang="zh-CN" sz="2000" dirty="0" smtClean="0"/>
          </a:p>
          <a:p>
            <a:r>
              <a:rPr kumimoji="1" lang="zh-CN" altLang="en-US" sz="2000" dirty="0" smtClean="0"/>
              <a:t>如图序号</a:t>
            </a:r>
            <a:r>
              <a:rPr kumimoji="1" lang="en-US" altLang="zh-CN" sz="2000" dirty="0" smtClean="0"/>
              <a:t>1~3</a:t>
            </a:r>
            <a:r>
              <a:rPr kumimoji="1" lang="zh-CN" altLang="en-US" sz="2000" dirty="0" smtClean="0"/>
              <a:t>基础用例为子图</a:t>
            </a:r>
            <a:r>
              <a:rPr kumimoji="1" lang="en-US" altLang="zh-CN" sz="2000" dirty="0" smtClean="0"/>
              <a:t>1</a:t>
            </a:r>
            <a:r>
              <a:rPr kumimoji="1" lang="zh-CN" altLang="en-US" sz="2000" dirty="0" smtClean="0"/>
              <a:t>的基础用例，即出口为连接成功</a:t>
            </a:r>
            <a:endParaRPr kumimoji="1" lang="en-US" altLang="zh-CN" sz="2000" dirty="0" smtClean="0"/>
          </a:p>
          <a:p>
            <a:r>
              <a:rPr kumimoji="1" lang="zh-CN" altLang="en-US" sz="2000" dirty="0" smtClean="0"/>
              <a:t>如果序号</a:t>
            </a:r>
            <a:r>
              <a:rPr kumimoji="1" lang="en-US" altLang="zh-CN" sz="2000" dirty="0" smtClean="0"/>
              <a:t>4</a:t>
            </a:r>
            <a:r>
              <a:rPr kumimoji="1" lang="zh-CN" altLang="en-US" sz="2000" dirty="0" smtClean="0"/>
              <a:t>和</a:t>
            </a:r>
            <a:r>
              <a:rPr kumimoji="1" lang="en-US" altLang="zh-CN" sz="2000" dirty="0" smtClean="0"/>
              <a:t>5</a:t>
            </a:r>
            <a:r>
              <a:rPr kumimoji="1" lang="zh-CN" altLang="en-US" sz="2000" dirty="0" smtClean="0"/>
              <a:t>基础用例为子图</a:t>
            </a:r>
            <a:r>
              <a:rPr kumimoji="1" lang="en-US" altLang="zh-CN" sz="2000" dirty="0" smtClean="0"/>
              <a:t>2</a:t>
            </a:r>
            <a:r>
              <a:rPr kumimoji="1" lang="zh-CN" altLang="en-US" sz="2000" dirty="0" smtClean="0"/>
              <a:t>的基础用例，级出口为连接失败的测试用例</a:t>
            </a:r>
            <a:endParaRPr kumimoji="1" lang="en-US" altLang="zh-CN" sz="2000" dirty="0" smtClean="0"/>
          </a:p>
        </p:txBody>
      </p:sp>
      <p:pic>
        <p:nvPicPr>
          <p:cNvPr id="3" name="图片 2"/>
          <p:cNvPicPr>
            <a:picLocks noChangeAspect="1"/>
          </p:cNvPicPr>
          <p:nvPr/>
        </p:nvPicPr>
        <p:blipFill>
          <a:blip r:embed="rId3"/>
          <a:stretch>
            <a:fillRect/>
          </a:stretch>
        </p:blipFill>
        <p:spPr>
          <a:xfrm>
            <a:off x="6764444" y="1543071"/>
            <a:ext cx="2727899" cy="3791873"/>
          </a:xfrm>
          <a:prstGeom prst="rect">
            <a:avLst/>
          </a:prstGeom>
        </p:spPr>
      </p:pic>
      <p:pic>
        <p:nvPicPr>
          <p:cNvPr id="6" name="图片 5"/>
          <p:cNvPicPr>
            <a:picLocks noChangeAspect="1"/>
          </p:cNvPicPr>
          <p:nvPr/>
        </p:nvPicPr>
        <p:blipFill>
          <a:blip r:embed="rId4"/>
          <a:stretch>
            <a:fillRect/>
          </a:stretch>
        </p:blipFill>
        <p:spPr>
          <a:xfrm>
            <a:off x="495268" y="3772766"/>
            <a:ext cx="6139606" cy="1562180"/>
          </a:xfrm>
          <a:prstGeom prst="rect">
            <a:avLst/>
          </a:prstGeom>
        </p:spPr>
      </p:pic>
      <p:pic>
        <p:nvPicPr>
          <p:cNvPr id="8" name="图片 7"/>
          <p:cNvPicPr>
            <a:picLocks noChangeAspect="1"/>
          </p:cNvPicPr>
          <p:nvPr/>
        </p:nvPicPr>
        <p:blipFill>
          <a:blip r:embed="rId5"/>
          <a:stretch>
            <a:fillRect/>
          </a:stretch>
        </p:blipFill>
        <p:spPr>
          <a:xfrm>
            <a:off x="9621914" y="1543071"/>
            <a:ext cx="2352372" cy="3791873"/>
          </a:xfrm>
          <a:prstGeom prst="rect">
            <a:avLst/>
          </a:prstGeom>
        </p:spPr>
      </p:pic>
    </p:spTree>
    <p:extLst>
      <p:ext uri="{BB962C8B-B14F-4D97-AF65-F5344CB8AC3E}">
        <p14:creationId xmlns:p14="http://schemas.microsoft.com/office/powerpoint/2010/main" val="35852639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9" y="1142433"/>
            <a:ext cx="5880464"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测试数据分析</a:t>
            </a:r>
            <a:endParaRPr kumimoji="1" lang="en-US" altLang="zh-CN" sz="2000" b="1" dirty="0" smtClean="0"/>
          </a:p>
          <a:p>
            <a:r>
              <a:rPr kumimoji="1" lang="en-US" altLang="zh-CN" sz="2000" dirty="0" smtClean="0"/>
              <a:t>WIFI</a:t>
            </a:r>
            <a:r>
              <a:rPr kumimoji="1" lang="zh-CN" altLang="en-US" sz="2000" dirty="0" smtClean="0"/>
              <a:t>的加密方式：为</a:t>
            </a:r>
            <a:r>
              <a:rPr kumimoji="1" lang="en-US" altLang="zh-CN" sz="2000" dirty="0" smtClean="0"/>
              <a:t>WEP</a:t>
            </a:r>
            <a:r>
              <a:rPr kumimoji="1" lang="zh-CN" altLang="en-US" sz="2000" dirty="0" smtClean="0"/>
              <a:t>、</a:t>
            </a:r>
            <a:r>
              <a:rPr kumimoji="1" lang="en-US" altLang="zh-CN" sz="2000" dirty="0" smtClean="0"/>
              <a:t>WPA</a:t>
            </a:r>
            <a:r>
              <a:rPr kumimoji="1" lang="zh-CN" altLang="en-US" sz="2000" dirty="0" smtClean="0"/>
              <a:t>、</a:t>
            </a:r>
            <a:r>
              <a:rPr kumimoji="1" lang="en-US" altLang="zh-CN" sz="2000" dirty="0" smtClean="0"/>
              <a:t>WPA2</a:t>
            </a:r>
          </a:p>
        </p:txBody>
      </p:sp>
      <p:graphicFrame>
        <p:nvGraphicFramePr>
          <p:cNvPr id="9" name="表格 8"/>
          <p:cNvGraphicFramePr>
            <a:graphicFrameLocks noGrp="1"/>
          </p:cNvGraphicFramePr>
          <p:nvPr>
            <p:extLst>
              <p:ext uri="{D42A27DB-BD31-4B8C-83A1-F6EECF244321}">
                <p14:modId xmlns:p14="http://schemas.microsoft.com/office/powerpoint/2010/main" val="1878055099"/>
              </p:ext>
            </p:extLst>
          </p:nvPr>
        </p:nvGraphicFramePr>
        <p:xfrm>
          <a:off x="734423" y="2278501"/>
          <a:ext cx="9942286" cy="2595880"/>
        </p:xfrm>
        <a:graphic>
          <a:graphicData uri="http://schemas.openxmlformats.org/drawingml/2006/table">
            <a:tbl>
              <a:tblPr firstRow="1" bandRow="1">
                <a:tableStyleId>{5C22544A-7EE6-4342-B048-85BDC9FD1C3A}</a:tableStyleId>
              </a:tblPr>
              <a:tblGrid>
                <a:gridCol w="1050834">
                  <a:extLst>
                    <a:ext uri="{9D8B030D-6E8A-4147-A177-3AD203B41FA5}">
                      <a16:colId xmlns:a16="http://schemas.microsoft.com/office/drawing/2014/main" val="2294992320"/>
                    </a:ext>
                  </a:extLst>
                </a:gridCol>
                <a:gridCol w="6966857">
                  <a:extLst>
                    <a:ext uri="{9D8B030D-6E8A-4147-A177-3AD203B41FA5}">
                      <a16:colId xmlns:a16="http://schemas.microsoft.com/office/drawing/2014/main" val="1092500117"/>
                    </a:ext>
                  </a:extLst>
                </a:gridCol>
                <a:gridCol w="1924595">
                  <a:extLst>
                    <a:ext uri="{9D8B030D-6E8A-4147-A177-3AD203B41FA5}">
                      <a16:colId xmlns:a16="http://schemas.microsoft.com/office/drawing/2014/main" val="4198359634"/>
                    </a:ext>
                  </a:extLst>
                </a:gridCol>
              </a:tblGrid>
              <a:tr h="370840">
                <a:tc>
                  <a:txBody>
                    <a:bodyPr/>
                    <a:lstStyle/>
                    <a:p>
                      <a:r>
                        <a:rPr lang="zh-CN" altLang="en-US" dirty="0" smtClean="0"/>
                        <a:t>序号</a:t>
                      </a:r>
                      <a:endParaRPr lang="zh-CN" altLang="en-US" dirty="0"/>
                    </a:p>
                  </a:txBody>
                  <a:tcPr/>
                </a:tc>
                <a:tc>
                  <a:txBody>
                    <a:bodyPr/>
                    <a:lstStyle/>
                    <a:p>
                      <a:r>
                        <a:rPr lang="zh-CN" altLang="en-US" dirty="0" smtClean="0"/>
                        <a:t>测试用例</a:t>
                      </a:r>
                      <a:endParaRPr lang="zh-CN" altLang="en-US" dirty="0"/>
                    </a:p>
                  </a:txBody>
                  <a:tcPr/>
                </a:tc>
                <a:tc>
                  <a:txBody>
                    <a:bodyPr/>
                    <a:lstStyle/>
                    <a:p>
                      <a:r>
                        <a:rPr lang="zh-CN" altLang="en-US" dirty="0" smtClean="0"/>
                        <a:t>测试数据</a:t>
                      </a:r>
                      <a:endParaRPr lang="zh-CN" altLang="en-US" dirty="0"/>
                    </a:p>
                  </a:txBody>
                  <a:tcPr/>
                </a:tc>
                <a:extLst>
                  <a:ext uri="{0D108BD9-81ED-4DB2-BD59-A6C34878D82A}">
                    <a16:rowId xmlns:a16="http://schemas.microsoft.com/office/drawing/2014/main" val="184588791"/>
                  </a:ext>
                </a:extLst>
              </a:tr>
              <a:tr h="370840">
                <a:tc>
                  <a:txBody>
                    <a:bodyPr/>
                    <a:lstStyle/>
                    <a:p>
                      <a:r>
                        <a:rPr lang="en-US" altLang="zh-CN" dirty="0" smtClean="0"/>
                        <a:t>1</a:t>
                      </a:r>
                      <a:endParaRPr lang="zh-CN" altLang="en-US" dirty="0"/>
                    </a:p>
                  </a:txBody>
                  <a:tcPr/>
                </a:tc>
                <a:tc>
                  <a:txBody>
                    <a:bodyPr/>
                    <a:lstStyle/>
                    <a:p>
                      <a:r>
                        <a:rPr lang="zh-CN" altLang="en-US" dirty="0" smtClean="0"/>
                        <a:t>首选</a:t>
                      </a:r>
                      <a:r>
                        <a:rPr lang="en-US" altLang="zh-CN" dirty="0" smtClean="0"/>
                        <a:t>WIFI</a:t>
                      </a:r>
                      <a:r>
                        <a:rPr lang="zh-CN" altLang="en-US" dirty="0" smtClean="0"/>
                        <a:t>可用，加密，连接成功</a:t>
                      </a:r>
                      <a:endParaRPr lang="zh-CN" altLang="en-US" dirty="0"/>
                    </a:p>
                  </a:txBody>
                  <a:tcPr/>
                </a:tc>
                <a:tc>
                  <a:txBody>
                    <a:bodyPr/>
                    <a:lstStyle/>
                    <a:p>
                      <a:r>
                        <a:rPr lang="zh-CN" altLang="en-US" dirty="0" smtClean="0"/>
                        <a:t>加密方式为</a:t>
                      </a:r>
                      <a:r>
                        <a:rPr lang="en-US" altLang="zh-CN" dirty="0" smtClean="0"/>
                        <a:t>WEP</a:t>
                      </a:r>
                      <a:endParaRPr lang="zh-CN" altLang="en-US" dirty="0"/>
                    </a:p>
                  </a:txBody>
                  <a:tcPr/>
                </a:tc>
                <a:extLst>
                  <a:ext uri="{0D108BD9-81ED-4DB2-BD59-A6C34878D82A}">
                    <a16:rowId xmlns:a16="http://schemas.microsoft.com/office/drawing/2014/main" val="3531383019"/>
                  </a:ext>
                </a:extLst>
              </a:tr>
              <a:tr h="370840">
                <a:tc>
                  <a:txBody>
                    <a:bodyPr/>
                    <a:lstStyle/>
                    <a:p>
                      <a:r>
                        <a:rPr lang="en-US" altLang="zh-CN" dirty="0" smtClean="0"/>
                        <a:t>2</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首选</a:t>
                      </a:r>
                      <a:r>
                        <a:rPr lang="en-US" altLang="zh-CN" dirty="0" smtClean="0"/>
                        <a:t>WIFI</a:t>
                      </a:r>
                      <a:r>
                        <a:rPr lang="zh-CN" altLang="en-US" dirty="0" smtClean="0"/>
                        <a:t>不可用，备选</a:t>
                      </a:r>
                      <a:r>
                        <a:rPr lang="en-US" altLang="zh-CN" dirty="0" smtClean="0"/>
                        <a:t>WIFI</a:t>
                      </a:r>
                      <a:r>
                        <a:rPr lang="zh-CN" altLang="en-US" dirty="0" smtClean="0"/>
                        <a:t>可用，加密，连接成功</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加密方式为</a:t>
                      </a:r>
                      <a:r>
                        <a:rPr lang="en-US" altLang="zh-CN" dirty="0" smtClean="0"/>
                        <a:t>WPA</a:t>
                      </a:r>
                      <a:endParaRPr lang="zh-CN" altLang="en-US" dirty="0" smtClean="0"/>
                    </a:p>
                  </a:txBody>
                  <a:tcPr/>
                </a:tc>
                <a:extLst>
                  <a:ext uri="{0D108BD9-81ED-4DB2-BD59-A6C34878D82A}">
                    <a16:rowId xmlns:a16="http://schemas.microsoft.com/office/drawing/2014/main" val="1160778546"/>
                  </a:ext>
                </a:extLst>
              </a:tr>
              <a:tr h="370840">
                <a:tc>
                  <a:txBody>
                    <a:bodyPr/>
                    <a:lstStyle/>
                    <a:p>
                      <a:r>
                        <a:rPr lang="en-US" altLang="zh-CN" dirty="0" smtClean="0"/>
                        <a:t>3</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首选</a:t>
                      </a:r>
                      <a:r>
                        <a:rPr lang="en-US" altLang="zh-CN" dirty="0" smtClean="0"/>
                        <a:t>WIFI</a:t>
                      </a:r>
                      <a:r>
                        <a:rPr lang="zh-CN" altLang="en-US" dirty="0" smtClean="0"/>
                        <a:t>不可用，备选</a:t>
                      </a:r>
                      <a:r>
                        <a:rPr lang="en-US" altLang="zh-CN" dirty="0" smtClean="0"/>
                        <a:t>WIFI</a:t>
                      </a:r>
                      <a:r>
                        <a:rPr lang="zh-CN" altLang="en-US" dirty="0" smtClean="0"/>
                        <a:t>可用，不加密，连接成功</a:t>
                      </a:r>
                    </a:p>
                  </a:txBody>
                  <a:tcPr/>
                </a:tc>
                <a:tc>
                  <a:txBody>
                    <a:bodyPr/>
                    <a:lstStyle/>
                    <a:p>
                      <a:endParaRPr lang="zh-CN" altLang="en-US" dirty="0"/>
                    </a:p>
                  </a:txBody>
                  <a:tcPr/>
                </a:tc>
                <a:extLst>
                  <a:ext uri="{0D108BD9-81ED-4DB2-BD59-A6C34878D82A}">
                    <a16:rowId xmlns:a16="http://schemas.microsoft.com/office/drawing/2014/main" val="1598773826"/>
                  </a:ext>
                </a:extLst>
              </a:tr>
              <a:tr h="370840">
                <a:tc>
                  <a:txBody>
                    <a:bodyPr/>
                    <a:lstStyle/>
                    <a:p>
                      <a:r>
                        <a:rPr lang="en-US" altLang="zh-CN" dirty="0" smtClean="0"/>
                        <a:t>4</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首选</a:t>
                      </a:r>
                      <a:r>
                        <a:rPr lang="en-US" altLang="zh-CN" dirty="0" smtClean="0"/>
                        <a:t>WIFI</a:t>
                      </a:r>
                      <a:r>
                        <a:rPr lang="zh-CN" altLang="en-US" dirty="0" smtClean="0"/>
                        <a:t>不可用，备选</a:t>
                      </a:r>
                      <a:r>
                        <a:rPr lang="en-US" altLang="zh-CN" dirty="0" smtClean="0"/>
                        <a:t>WIFI</a:t>
                      </a:r>
                      <a:r>
                        <a:rPr lang="zh-CN" altLang="en-US" dirty="0" smtClean="0"/>
                        <a:t>不可用，连接失败</a:t>
                      </a:r>
                    </a:p>
                  </a:txBody>
                  <a:tcPr/>
                </a:tc>
                <a:tc>
                  <a:txBody>
                    <a:bodyPr/>
                    <a:lstStyle/>
                    <a:p>
                      <a:endParaRPr lang="zh-CN" altLang="en-US"/>
                    </a:p>
                  </a:txBody>
                  <a:tcPr/>
                </a:tc>
                <a:extLst>
                  <a:ext uri="{0D108BD9-81ED-4DB2-BD59-A6C34878D82A}">
                    <a16:rowId xmlns:a16="http://schemas.microsoft.com/office/drawing/2014/main" val="913425155"/>
                  </a:ext>
                </a:extLst>
              </a:tr>
              <a:tr h="370840">
                <a:tc>
                  <a:txBody>
                    <a:bodyPr/>
                    <a:lstStyle/>
                    <a:p>
                      <a:r>
                        <a:rPr lang="en-US" altLang="zh-CN" dirty="0" smtClean="0"/>
                        <a:t>5</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首选</a:t>
                      </a:r>
                      <a:r>
                        <a:rPr lang="en-US" altLang="zh-CN" dirty="0" smtClean="0"/>
                        <a:t>WIFI</a:t>
                      </a:r>
                      <a:r>
                        <a:rPr lang="zh-CN" altLang="en-US" dirty="0" smtClean="0"/>
                        <a:t>不可用，备选</a:t>
                      </a:r>
                      <a:r>
                        <a:rPr lang="en-US" altLang="zh-CN" dirty="0" smtClean="0"/>
                        <a:t>WIFI</a:t>
                      </a:r>
                      <a:r>
                        <a:rPr lang="zh-CN" altLang="en-US" dirty="0" smtClean="0"/>
                        <a:t>可用，不加密，连接失败</a:t>
                      </a:r>
                    </a:p>
                  </a:txBody>
                  <a:tcPr/>
                </a:tc>
                <a:tc>
                  <a:txBody>
                    <a:bodyPr/>
                    <a:lstStyle/>
                    <a:p>
                      <a:endParaRPr lang="zh-CN" altLang="en-US"/>
                    </a:p>
                  </a:txBody>
                  <a:tcPr/>
                </a:tc>
                <a:extLst>
                  <a:ext uri="{0D108BD9-81ED-4DB2-BD59-A6C34878D82A}">
                    <a16:rowId xmlns:a16="http://schemas.microsoft.com/office/drawing/2014/main" val="2702018529"/>
                  </a:ext>
                </a:extLst>
              </a:tr>
              <a:tr h="370840">
                <a:tc>
                  <a:txBody>
                    <a:bodyPr/>
                    <a:lstStyle/>
                    <a:p>
                      <a:r>
                        <a:rPr lang="en-US" altLang="zh-CN" dirty="0" smtClean="0"/>
                        <a:t>6</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首选</a:t>
                      </a:r>
                      <a:r>
                        <a:rPr lang="en-US" altLang="zh-CN" dirty="0" smtClean="0"/>
                        <a:t>WIFI</a:t>
                      </a:r>
                      <a:r>
                        <a:rPr lang="zh-CN" altLang="en-US" dirty="0" smtClean="0"/>
                        <a:t>不可用，备选</a:t>
                      </a:r>
                      <a:r>
                        <a:rPr lang="en-US" altLang="zh-CN" dirty="0" smtClean="0"/>
                        <a:t>WIFI</a:t>
                      </a:r>
                      <a:r>
                        <a:rPr lang="zh-CN" altLang="en-US" dirty="0" smtClean="0"/>
                        <a:t>可用，加密，连接成功</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加密方式为</a:t>
                      </a:r>
                      <a:r>
                        <a:rPr lang="en-US" altLang="zh-CN" dirty="0" smtClean="0"/>
                        <a:t>WPA2</a:t>
                      </a:r>
                      <a:endParaRPr lang="zh-CN" altLang="en-US" dirty="0" smtClean="0"/>
                    </a:p>
                  </a:txBody>
                  <a:tcPr/>
                </a:tc>
                <a:extLst>
                  <a:ext uri="{0D108BD9-81ED-4DB2-BD59-A6C34878D82A}">
                    <a16:rowId xmlns:a16="http://schemas.microsoft.com/office/drawing/2014/main" val="142721985"/>
                  </a:ext>
                </a:extLst>
              </a:tr>
            </a:tbl>
          </a:graphicData>
        </a:graphic>
      </p:graphicFrame>
    </p:spTree>
    <p:extLst>
      <p:ext uri="{BB962C8B-B14F-4D97-AF65-F5344CB8AC3E}">
        <p14:creationId xmlns:p14="http://schemas.microsoft.com/office/powerpoint/2010/main" val="40878828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949900"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流程图法设计测试用例</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举例</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内容占位符 1">
            <a:extLst>
              <a:ext uri="{FF2B5EF4-FFF2-40B4-BE49-F238E27FC236}">
                <a16:creationId xmlns:a16="http://schemas.microsoft.com/office/drawing/2014/main" id="{170FEFEA-96BC-43E2-AE3C-319C13D40D99}"/>
              </a:ext>
            </a:extLst>
          </p:cNvPr>
          <p:cNvSpPr txBox="1">
            <a:spLocks/>
          </p:cNvSpPr>
          <p:nvPr/>
        </p:nvSpPr>
        <p:spPr>
          <a:xfrm>
            <a:off x="624838" y="1142433"/>
            <a:ext cx="10652761" cy="46574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sz="2000" b="1" dirty="0" smtClean="0"/>
              <a:t>根据测试经验补充测试用例</a:t>
            </a:r>
            <a:endParaRPr kumimoji="1" lang="en-US" altLang="zh-CN" sz="2000" b="1" dirty="0" smtClean="0"/>
          </a:p>
          <a:p>
            <a:pPr marL="0" indent="0">
              <a:buNone/>
            </a:pPr>
            <a:r>
              <a:rPr kumimoji="1" lang="zh-CN" altLang="en-US" sz="2000" dirty="0" smtClean="0"/>
              <a:t>归根结底，最小线性无关覆盖也只是一种策略覆盖，从覆盖角度来说也是有遗留的。为了让测试更有效，我们可以根据经验再补充一些测试用例，例如</a:t>
            </a:r>
            <a:endParaRPr kumimoji="1" lang="en-US" altLang="zh-CN" sz="2000" dirty="0" smtClean="0"/>
          </a:p>
          <a:p>
            <a:r>
              <a:rPr kumimoji="1" lang="zh-CN" altLang="en-US" sz="2000" dirty="0" smtClean="0"/>
              <a:t>是否需要增加一些需要覆盖的路径</a:t>
            </a:r>
            <a:endParaRPr kumimoji="1" lang="en-US" altLang="zh-CN" sz="2000" dirty="0" smtClean="0"/>
          </a:p>
          <a:p>
            <a:r>
              <a:rPr kumimoji="1" lang="zh-CN" altLang="en-US" sz="2000" dirty="0" smtClean="0"/>
              <a:t>是否需要增加一些测试数据</a:t>
            </a:r>
            <a:endParaRPr kumimoji="1" lang="en-US" altLang="zh-CN" sz="2000" dirty="0" smtClean="0"/>
          </a:p>
          <a:p>
            <a:r>
              <a:rPr kumimoji="1" lang="zh-CN" altLang="en-US" sz="2000" dirty="0" smtClean="0"/>
              <a:t>有哪些地方容易出问题，是否还需要补充一些测试用例</a:t>
            </a:r>
            <a:endParaRPr kumimoji="1" lang="en-US" altLang="zh-CN" sz="2000" dirty="0" smtClean="0"/>
          </a:p>
        </p:txBody>
      </p:sp>
    </p:spTree>
    <p:extLst>
      <p:ext uri="{BB962C8B-B14F-4D97-AF65-F5344CB8AC3E}">
        <p14:creationId xmlns:p14="http://schemas.microsoft.com/office/powerpoint/2010/main" val="34339709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smtClean="0">
                <a:solidFill>
                  <a:srgbClr val="C00000"/>
                </a:solidFill>
                <a:latin typeface="Microsoft YaHei" charset="-122"/>
                <a:ea typeface="Microsoft YaHei" charset="-122"/>
                <a:cs typeface="Microsoft YaHei" charset="-122"/>
              </a:rPr>
              <a:t>Part03</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Microsoft YaHei" charset="-122"/>
                <a:ea typeface="Microsoft YaHei" charset="-122"/>
                <a:cs typeface="Microsoft YaHei" charset="-122"/>
              </a:rPr>
              <a:t>状态</a:t>
            </a:r>
            <a:r>
              <a:rPr kumimoji="1" lang="zh-CN" altLang="en-US" sz="5400" b="1" dirty="0" smtClean="0">
                <a:solidFill>
                  <a:srgbClr val="03277F"/>
                </a:solidFill>
                <a:latin typeface="Microsoft YaHei" charset="-122"/>
                <a:ea typeface="Microsoft YaHei" charset="-122"/>
                <a:cs typeface="Microsoft YaHei" charset="-122"/>
              </a:rPr>
              <a:t>图法设计测试用例</a:t>
            </a:r>
            <a:endParaRPr kumimoji="1" lang="zh-CN" altLang="en-US" sz="5400" b="1" dirty="0">
              <a:solidFill>
                <a:srgbClr val="03277F"/>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12279022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状态图法设计测试用例步骤</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4536911" cy="2668588"/>
          </a:xfrm>
          <a:prstGeom prst="rect">
            <a:avLst/>
          </a:prstGeom>
        </p:spPr>
        <p:txBody>
          <a:bodyPr vert="horz" lIns="91440" tIns="45720" rIns="91440" bIns="45720" rtlCol="0">
            <a:normAutofit/>
          </a:bodyPr>
          <a:lstStyle/>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对于流程类的功能适合使用路径分析法进行测试用例设计</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采用四步法设计测试用例，具体步骤入右图</a:t>
            </a:r>
            <a:endParaRPr lang="zh-CN" altLang="en-US" sz="2400" dirty="0">
              <a:latin typeface="华文细黑" pitchFamily="2" charset="-122"/>
              <a:ea typeface="华文细黑" pitchFamily="2" charset="-122"/>
            </a:endParaRPr>
          </a:p>
        </p:txBody>
      </p:sp>
      <p:pic>
        <p:nvPicPr>
          <p:cNvPr id="5" name="图片 4"/>
          <p:cNvPicPr>
            <a:picLocks noChangeAspect="1"/>
          </p:cNvPicPr>
          <p:nvPr/>
        </p:nvPicPr>
        <p:blipFill>
          <a:blip r:embed="rId3"/>
          <a:stretch>
            <a:fillRect/>
          </a:stretch>
        </p:blipFill>
        <p:spPr>
          <a:xfrm>
            <a:off x="5373295" y="1147979"/>
            <a:ext cx="5773676" cy="4122255"/>
          </a:xfrm>
          <a:prstGeom prst="rect">
            <a:avLst/>
          </a:prstGeom>
        </p:spPr>
      </p:pic>
    </p:spTree>
    <p:extLst>
      <p:ext uri="{BB962C8B-B14F-4D97-AF65-F5344CB8AC3E}">
        <p14:creationId xmlns:p14="http://schemas.microsoft.com/office/powerpoint/2010/main" val="27713350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状态图法设计测试用例步骤</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4" y="1147979"/>
            <a:ext cx="6014619" cy="2668588"/>
          </a:xfrm>
          <a:prstGeom prst="rect">
            <a:avLst/>
          </a:prstGeom>
        </p:spPr>
        <p:txBody>
          <a:bodyPr vert="horz" lIns="91440" tIns="45720" rIns="91440" bIns="45720" rtlCol="0">
            <a:noAutofit/>
          </a:bodyPr>
          <a:lstStyle/>
          <a:p>
            <a:pPr lvl="0" defTabSz="914400">
              <a:spcBef>
                <a:spcPct val="20000"/>
              </a:spcBef>
              <a:defRPr/>
            </a:pPr>
            <a:r>
              <a:rPr lang="zh-CN" altLang="en-US" sz="2000" dirty="0" smtClean="0">
                <a:latin typeface="华文细黑" pitchFamily="2" charset="-122"/>
                <a:ea typeface="华文细黑" pitchFamily="2" charset="-122"/>
              </a:rPr>
              <a:t>绘制状态图</a:t>
            </a:r>
            <a:endParaRPr lang="en-US" altLang="zh-CN" sz="20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000" dirty="0" smtClean="0">
                <a:latin typeface="华文细黑" pitchFamily="2" charset="-122"/>
                <a:ea typeface="华文细黑" pitchFamily="2" charset="-122"/>
              </a:rPr>
              <a:t>根据功能绘制状态图</a:t>
            </a:r>
            <a:endParaRPr lang="en-US" altLang="zh-CN" sz="20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000" dirty="0" smtClean="0">
                <a:latin typeface="华文细黑" pitchFamily="2" charset="-122"/>
                <a:ea typeface="华文细黑" pitchFamily="2" charset="-122"/>
              </a:rPr>
              <a:t>以</a:t>
            </a:r>
            <a:r>
              <a:rPr lang="zh-CN" altLang="en-US" sz="2000" dirty="0">
                <a:latin typeface="华文细黑" pitchFamily="2" charset="-122"/>
                <a:ea typeface="华文细黑" pitchFamily="2" charset="-122"/>
              </a:rPr>
              <a:t>主</a:t>
            </a:r>
            <a:r>
              <a:rPr lang="zh-CN" altLang="en-US" sz="2000" dirty="0" smtClean="0">
                <a:latin typeface="华文细黑" pitchFamily="2" charset="-122"/>
                <a:ea typeface="华文细黑" pitchFamily="2" charset="-122"/>
              </a:rPr>
              <a:t>备模式的双机热备（</a:t>
            </a:r>
            <a:r>
              <a:rPr lang="en-US" altLang="zh-CN" sz="2000" dirty="0" smtClean="0">
                <a:latin typeface="华文细黑" pitchFamily="2" charset="-122"/>
                <a:ea typeface="华文细黑" pitchFamily="2" charset="-122"/>
              </a:rPr>
              <a:t>HA</a:t>
            </a:r>
            <a:r>
              <a:rPr lang="zh-CN" altLang="en-US" sz="2000" dirty="0" smtClean="0">
                <a:latin typeface="华文细黑" pitchFamily="2" charset="-122"/>
                <a:ea typeface="华文细黑" pitchFamily="2" charset="-122"/>
              </a:rPr>
              <a:t>）为例状态图如右图</a:t>
            </a:r>
            <a:endParaRPr lang="en-US" altLang="zh-CN" sz="20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en-US" altLang="zh-CN" sz="2000" dirty="0" smtClean="0">
                <a:latin typeface="华文细黑" pitchFamily="2" charset="-122"/>
                <a:ea typeface="华文细黑" pitchFamily="2" charset="-122"/>
              </a:rPr>
              <a:t>HA</a:t>
            </a:r>
            <a:r>
              <a:rPr lang="zh-CN" altLang="en-US" sz="2000" dirty="0" smtClean="0">
                <a:latin typeface="华文细黑" pitchFamily="2" charset="-122"/>
                <a:ea typeface="华文细黑" pitchFamily="2" charset="-122"/>
              </a:rPr>
              <a:t>主备模式分为主用态、备用态和初始态</a:t>
            </a:r>
            <a:endParaRPr lang="en-US" altLang="zh-CN" sz="20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000" dirty="0" smtClean="0">
                <a:latin typeface="华文细黑" pitchFamily="2" charset="-122"/>
                <a:ea typeface="华文细黑" pitchFamily="2" charset="-122"/>
              </a:rPr>
              <a:t>初始态：即设备没有启用</a:t>
            </a:r>
            <a:r>
              <a:rPr lang="en-US" altLang="zh-CN" sz="2000" dirty="0" smtClean="0">
                <a:latin typeface="华文细黑" pitchFamily="2" charset="-122"/>
                <a:ea typeface="华文细黑" pitchFamily="2" charset="-122"/>
              </a:rPr>
              <a:t>HA</a:t>
            </a:r>
            <a:r>
              <a:rPr lang="zh-CN" altLang="en-US" sz="2000" dirty="0" smtClean="0">
                <a:latin typeface="华文细黑" pitchFamily="2" charset="-122"/>
                <a:ea typeface="华文细黑" pitchFamily="2" charset="-122"/>
              </a:rPr>
              <a:t>的状态</a:t>
            </a:r>
            <a:endParaRPr lang="en-US" altLang="zh-CN" sz="2000" dirty="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000" dirty="0" smtClean="0">
                <a:latin typeface="华文细黑" pitchFamily="2" charset="-122"/>
                <a:ea typeface="华文细黑" pitchFamily="2" charset="-122"/>
              </a:rPr>
              <a:t>主备态：设备工作在主用态时可以转发业务和进行配置修改。主用态设备设备发生故障时（接口故障、</a:t>
            </a:r>
            <a:r>
              <a:rPr lang="en-US" altLang="zh-CN" sz="2000" dirty="0" err="1" smtClean="0">
                <a:latin typeface="华文细黑" pitchFamily="2" charset="-122"/>
                <a:ea typeface="华文细黑" pitchFamily="2" charset="-122"/>
              </a:rPr>
              <a:t>vrrp</a:t>
            </a:r>
            <a:r>
              <a:rPr lang="zh-CN" altLang="en-US" sz="2000" dirty="0" smtClean="0">
                <a:latin typeface="华文细黑" pitchFamily="2" charset="-122"/>
                <a:ea typeface="华文细黑" pitchFamily="2" charset="-122"/>
              </a:rPr>
              <a:t>故障、健康检查、关键进程故障、整机故障等）会迁移到备用态</a:t>
            </a:r>
            <a:endParaRPr lang="en-US" altLang="zh-CN" sz="20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000" dirty="0" smtClean="0">
                <a:latin typeface="华文细黑" pitchFamily="2" charset="-122"/>
                <a:ea typeface="华文细黑" pitchFamily="2" charset="-122"/>
              </a:rPr>
              <a:t>备用态：工作在备用态的设备处于侦听状态，会侦听主用设备的状态，在主用设备故障后会迁移到主用态，接替主用设备进行工作。</a:t>
            </a:r>
            <a:endParaRPr lang="en-US" altLang="zh-CN" sz="2000" dirty="0" smtClean="0">
              <a:latin typeface="华文细黑" pitchFamily="2" charset="-122"/>
              <a:ea typeface="华文细黑" pitchFamily="2" charset="-122"/>
            </a:endParaRPr>
          </a:p>
        </p:txBody>
      </p:sp>
      <p:pic>
        <p:nvPicPr>
          <p:cNvPr id="7" name="图片 6"/>
          <p:cNvPicPr>
            <a:picLocks noChangeAspect="1"/>
          </p:cNvPicPr>
          <p:nvPr/>
        </p:nvPicPr>
        <p:blipFill>
          <a:blip r:embed="rId3"/>
          <a:stretch>
            <a:fillRect/>
          </a:stretch>
        </p:blipFill>
        <p:spPr>
          <a:xfrm>
            <a:off x="6400800" y="994198"/>
            <a:ext cx="5791200" cy="3438466"/>
          </a:xfrm>
          <a:prstGeom prst="rect">
            <a:avLst/>
          </a:prstGeom>
          <a:ln>
            <a:prstDash val="solid"/>
          </a:ln>
        </p:spPr>
      </p:pic>
    </p:spTree>
    <p:extLst>
      <p:ext uri="{BB962C8B-B14F-4D97-AF65-F5344CB8AC3E}">
        <p14:creationId xmlns:p14="http://schemas.microsoft.com/office/powerpoint/2010/main" val="20482217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状态图法设计测试用例步骤</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6734165" cy="2668588"/>
          </a:xfrm>
          <a:prstGeom prst="rect">
            <a:avLst/>
          </a:prstGeom>
        </p:spPr>
        <p:txBody>
          <a:bodyPr vert="horz" lIns="91440" tIns="45720" rIns="91440" bIns="45720" rtlCol="0">
            <a:normAutofit/>
          </a:bodyPr>
          <a:lstStyle/>
          <a:p>
            <a:pPr lvl="0" defTabSz="914400">
              <a:spcBef>
                <a:spcPct val="20000"/>
              </a:spcBef>
              <a:defRPr/>
            </a:pPr>
            <a:r>
              <a:rPr lang="zh-CN" altLang="en-US" sz="2400" dirty="0">
                <a:latin typeface="华文细黑" pitchFamily="2" charset="-122"/>
                <a:ea typeface="华文细黑" pitchFamily="2" charset="-122"/>
              </a:rPr>
              <a:t>提取</a:t>
            </a:r>
            <a:r>
              <a:rPr lang="zh-CN" altLang="en-US" sz="2400" dirty="0" smtClean="0">
                <a:latin typeface="华文细黑" pitchFamily="2" charset="-122"/>
                <a:ea typeface="华文细黑" pitchFamily="2" charset="-122"/>
              </a:rPr>
              <a:t>状态迁移路径</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提取状态图中的路径也需要考虑覆盖深度，状态迁移通常采用</a:t>
            </a:r>
            <a:r>
              <a:rPr lang="en-US" altLang="zh-CN" sz="2400" dirty="0" smtClean="0">
                <a:latin typeface="华文细黑" pitchFamily="2" charset="-122"/>
                <a:ea typeface="华文细黑" pitchFamily="2" charset="-122"/>
              </a:rPr>
              <a:t>N-switch</a:t>
            </a:r>
            <a:r>
              <a:rPr lang="zh-CN" altLang="en-US" sz="2400" dirty="0" smtClean="0">
                <a:latin typeface="华文细黑" pitchFamily="2" charset="-122"/>
                <a:ea typeface="华文细黑" pitchFamily="2" charset="-122"/>
              </a:rPr>
              <a:t>方法中的</a:t>
            </a:r>
            <a:r>
              <a:rPr lang="en-US" altLang="zh-CN" sz="2400" dirty="0" smtClean="0">
                <a:latin typeface="华文细黑" pitchFamily="2" charset="-122"/>
                <a:ea typeface="华文细黑" pitchFamily="2" charset="-122"/>
              </a:rPr>
              <a:t>0-Switch</a:t>
            </a:r>
            <a:r>
              <a:rPr lang="zh-CN" altLang="en-US" sz="2400" dirty="0" smtClean="0">
                <a:latin typeface="华文细黑" pitchFamily="2" charset="-122"/>
                <a:ea typeface="华文细黑" pitchFamily="2" charset="-122"/>
              </a:rPr>
              <a:t>，即状态只迁移一次</a:t>
            </a:r>
            <a:endParaRPr lang="en-US" altLang="zh-CN" sz="2400" dirty="0" smtClean="0">
              <a:latin typeface="华文细黑" pitchFamily="2" charset="-122"/>
              <a:ea typeface="华文细黑" pitchFamily="2" charset="-122"/>
            </a:endParaRPr>
          </a:p>
        </p:txBody>
      </p:sp>
      <p:pic>
        <p:nvPicPr>
          <p:cNvPr id="7" name="图片 6"/>
          <p:cNvPicPr>
            <a:picLocks noChangeAspect="1"/>
          </p:cNvPicPr>
          <p:nvPr/>
        </p:nvPicPr>
        <p:blipFill>
          <a:blip r:embed="rId3"/>
          <a:stretch>
            <a:fillRect/>
          </a:stretch>
        </p:blipFill>
        <p:spPr>
          <a:xfrm>
            <a:off x="7341326" y="1353207"/>
            <a:ext cx="4662516" cy="2925244"/>
          </a:xfrm>
          <a:prstGeom prst="rect">
            <a:avLst/>
          </a:prstGeom>
          <a:ln>
            <a:prstDash val="solid"/>
          </a:ln>
        </p:spPr>
      </p:pic>
      <p:sp>
        <p:nvSpPr>
          <p:cNvPr id="3" name="文本框 2"/>
          <p:cNvSpPr txBox="1"/>
          <p:nvPr/>
        </p:nvSpPr>
        <p:spPr>
          <a:xfrm>
            <a:off x="563419" y="5521235"/>
            <a:ext cx="9109165" cy="646331"/>
          </a:xfrm>
          <a:prstGeom prst="rect">
            <a:avLst/>
          </a:prstGeom>
          <a:noFill/>
        </p:spPr>
        <p:txBody>
          <a:bodyPr wrap="square" rtlCol="0">
            <a:spAutoFit/>
          </a:bodyPr>
          <a:lstStyle/>
          <a:p>
            <a:r>
              <a:rPr lang="en-US" altLang="zh-CN" b="1" u="sng" dirty="0"/>
              <a:t>N-Switch</a:t>
            </a:r>
            <a:r>
              <a:rPr lang="zh-CN" altLang="en-US" b="1" u="sng" dirty="0"/>
              <a:t>定义为状态图中长度为</a:t>
            </a:r>
            <a:r>
              <a:rPr lang="en-US" altLang="zh-CN" b="1" u="sng" dirty="0"/>
              <a:t>n+1</a:t>
            </a:r>
            <a:r>
              <a:rPr lang="zh-CN" altLang="en-US" b="1" u="sng" dirty="0"/>
              <a:t>的连续的边的</a:t>
            </a:r>
            <a:r>
              <a:rPr lang="zh-CN" altLang="en-US" b="1" u="sng" dirty="0" smtClean="0"/>
              <a:t>序列   </a:t>
            </a:r>
            <a:r>
              <a:rPr lang="en-US" altLang="zh-CN" b="1" u="sng" dirty="0" smtClean="0"/>
              <a:t>--</a:t>
            </a:r>
            <a:r>
              <a:rPr lang="en-US" altLang="zh-CN" dirty="0"/>
              <a:t>TSUNS.CHOW</a:t>
            </a:r>
            <a:r>
              <a:rPr lang="zh-CN" altLang="en-US" dirty="0"/>
              <a:t>在其论文</a:t>
            </a:r>
            <a:r>
              <a:rPr lang="en-US" altLang="zh-CN" dirty="0"/>
              <a:t>《Testing Software Design Modeled by Finite-State Machines》</a:t>
            </a:r>
            <a:r>
              <a:rPr lang="zh-CN" altLang="en-US" dirty="0"/>
              <a:t>中提出</a:t>
            </a:r>
          </a:p>
        </p:txBody>
      </p:sp>
      <p:pic>
        <p:nvPicPr>
          <p:cNvPr id="8" name="图片 7"/>
          <p:cNvPicPr>
            <a:picLocks noChangeAspect="1"/>
          </p:cNvPicPr>
          <p:nvPr/>
        </p:nvPicPr>
        <p:blipFill>
          <a:blip r:embed="rId4"/>
          <a:stretch>
            <a:fillRect/>
          </a:stretch>
        </p:blipFill>
        <p:spPr>
          <a:xfrm>
            <a:off x="879620" y="3211285"/>
            <a:ext cx="6827466" cy="1955901"/>
          </a:xfrm>
          <a:prstGeom prst="rect">
            <a:avLst/>
          </a:prstGeom>
        </p:spPr>
      </p:pic>
    </p:spTree>
    <p:extLst>
      <p:ext uri="{BB962C8B-B14F-4D97-AF65-F5344CB8AC3E}">
        <p14:creationId xmlns:p14="http://schemas.microsoft.com/office/powerpoint/2010/main" val="233242870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状态图法设计测试用例步骤</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9802848" cy="2668588"/>
          </a:xfrm>
          <a:prstGeom prst="rect">
            <a:avLst/>
          </a:prstGeom>
        </p:spPr>
        <p:txBody>
          <a:bodyPr vert="horz" lIns="91440" tIns="45720" rIns="91440" bIns="45720" rtlCol="0">
            <a:normAutofit/>
          </a:bodyPr>
          <a:lstStyle/>
          <a:p>
            <a:pPr lvl="0" defTabSz="914400">
              <a:spcBef>
                <a:spcPct val="20000"/>
              </a:spcBef>
              <a:defRPr/>
            </a:pPr>
            <a:r>
              <a:rPr lang="zh-CN" altLang="en-US" sz="2400" dirty="0" smtClean="0">
                <a:latin typeface="华文细黑" pitchFamily="2" charset="-122"/>
                <a:ea typeface="华文细黑" pitchFamily="2" charset="-122"/>
              </a:rPr>
              <a:t>基础用例设计</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a:latin typeface="华文细黑" pitchFamily="2" charset="-122"/>
                <a:ea typeface="华文细黑" pitchFamily="2" charset="-122"/>
              </a:rPr>
              <a:t>每一</a:t>
            </a:r>
            <a:r>
              <a:rPr lang="zh-CN" altLang="en-US" sz="2400" dirty="0" smtClean="0">
                <a:latin typeface="华文细黑" pitchFamily="2" charset="-122"/>
                <a:ea typeface="华文细黑" pitchFamily="2" charset="-122"/>
              </a:rPr>
              <a:t>条状态迁移路径就是一个基础用例（逻辑用例）</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因此针对</a:t>
            </a:r>
            <a:r>
              <a:rPr lang="en-US" altLang="zh-CN" sz="2400" dirty="0" smtClean="0">
                <a:latin typeface="华文细黑" pitchFamily="2" charset="-122"/>
                <a:ea typeface="华文细黑" pitchFamily="2" charset="-122"/>
              </a:rPr>
              <a:t>8</a:t>
            </a:r>
            <a:r>
              <a:rPr lang="zh-CN" altLang="en-US" sz="2400" dirty="0" smtClean="0">
                <a:latin typeface="华文细黑" pitchFamily="2" charset="-122"/>
                <a:ea typeface="华文细黑" pitchFamily="2" charset="-122"/>
              </a:rPr>
              <a:t>条状态迁移路径可以设计</a:t>
            </a:r>
            <a:r>
              <a:rPr lang="en-US" altLang="zh-CN" sz="2400" dirty="0" smtClean="0">
                <a:latin typeface="华文细黑" pitchFamily="2" charset="-122"/>
                <a:ea typeface="华文细黑" pitchFamily="2" charset="-122"/>
              </a:rPr>
              <a:t>8</a:t>
            </a:r>
            <a:r>
              <a:rPr lang="zh-CN" altLang="en-US" sz="2400" dirty="0" smtClean="0">
                <a:latin typeface="华文细黑" pitchFamily="2" charset="-122"/>
                <a:ea typeface="华文细黑" pitchFamily="2" charset="-122"/>
              </a:rPr>
              <a:t>个基础测试用例</a:t>
            </a:r>
            <a:endParaRPr lang="en-US" altLang="zh-CN" sz="2400" dirty="0" smtClean="0">
              <a:latin typeface="华文细黑" pitchFamily="2" charset="-122"/>
              <a:ea typeface="华文细黑" pitchFamily="2" charset="-122"/>
            </a:endParaRPr>
          </a:p>
        </p:txBody>
      </p:sp>
      <p:pic>
        <p:nvPicPr>
          <p:cNvPr id="8" name="图片 7"/>
          <p:cNvPicPr>
            <a:picLocks noChangeAspect="1"/>
          </p:cNvPicPr>
          <p:nvPr/>
        </p:nvPicPr>
        <p:blipFill>
          <a:blip r:embed="rId3"/>
          <a:stretch>
            <a:fillRect/>
          </a:stretch>
        </p:blipFill>
        <p:spPr>
          <a:xfrm>
            <a:off x="543375" y="2595484"/>
            <a:ext cx="6827466" cy="1955901"/>
          </a:xfrm>
          <a:prstGeom prst="rect">
            <a:avLst/>
          </a:prstGeom>
        </p:spPr>
      </p:pic>
    </p:spTree>
    <p:extLst>
      <p:ext uri="{BB962C8B-B14F-4D97-AF65-F5344CB8AC3E}">
        <p14:creationId xmlns:p14="http://schemas.microsoft.com/office/powerpoint/2010/main" val="306861636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状态图法设计测试用例步骤</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9802848" cy="2668588"/>
          </a:xfrm>
          <a:prstGeom prst="rect">
            <a:avLst/>
          </a:prstGeom>
        </p:spPr>
        <p:txBody>
          <a:bodyPr vert="horz" lIns="91440" tIns="45720" rIns="91440" bIns="45720" rtlCol="0">
            <a:normAutofit/>
          </a:bodyPr>
          <a:lstStyle/>
          <a:p>
            <a:pPr lvl="0" defTabSz="914400">
              <a:spcBef>
                <a:spcPct val="20000"/>
              </a:spcBef>
              <a:defRPr/>
            </a:pPr>
            <a:r>
              <a:rPr lang="zh-CN" altLang="en-US" sz="2400" dirty="0" smtClean="0">
                <a:latin typeface="华文细黑" pitchFamily="2" charset="-122"/>
                <a:ea typeface="华文细黑" pitchFamily="2" charset="-122"/>
              </a:rPr>
              <a:t>数据分析</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针对每一个基础用例开展数据分析</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这里设备从主用态迁移到备用状态为例进行数据分析，数据分析需要根据功能特点进行等价类划分和数据组合</a:t>
            </a:r>
            <a:endParaRPr lang="en-US" altLang="zh-CN" sz="2400" dirty="0" smtClean="0">
              <a:latin typeface="华文细黑" pitchFamily="2" charset="-122"/>
              <a:ea typeface="华文细黑" pitchFamily="2" charset="-122"/>
            </a:endParaRPr>
          </a:p>
        </p:txBody>
      </p:sp>
      <p:pic>
        <p:nvPicPr>
          <p:cNvPr id="3" name="图片 2"/>
          <p:cNvPicPr>
            <a:picLocks noChangeAspect="1"/>
          </p:cNvPicPr>
          <p:nvPr/>
        </p:nvPicPr>
        <p:blipFill>
          <a:blip r:embed="rId3"/>
          <a:stretch>
            <a:fillRect/>
          </a:stretch>
        </p:blipFill>
        <p:spPr>
          <a:xfrm>
            <a:off x="624840" y="3250004"/>
            <a:ext cx="7855354" cy="2521080"/>
          </a:xfrm>
          <a:prstGeom prst="rect">
            <a:avLst/>
          </a:prstGeom>
        </p:spPr>
      </p:pic>
      <p:pic>
        <p:nvPicPr>
          <p:cNvPr id="5" name="图片 4"/>
          <p:cNvPicPr>
            <a:picLocks noChangeAspect="1"/>
          </p:cNvPicPr>
          <p:nvPr/>
        </p:nvPicPr>
        <p:blipFill>
          <a:blip r:embed="rId4"/>
          <a:stretch>
            <a:fillRect/>
          </a:stretch>
        </p:blipFill>
        <p:spPr>
          <a:xfrm>
            <a:off x="8627388" y="3249508"/>
            <a:ext cx="3314870" cy="946199"/>
          </a:xfrm>
          <a:prstGeom prst="rect">
            <a:avLst/>
          </a:prstGeom>
        </p:spPr>
      </p:pic>
    </p:spTree>
    <p:extLst>
      <p:ext uri="{BB962C8B-B14F-4D97-AF65-F5344CB8AC3E}">
        <p14:creationId xmlns:p14="http://schemas.microsoft.com/office/powerpoint/2010/main" val="9628378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状态图法设计测试用例步骤</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9802848" cy="2668588"/>
          </a:xfrm>
          <a:prstGeom prst="rect">
            <a:avLst/>
          </a:prstGeom>
        </p:spPr>
        <p:txBody>
          <a:bodyPr vert="horz" lIns="91440" tIns="45720" rIns="91440" bIns="45720" rtlCol="0">
            <a:normAutofit/>
          </a:bodyPr>
          <a:lstStyle/>
          <a:p>
            <a:pPr lvl="0" defTabSz="914400">
              <a:spcBef>
                <a:spcPct val="20000"/>
              </a:spcBef>
              <a:defRPr/>
            </a:pPr>
            <a:r>
              <a:rPr lang="zh-CN" altLang="en-US" sz="2400" dirty="0">
                <a:latin typeface="华文细黑" pitchFamily="2" charset="-122"/>
                <a:ea typeface="华文细黑" pitchFamily="2" charset="-122"/>
              </a:rPr>
              <a:t>将</a:t>
            </a:r>
            <a:r>
              <a:rPr lang="zh-CN" altLang="en-US" sz="2400" dirty="0" smtClean="0">
                <a:latin typeface="华文细黑" pitchFamily="2" charset="-122"/>
                <a:ea typeface="华文细黑" pitchFamily="2" charset="-122"/>
              </a:rPr>
              <a:t>数据代入到逻辑用例中生成物理用例</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由于工具有限，这里的数据组合采用最简单的数据组合</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endParaRPr lang="en-US" altLang="zh-CN" sz="2400" dirty="0" smtClean="0">
              <a:latin typeface="华文细黑" pitchFamily="2" charset="-122"/>
              <a:ea typeface="华文细黑" pitchFamily="2" charset="-122"/>
            </a:endParaRPr>
          </a:p>
        </p:txBody>
      </p:sp>
      <p:pic>
        <p:nvPicPr>
          <p:cNvPr id="8" name="图片 7"/>
          <p:cNvPicPr>
            <a:picLocks noChangeAspect="1"/>
          </p:cNvPicPr>
          <p:nvPr/>
        </p:nvPicPr>
        <p:blipFill>
          <a:blip r:embed="rId3"/>
          <a:stretch>
            <a:fillRect/>
          </a:stretch>
        </p:blipFill>
        <p:spPr>
          <a:xfrm>
            <a:off x="572851" y="2482273"/>
            <a:ext cx="9621096" cy="3665180"/>
          </a:xfrm>
          <a:prstGeom prst="rect">
            <a:avLst/>
          </a:prstGeom>
        </p:spPr>
      </p:pic>
    </p:spTree>
    <p:extLst>
      <p:ext uri="{BB962C8B-B14F-4D97-AF65-F5344CB8AC3E}">
        <p14:creationId xmlns:p14="http://schemas.microsoft.com/office/powerpoint/2010/main" val="30054322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5321160" cy="523220"/>
          </a:xfrm>
          <a:prstGeom prst="rect">
            <a:avLst/>
          </a:prstGeom>
          <a:noFill/>
        </p:spPr>
        <p:txBody>
          <a:bodyPr wrap="square" rtlCol="0">
            <a:spAutoFit/>
          </a:bodyPr>
          <a:lstStyle/>
          <a:p>
            <a:pPr defTabSz="914217"/>
            <a:r>
              <a:rPr lang="zh-CN" altLang="en-US" sz="2800" b="1" dirty="0" smtClean="0">
                <a:solidFill>
                  <a:srgbClr val="03277F"/>
                </a:solidFill>
                <a:latin typeface="Arial" panose="020B0604020202020204" pitchFamily="34" charset="0"/>
                <a:ea typeface="微软雅黑"/>
                <a:cs typeface="Arial" panose="020B0604020202020204" pitchFamily="34" charset="0"/>
                <a:sym typeface="+mn-lt"/>
              </a:rPr>
              <a:t>状态图法设计测试用例步骤</a:t>
            </a:r>
            <a:endParaRPr lang="zh-CN" altLang="en-US" sz="2800" b="1" dirty="0">
              <a:solidFill>
                <a:srgbClr val="03277F"/>
              </a:solidFill>
              <a:latin typeface="Arial" panose="020B0604020202020204" pitchFamily="34" charset="0"/>
              <a:ea typeface="微软雅黑"/>
              <a:cs typeface="Arial" panose="020B0604020202020204" pitchFamily="34" charset="0"/>
              <a:sym typeface="+mn-lt"/>
            </a:endParaRP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481975" y="1147979"/>
            <a:ext cx="9802848" cy="2668588"/>
          </a:xfrm>
          <a:prstGeom prst="rect">
            <a:avLst/>
          </a:prstGeom>
        </p:spPr>
        <p:txBody>
          <a:bodyPr vert="horz" lIns="91440" tIns="45720" rIns="91440" bIns="45720" rtlCol="0">
            <a:normAutofit/>
          </a:bodyPr>
          <a:lstStyle/>
          <a:p>
            <a:r>
              <a:rPr kumimoji="1" lang="zh-CN" altLang="en-US" sz="2400" b="1" dirty="0"/>
              <a:t>根据测试经验补充</a:t>
            </a:r>
            <a:r>
              <a:rPr kumimoji="1" lang="zh-CN" altLang="en-US" sz="2400" b="1" dirty="0" smtClean="0"/>
              <a:t>测试用例可以从如下方面进行考虑</a:t>
            </a:r>
            <a:endParaRPr kumimoji="1" lang="en-US" altLang="zh-CN" sz="2400" b="1" dirty="0"/>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可以考虑从预置条件是否齐全</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r>
              <a:rPr lang="zh-CN" altLang="en-US" sz="2400" dirty="0" smtClean="0">
                <a:latin typeface="华文细黑" pitchFamily="2" charset="-122"/>
                <a:ea typeface="华文细黑" pitchFamily="2" charset="-122"/>
              </a:rPr>
              <a:t>迁移条件是否完备</a:t>
            </a:r>
            <a:endParaRPr lang="en-US" altLang="zh-CN" sz="2400" dirty="0" smtClean="0">
              <a:latin typeface="华文细黑" pitchFamily="2" charset="-122"/>
              <a:ea typeface="华文细黑" pitchFamily="2" charset="-122"/>
            </a:endParaRPr>
          </a:p>
          <a:p>
            <a:pPr marL="342900" lvl="0" indent="-342900" defTabSz="914400">
              <a:spcBef>
                <a:spcPct val="20000"/>
              </a:spcBef>
              <a:buFont typeface="Arial" panose="020B0604020202020204" pitchFamily="34" charset="0"/>
              <a:buChar char="•"/>
              <a:defRPr/>
            </a:pPr>
            <a:endParaRPr lang="en-US" altLang="zh-CN" sz="2400" dirty="0" smtClean="0">
              <a:latin typeface="华文细黑" pitchFamily="2" charset="-122"/>
              <a:ea typeface="华文细黑" pitchFamily="2" charset="-122"/>
            </a:endParaRPr>
          </a:p>
        </p:txBody>
      </p:sp>
    </p:spTree>
    <p:extLst>
      <p:ext uri="{BB962C8B-B14F-4D97-AF65-F5344CB8AC3E}">
        <p14:creationId xmlns:p14="http://schemas.microsoft.com/office/powerpoint/2010/main" val="154590532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PPT"/>
          <p:cNvPicPr>
            <a:picLocks noChangeAspect="1"/>
          </p:cNvPicPr>
          <p:nvPr/>
        </p:nvPicPr>
        <p:blipFill>
          <a:blip r:embed="rId4"/>
          <a:stretch>
            <a:fillRect/>
          </a:stretch>
        </p:blipFill>
        <p:spPr>
          <a:xfrm>
            <a:off x="5639" y="-1691"/>
            <a:ext cx="12180722" cy="6861806"/>
          </a:xfrm>
          <a:prstGeom prst="rect">
            <a:avLst/>
          </a:prstGeom>
        </p:spPr>
      </p:pic>
      <p:pic>
        <p:nvPicPr>
          <p:cNvPr id="11" name="图片 10" descr="PPT"/>
          <p:cNvPicPr>
            <a:picLocks noChangeAspect="1"/>
          </p:cNvPicPr>
          <p:nvPr/>
        </p:nvPicPr>
        <p:blipFill>
          <a:blip r:embed="rId5"/>
          <a:stretch>
            <a:fillRect/>
          </a:stretch>
        </p:blipFill>
        <p:spPr>
          <a:xfrm>
            <a:off x="988556" y="6121659"/>
            <a:ext cx="2005590" cy="150567"/>
          </a:xfrm>
          <a:prstGeom prst="rect">
            <a:avLst/>
          </a:prstGeom>
        </p:spPr>
      </p:pic>
      <p:sp>
        <p:nvSpPr>
          <p:cNvPr id="12" name="文本框 11"/>
          <p:cNvSpPr txBox="1"/>
          <p:nvPr/>
        </p:nvSpPr>
        <p:spPr>
          <a:xfrm>
            <a:off x="1333060" y="2063418"/>
            <a:ext cx="3151853" cy="1732141"/>
          </a:xfrm>
          <a:prstGeom prst="rect">
            <a:avLst/>
          </a:prstGeom>
          <a:noFill/>
        </p:spPr>
        <p:txBody>
          <a:bodyPr wrap="square" rtlCol="0" anchor="t">
            <a:spAutoFit/>
          </a:bodyPr>
          <a:lstStyle>
            <a:defPPr>
              <a:defRPr lang="zh-CN"/>
            </a:defPPr>
            <a:lvl1pPr>
              <a:defRPr sz="5328" b="1">
                <a:solidFill>
                  <a:srgbClr val="03277F"/>
                </a:solidFill>
                <a:latin typeface="微软雅黑" panose="020B0503020204020204" pitchFamily="34" charset="-122"/>
                <a:ea typeface="微软雅黑" panose="020B0503020204020204" pitchFamily="34" charset="-122"/>
              </a:defRPr>
            </a:lvl1pPr>
          </a:lstStyle>
          <a:p>
            <a:r>
              <a:rPr lang="zh-CN" altLang="en-US" dirty="0"/>
              <a:t>感谢各位同学聆听</a:t>
            </a:r>
          </a:p>
        </p:txBody>
      </p:sp>
      <p:pic>
        <p:nvPicPr>
          <p:cNvPr id="14" name="图片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3300" y="530075"/>
            <a:ext cx="1709365" cy="665881"/>
          </a:xfrm>
          <a:prstGeom prst="rect">
            <a:avLst/>
          </a:prstGeom>
        </p:spPr>
      </p:pic>
      <p:pic>
        <p:nvPicPr>
          <p:cNvPr id="10" name="图片 9" descr="PPT调整"/>
          <p:cNvPicPr>
            <a:picLocks noChangeAspect="1"/>
          </p:cNvPicPr>
          <p:nvPr/>
        </p:nvPicPr>
        <p:blipFill>
          <a:blip r:embed="rId7"/>
          <a:stretch>
            <a:fillRect/>
          </a:stretch>
        </p:blipFill>
        <p:spPr>
          <a:xfrm>
            <a:off x="5990265" y="-1691"/>
            <a:ext cx="6196096" cy="6861806"/>
          </a:xfrm>
          <a:prstGeom prst="rect">
            <a:avLst/>
          </a:prstGeom>
        </p:spPr>
      </p:pic>
    </p:spTree>
    <p:custDataLst>
      <p:tags r:id="rId1"/>
    </p:custDataLst>
    <p:extLst>
      <p:ext uri="{BB962C8B-B14F-4D97-AF65-F5344CB8AC3E}">
        <p14:creationId xmlns:p14="http://schemas.microsoft.com/office/powerpoint/2010/main" val="345702868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15048</TotalTime>
  <Words>2962</Words>
  <Application>Microsoft Office PowerPoint</Application>
  <PresentationFormat>宽屏</PresentationFormat>
  <Paragraphs>231</Paragraphs>
  <Slides>32</Slides>
  <Notes>25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32</vt:i4>
      </vt:variant>
    </vt:vector>
  </HeadingPairs>
  <TitlesOfParts>
    <vt:vector size="44" baseType="lpstr">
      <vt:lpstr>Microsoft YaHei Light</vt:lpstr>
      <vt:lpstr>等线</vt:lpstr>
      <vt:lpstr>华文细黑</vt:lpstr>
      <vt:lpstr>宋体</vt:lpstr>
      <vt:lpstr>Microsoft YaHei</vt:lpstr>
      <vt:lpstr>Microsoft YaHei</vt:lpstr>
      <vt:lpstr>Agency FB</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hyde</cp:lastModifiedBy>
  <cp:revision>540</cp:revision>
  <dcterms:created xsi:type="dcterms:W3CDTF">2019-07-12T06:45:30Z</dcterms:created>
  <dcterms:modified xsi:type="dcterms:W3CDTF">2022-07-19T05:50:34Z</dcterms:modified>
</cp:coreProperties>
</file>