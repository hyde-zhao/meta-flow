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2"/>
  </p:notesMasterIdLst>
  <p:sldIdLst>
    <p:sldId id="256" r:id="rId2"/>
    <p:sldId id="257" r:id="rId3"/>
    <p:sldId id="266" r:id="rId4"/>
    <p:sldId id="374" r:id="rId5"/>
    <p:sldId id="493" r:id="rId6"/>
    <p:sldId id="477" r:id="rId7"/>
    <p:sldId id="478" r:id="rId8"/>
    <p:sldId id="480" r:id="rId9"/>
    <p:sldId id="481" r:id="rId10"/>
    <p:sldId id="482" r:id="rId11"/>
    <p:sldId id="483" r:id="rId12"/>
    <p:sldId id="476" r:id="rId13"/>
    <p:sldId id="475" r:id="rId14"/>
    <p:sldId id="487" r:id="rId15"/>
    <p:sldId id="489" r:id="rId16"/>
    <p:sldId id="490" r:id="rId17"/>
    <p:sldId id="488" r:id="rId18"/>
    <p:sldId id="485" r:id="rId19"/>
    <p:sldId id="486" r:id="rId20"/>
    <p:sldId id="491" r:id="rId21"/>
    <p:sldId id="436" r:id="rId22"/>
    <p:sldId id="450" r:id="rId23"/>
    <p:sldId id="452" r:id="rId24"/>
    <p:sldId id="440" r:id="rId25"/>
    <p:sldId id="456" r:id="rId26"/>
    <p:sldId id="453" r:id="rId27"/>
    <p:sldId id="492" r:id="rId28"/>
    <p:sldId id="494" r:id="rId29"/>
    <p:sldId id="495" r:id="rId30"/>
    <p:sldId id="497" r:id="rId31"/>
    <p:sldId id="503" r:id="rId32"/>
    <p:sldId id="500" r:id="rId33"/>
    <p:sldId id="502" r:id="rId34"/>
    <p:sldId id="504" r:id="rId35"/>
    <p:sldId id="505" r:id="rId36"/>
    <p:sldId id="506" r:id="rId37"/>
    <p:sldId id="507" r:id="rId38"/>
    <p:sldId id="455" r:id="rId39"/>
    <p:sldId id="457" r:id="rId40"/>
    <p:sldId id="370" r:id="rId41"/>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nxing" initials="l" lastIdx="1" clrIdx="0">
    <p:extLst>
      <p:ext uri="{19B8F6BF-5375-455C-9EA6-DF929625EA0E}">
        <p15:presenceInfo xmlns:p15="http://schemas.microsoft.com/office/powerpoint/2012/main" userId="lanx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77F"/>
    <a:srgbClr val="0000FF"/>
    <a:srgbClr val="02287E"/>
    <a:srgbClr val="FF9933"/>
    <a:srgbClr val="C50419"/>
    <a:srgbClr val="0B27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2407" autoAdjust="0"/>
  </p:normalViewPr>
  <p:slideViewPr>
    <p:cSldViewPr snapToGrid="0" snapToObjects="1">
      <p:cViewPr varScale="1">
        <p:scale>
          <a:sx n="150" d="100"/>
          <a:sy n="150" d="100"/>
        </p:scale>
        <p:origin x="9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4A6861-B161-4F43-923A-F47F72EF7662}" type="datetimeFigureOut">
              <a:rPr lang="zh-CN" altLang="en-US" smtClean="0"/>
              <a:t>2024/1/15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12C20-2F18-4BA5-B846-D159E077CBF5}" type="slidenum">
              <a:rPr lang="zh-CN" altLang="en-US" smtClean="0"/>
              <a:t>‹#›</a:t>
            </a:fld>
            <a:endParaRPr lang="zh-CN" altLang="en-US"/>
          </a:p>
        </p:txBody>
      </p:sp>
    </p:spTree>
    <p:extLst>
      <p:ext uri="{BB962C8B-B14F-4D97-AF65-F5344CB8AC3E}">
        <p14:creationId xmlns:p14="http://schemas.microsoft.com/office/powerpoint/2010/main" val="1234244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4</a:t>
            </a:fld>
            <a:endParaRPr lang="zh-CN" altLang="en-US"/>
          </a:p>
        </p:txBody>
      </p:sp>
    </p:spTree>
    <p:extLst>
      <p:ext uri="{BB962C8B-B14F-4D97-AF65-F5344CB8AC3E}">
        <p14:creationId xmlns:p14="http://schemas.microsoft.com/office/powerpoint/2010/main" val="2024935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原命题为真，它的逆命题不一定为真</a:t>
            </a:r>
            <a:br>
              <a:rPr lang="zh-CN" altLang="en-US" dirty="0"/>
            </a:br>
            <a:r>
              <a:rPr lang="zh-CN" altLang="en-US" dirty="0"/>
              <a:t>原命题为真，它的否命题不一定为真</a:t>
            </a:r>
            <a:br>
              <a:rPr lang="zh-CN" altLang="en-US" dirty="0"/>
            </a:br>
            <a:r>
              <a:rPr lang="zh-CN" altLang="en-US" dirty="0"/>
              <a:t>原命题为真，它的逆否命题一定为真</a:t>
            </a:r>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5</a:t>
            </a:fld>
            <a:endParaRPr lang="zh-CN" altLang="en-US"/>
          </a:p>
        </p:txBody>
      </p:sp>
    </p:spTree>
    <p:extLst>
      <p:ext uri="{BB962C8B-B14F-4D97-AF65-F5344CB8AC3E}">
        <p14:creationId xmlns:p14="http://schemas.microsoft.com/office/powerpoint/2010/main" val="176266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13</a:t>
            </a:fld>
            <a:endParaRPr lang="zh-CN" altLang="en-US"/>
          </a:p>
        </p:txBody>
      </p:sp>
    </p:spTree>
    <p:extLst>
      <p:ext uri="{BB962C8B-B14F-4D97-AF65-F5344CB8AC3E}">
        <p14:creationId xmlns:p14="http://schemas.microsoft.com/office/powerpoint/2010/main" val="521851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14</a:t>
            </a:fld>
            <a:endParaRPr lang="zh-CN" altLang="en-US"/>
          </a:p>
        </p:txBody>
      </p:sp>
    </p:spTree>
    <p:extLst>
      <p:ext uri="{BB962C8B-B14F-4D97-AF65-F5344CB8AC3E}">
        <p14:creationId xmlns:p14="http://schemas.microsoft.com/office/powerpoint/2010/main" val="1448260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15</a:t>
            </a:fld>
            <a:endParaRPr lang="zh-CN" altLang="en-US"/>
          </a:p>
        </p:txBody>
      </p:sp>
    </p:spTree>
    <p:extLst>
      <p:ext uri="{BB962C8B-B14F-4D97-AF65-F5344CB8AC3E}">
        <p14:creationId xmlns:p14="http://schemas.microsoft.com/office/powerpoint/2010/main" val="3469699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21</a:t>
            </a:fld>
            <a:endParaRPr lang="zh-CN" altLang="en-US"/>
          </a:p>
        </p:txBody>
      </p:sp>
    </p:spTree>
    <p:extLst>
      <p:ext uri="{BB962C8B-B14F-4D97-AF65-F5344CB8AC3E}">
        <p14:creationId xmlns:p14="http://schemas.microsoft.com/office/powerpoint/2010/main" val="104946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28</a:t>
            </a:fld>
            <a:endParaRPr lang="zh-CN" altLang="en-US"/>
          </a:p>
        </p:txBody>
      </p:sp>
    </p:spTree>
    <p:extLst>
      <p:ext uri="{BB962C8B-B14F-4D97-AF65-F5344CB8AC3E}">
        <p14:creationId xmlns:p14="http://schemas.microsoft.com/office/powerpoint/2010/main" val="383228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29</a:t>
            </a:fld>
            <a:endParaRPr lang="zh-CN" altLang="en-US"/>
          </a:p>
        </p:txBody>
      </p:sp>
    </p:spTree>
    <p:extLst>
      <p:ext uri="{BB962C8B-B14F-4D97-AF65-F5344CB8AC3E}">
        <p14:creationId xmlns:p14="http://schemas.microsoft.com/office/powerpoint/2010/main" val="2681042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30</a:t>
            </a:fld>
            <a:endParaRPr lang="zh-CN" altLang="en-US"/>
          </a:p>
        </p:txBody>
      </p:sp>
    </p:spTree>
    <p:extLst>
      <p:ext uri="{BB962C8B-B14F-4D97-AF65-F5344CB8AC3E}">
        <p14:creationId xmlns:p14="http://schemas.microsoft.com/office/powerpoint/2010/main" val="2456720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F9E1B693-632D-4080-9CF6-EA28B66DC801}" type="slidenum">
              <a:rPr lang="zh-CN" altLang="en-US" smtClean="0"/>
              <a:t>40</a:t>
            </a:fld>
            <a:endParaRPr lang="zh-CN" altLang="en-US"/>
          </a:p>
        </p:txBody>
      </p:sp>
    </p:spTree>
    <p:extLst>
      <p:ext uri="{BB962C8B-B14F-4D97-AF65-F5344CB8AC3E}">
        <p14:creationId xmlns:p14="http://schemas.microsoft.com/office/powerpoint/2010/main" val="222322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6502400"/>
            <a:ext cx="12192000" cy="355600"/>
          </a:xfrm>
          <a:prstGeom prst="rect">
            <a:avLst/>
          </a:prstGeom>
        </p:spPr>
      </p:pic>
      <p:sp>
        <p:nvSpPr>
          <p:cNvPr id="10" name="文本框 9">
            <a:extLst>
              <a:ext uri="{FF2B5EF4-FFF2-40B4-BE49-F238E27FC236}">
                <a16:creationId xmlns:a16="http://schemas.microsoft.com/office/drawing/2014/main" id="{4F2EB915-CDFB-4407-95A7-5AE7C21DF43E}"/>
              </a:ext>
            </a:extLst>
          </p:cNvPr>
          <p:cNvSpPr txBox="1"/>
          <p:nvPr userDrawn="1"/>
        </p:nvSpPr>
        <p:spPr>
          <a:xfrm>
            <a:off x="626630" y="6523296"/>
            <a:ext cx="2698175" cy="307777"/>
          </a:xfrm>
          <a:prstGeom prst="rect">
            <a:avLst/>
          </a:prstGeom>
          <a:noFill/>
        </p:spPr>
        <p:txBody>
          <a:bodyPr wrap="none" rtlCol="0">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杭州安恒信息技术股份有限公司</a:t>
            </a:r>
          </a:p>
        </p:txBody>
      </p:sp>
      <p:pic>
        <p:nvPicPr>
          <p:cNvPr id="11" name="图片 10">
            <a:extLst>
              <a:ext uri="{FF2B5EF4-FFF2-40B4-BE49-F238E27FC236}">
                <a16:creationId xmlns:a16="http://schemas.microsoft.com/office/drawing/2014/main" id="{9A44D34A-1AC9-42C8-80CE-A3769DAC291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8143" b="16509"/>
          <a:stretch/>
        </p:blipFill>
        <p:spPr>
          <a:xfrm>
            <a:off x="10253985" y="331178"/>
            <a:ext cx="1274787" cy="624788"/>
          </a:xfrm>
          <a:prstGeom prst="rect">
            <a:avLst/>
          </a:prstGeom>
        </p:spPr>
      </p:pic>
    </p:spTree>
    <p:extLst>
      <p:ext uri="{BB962C8B-B14F-4D97-AF65-F5344CB8AC3E}">
        <p14:creationId xmlns:p14="http://schemas.microsoft.com/office/powerpoint/2010/main" val="1258103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65BD5-6D5D-C748-9616-8AA1B30A72FE}" type="datetimeFigureOut">
              <a:rPr kumimoji="1" lang="zh-CN" altLang="en-US" smtClean="0"/>
              <a:t>2024/1/15</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221111-15F1-D446-BC8D-E5E1B78BB3FA}" type="slidenum">
              <a:rPr kumimoji="1" lang="zh-CN" altLang="en-US" smtClean="0"/>
              <a:t>‹#›</a:t>
            </a:fld>
            <a:endParaRPr kumimoji="1" lang="zh-CN" altLang="en-US"/>
          </a:p>
        </p:txBody>
      </p:sp>
    </p:spTree>
    <p:extLst>
      <p:ext uri="{BB962C8B-B14F-4D97-AF65-F5344CB8AC3E}">
        <p14:creationId xmlns:p14="http://schemas.microsoft.com/office/powerpoint/2010/main" val="56933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0.wmf"/><Relationship Id="rId4" Type="http://schemas.openxmlformats.org/officeDocument/2006/relationships/package" Target="../embeddings/Microsoft_Excel_Worksheet.xls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image" Target="../media/image30.png"/><Relationship Id="rId1" Type="http://schemas.openxmlformats.org/officeDocument/2006/relationships/slideLayout" Target="../slideLayouts/slideLayout12.xml"/><Relationship Id="rId4" Type="http://schemas.openxmlformats.org/officeDocument/2006/relationships/image" Target="../media/image31.wmf"/></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36.png"/><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620706" y="4637712"/>
            <a:ext cx="3759707" cy="1199752"/>
          </a:xfrm>
          <a:prstGeom prst="rect">
            <a:avLst/>
          </a:prstGeom>
          <a:noFill/>
        </p:spPr>
        <p:txBody>
          <a:bodyPr wrap="square" rtlCol="0" anchor="t">
            <a:spAutoFit/>
          </a:bodyPr>
          <a:lstStyle/>
          <a:p>
            <a:pPr defTabSz="1218072">
              <a:lnSpc>
                <a:spcPct val="150000"/>
              </a:lnSpc>
            </a:pPr>
            <a:r>
              <a:rPr lang="zh-CN" altLang="en-US" sz="1599" dirty="0">
                <a:solidFill>
                  <a:srgbClr val="1F2A66"/>
                </a:solidFill>
                <a:latin typeface="Arial"/>
                <a:ea typeface="微软雅黑"/>
              </a:rPr>
              <a:t>主讲人：赵海波</a:t>
            </a:r>
            <a:endParaRPr lang="en-US" altLang="zh-CN" sz="1599" dirty="0">
              <a:solidFill>
                <a:srgbClr val="1F2A66"/>
              </a:solidFill>
              <a:latin typeface="Arial"/>
              <a:ea typeface="微软雅黑"/>
            </a:endParaRPr>
          </a:p>
          <a:p>
            <a:pPr defTabSz="1218072">
              <a:lnSpc>
                <a:spcPct val="150000"/>
              </a:lnSpc>
            </a:pPr>
            <a:r>
              <a:rPr lang="zh-CN" altLang="en-US" sz="1599" dirty="0">
                <a:solidFill>
                  <a:srgbClr val="1F2A66"/>
                </a:solidFill>
                <a:latin typeface="Arial"/>
                <a:ea typeface="微软雅黑"/>
              </a:rPr>
              <a:t>工号：</a:t>
            </a:r>
            <a:r>
              <a:rPr lang="en-US" altLang="zh-CN" sz="1599" dirty="0">
                <a:solidFill>
                  <a:srgbClr val="1F2A66"/>
                </a:solidFill>
                <a:latin typeface="Arial"/>
                <a:ea typeface="微软雅黑"/>
              </a:rPr>
              <a:t>AH8364</a:t>
            </a:r>
          </a:p>
          <a:p>
            <a:pPr defTabSz="1218072">
              <a:lnSpc>
                <a:spcPct val="150000"/>
              </a:lnSpc>
            </a:pPr>
            <a:r>
              <a:rPr lang="zh-CN" altLang="en-US" sz="1599" dirty="0">
                <a:solidFill>
                  <a:srgbClr val="1F2A66"/>
                </a:solidFill>
                <a:latin typeface="Arial"/>
                <a:ea typeface="微软雅黑"/>
              </a:rPr>
              <a:t>时间：</a:t>
            </a:r>
            <a:r>
              <a:rPr lang="en-US" altLang="zh-CN" sz="1599" dirty="0">
                <a:solidFill>
                  <a:srgbClr val="1F2A66"/>
                </a:solidFill>
                <a:latin typeface="Arial"/>
                <a:ea typeface="微软雅黑"/>
              </a:rPr>
              <a:t>2022-05-23</a:t>
            </a:r>
            <a:endParaRPr lang="zh-CN" altLang="en-US" sz="1599" dirty="0">
              <a:solidFill>
                <a:srgbClr val="1F2A66"/>
              </a:solidFill>
              <a:latin typeface="Arial"/>
              <a:ea typeface="微软雅黑"/>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706" y="644046"/>
            <a:ext cx="1817694" cy="745533"/>
          </a:xfrm>
          <a:prstGeom prst="rect">
            <a:avLst/>
          </a:prstGeom>
        </p:spPr>
      </p:pic>
      <p:sp>
        <p:nvSpPr>
          <p:cNvPr id="9" name="文本框 8"/>
          <p:cNvSpPr txBox="1"/>
          <p:nvPr/>
        </p:nvSpPr>
        <p:spPr>
          <a:xfrm>
            <a:off x="620706" y="6076212"/>
            <a:ext cx="3015873" cy="276999"/>
          </a:xfrm>
          <a:prstGeom prst="rect">
            <a:avLst/>
          </a:prstGeom>
          <a:noFill/>
        </p:spPr>
        <p:txBody>
          <a:bodyPr wrap="square" rtlCol="0" anchor="t">
            <a:spAutoFit/>
          </a:bodyPr>
          <a:lstStyle/>
          <a:p>
            <a:r>
              <a:rPr lang="en-US" altLang="zh-CN" sz="1200">
                <a:solidFill>
                  <a:srgbClr val="03277F"/>
                </a:solidFill>
                <a:latin typeface="Microsoft YaHei Light" charset="-122"/>
                <a:ea typeface="Microsoft YaHei Light" charset="-122"/>
                <a:cs typeface="Microsoft YaHei Light" charset="-122"/>
              </a:rPr>
              <a:t>www.dbappsecurity.com.cn</a:t>
            </a:r>
            <a:endParaRPr lang="en-US" altLang="zh-CN" sz="1200" dirty="0">
              <a:solidFill>
                <a:srgbClr val="03277F"/>
              </a:solidFill>
              <a:latin typeface="Microsoft YaHei Light" charset="-122"/>
              <a:ea typeface="Microsoft YaHei Light" charset="-122"/>
              <a:cs typeface="Microsoft YaHei Light" charset="-122"/>
            </a:endParaRPr>
          </a:p>
        </p:txBody>
      </p:sp>
      <p:sp>
        <p:nvSpPr>
          <p:cNvPr id="7" name="文本框 6">
            <a:extLst>
              <a:ext uri="{FF2B5EF4-FFF2-40B4-BE49-F238E27FC236}">
                <a16:creationId xmlns:a16="http://schemas.microsoft.com/office/drawing/2014/main" id="{A414B1F6-D664-482A-AFE4-D204F8897A33}"/>
              </a:ext>
            </a:extLst>
          </p:cNvPr>
          <p:cNvSpPr txBox="1"/>
          <p:nvPr/>
        </p:nvSpPr>
        <p:spPr>
          <a:xfrm>
            <a:off x="940344" y="2141571"/>
            <a:ext cx="5447267" cy="1200329"/>
          </a:xfrm>
          <a:prstGeom prst="rect">
            <a:avLst/>
          </a:prstGeom>
          <a:noFill/>
        </p:spPr>
        <p:txBody>
          <a:bodyPr wrap="square" rtlCol="0" anchor="t">
            <a:spAutoFit/>
          </a:bodyPr>
          <a:lstStyle/>
          <a:p>
            <a:pPr algn="ctr">
              <a:lnSpc>
                <a:spcPct val="150000"/>
              </a:lnSpc>
            </a:pPr>
            <a:r>
              <a:rPr lang="zh-CN" altLang="en-US" sz="4800" b="1" dirty="0">
                <a:solidFill>
                  <a:srgbClr val="1F2A66"/>
                </a:solidFill>
                <a:latin typeface="微软雅黑" panose="020B0503020204020204" pitchFamily="34" charset="-122"/>
                <a:ea typeface="微软雅黑" panose="020B0503020204020204" pitchFamily="34" charset="-122"/>
              </a:rPr>
              <a:t>测试用例设计方法</a:t>
            </a:r>
            <a:endParaRPr lang="en-US" altLang="zh-CN" sz="4800" b="1" dirty="0">
              <a:solidFill>
                <a:srgbClr val="1F2A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5073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68FB483-DBE2-4818-8002-2CAC389B3227}"/>
              </a:ext>
            </a:extLst>
          </p:cNvPr>
          <p:cNvSpPr txBox="1"/>
          <p:nvPr/>
        </p:nvSpPr>
        <p:spPr>
          <a:xfrm>
            <a:off x="1494625" y="2663011"/>
            <a:ext cx="2076359" cy="1200329"/>
          </a:xfrm>
          <a:prstGeom prst="rect">
            <a:avLst/>
          </a:prstGeom>
          <a:noFill/>
        </p:spPr>
        <p:txBody>
          <a:bodyPr wrap="square" rtlCol="0">
            <a:spAutoFit/>
          </a:bodyPr>
          <a:lstStyle/>
          <a:p>
            <a:pPr algn="r">
              <a:defRPr/>
            </a:pPr>
            <a:r>
              <a:rPr lang="zh-CN" altLang="en-US" sz="4400" b="1" dirty="0">
                <a:solidFill>
                  <a:srgbClr val="03277F"/>
                </a:solidFill>
                <a:latin typeface="Agency FB" panose="020F0502020204030204"/>
                <a:ea typeface="微软雅黑"/>
                <a:cs typeface="+mn-ea"/>
                <a:sym typeface="+mn-lt"/>
              </a:rPr>
              <a:t>目录</a:t>
            </a:r>
            <a:endParaRPr lang="en-US" altLang="zh-CN" sz="4400" b="1" dirty="0">
              <a:solidFill>
                <a:srgbClr val="03277F"/>
              </a:solidFill>
              <a:latin typeface="Agency FB" panose="020F0502020204030204"/>
              <a:ea typeface="微软雅黑"/>
              <a:cs typeface="+mn-ea"/>
              <a:sym typeface="+mn-lt"/>
            </a:endParaRPr>
          </a:p>
          <a:p>
            <a:pPr algn="r">
              <a:defRPr/>
            </a:pPr>
            <a:r>
              <a:rPr lang="en-US" altLang="zh-CN" sz="2800" b="1" dirty="0">
                <a:solidFill>
                  <a:prstClr val="black">
                    <a:lumMod val="65000"/>
                    <a:lumOff val="35000"/>
                  </a:prstClr>
                </a:solidFill>
                <a:latin typeface="Agency FB" panose="020F0502020204030204"/>
                <a:ea typeface="微软雅黑"/>
                <a:cs typeface="+mn-ea"/>
                <a:sym typeface="+mn-lt"/>
              </a:rPr>
              <a:t>CONENTS</a:t>
            </a:r>
            <a:endParaRPr lang="zh-CN" altLang="en-US" sz="2800" b="1" dirty="0">
              <a:solidFill>
                <a:prstClr val="black">
                  <a:lumMod val="65000"/>
                  <a:lumOff val="35000"/>
                </a:prstClr>
              </a:solidFill>
              <a:latin typeface="Agency FB" panose="020F0502020204030204"/>
              <a:ea typeface="微软雅黑"/>
              <a:cs typeface="+mn-ea"/>
              <a:sym typeface="+mn-lt"/>
            </a:endParaRPr>
          </a:p>
        </p:txBody>
      </p:sp>
      <p:cxnSp>
        <p:nvCxnSpPr>
          <p:cNvPr id="3" name="直接连接符 16">
            <a:extLst>
              <a:ext uri="{FF2B5EF4-FFF2-40B4-BE49-F238E27FC236}">
                <a16:creationId xmlns:a16="http://schemas.microsoft.com/office/drawing/2014/main" id="{E1880898-9350-4190-B13A-D30EED454796}"/>
              </a:ext>
            </a:extLst>
          </p:cNvPr>
          <p:cNvCxnSpPr/>
          <p:nvPr/>
        </p:nvCxnSpPr>
        <p:spPr>
          <a:xfrm>
            <a:off x="4530514" y="1806946"/>
            <a:ext cx="0" cy="2674620"/>
          </a:xfrm>
          <a:prstGeom prst="line">
            <a:avLst/>
          </a:prstGeom>
          <a:noFill/>
          <a:ln w="6350" cap="flat" cmpd="sng" algn="ctr">
            <a:solidFill>
              <a:sysClr val="windowText" lastClr="000000">
                <a:lumMod val="65000"/>
                <a:lumOff val="35000"/>
              </a:sysClr>
            </a:solidFill>
            <a:prstDash val="dash"/>
            <a:miter lim="800000"/>
          </a:ln>
          <a:effectLst/>
        </p:spPr>
      </p:cxnSp>
      <p:sp>
        <p:nvSpPr>
          <p:cNvPr id="5" name="TextBox 119">
            <a:extLst>
              <a:ext uri="{FF2B5EF4-FFF2-40B4-BE49-F238E27FC236}">
                <a16:creationId xmlns:a16="http://schemas.microsoft.com/office/drawing/2014/main" id="{5E97D6A1-C07D-49E0-B6D0-D6C37EA06A63}"/>
              </a:ext>
            </a:extLst>
          </p:cNvPr>
          <p:cNvSpPr txBox="1"/>
          <p:nvPr/>
        </p:nvSpPr>
        <p:spPr>
          <a:xfrm>
            <a:off x="5437109" y="2293679"/>
            <a:ext cx="4003704"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01</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、测试用例和用例设计介绍</a:t>
            </a:r>
            <a:endParaRPr lang="zh-CN" altLang="en-US" b="1" dirty="0">
              <a:solidFill>
                <a:srgbClr val="03277F"/>
              </a:solidFill>
              <a:latin typeface="Agency FB" panose="020F0502020204030204"/>
              <a:ea typeface="微软雅黑"/>
              <a:cs typeface="+mn-ea"/>
              <a:sym typeface="+mn-lt"/>
            </a:endParaRPr>
          </a:p>
        </p:txBody>
      </p:sp>
      <p:sp>
        <p:nvSpPr>
          <p:cNvPr id="8" name="TextBox 119">
            <a:extLst>
              <a:ext uri="{FF2B5EF4-FFF2-40B4-BE49-F238E27FC236}">
                <a16:creationId xmlns:a16="http://schemas.microsoft.com/office/drawing/2014/main" id="{168D1770-E40E-4C47-A6B3-A3B1FFA493B8}"/>
              </a:ext>
            </a:extLst>
          </p:cNvPr>
          <p:cNvSpPr txBox="1"/>
          <p:nvPr/>
        </p:nvSpPr>
        <p:spPr>
          <a:xfrm>
            <a:off x="5437109" y="2739442"/>
            <a:ext cx="3266624" cy="369332"/>
          </a:xfrm>
          <a:prstGeom prst="rect">
            <a:avLst/>
          </a:prstGeom>
          <a:noFill/>
        </p:spPr>
        <p:txBody>
          <a:bodyPr wrap="square" rtlCol="0">
            <a:spAutoFit/>
          </a:bodyPr>
          <a:lstStyle/>
          <a:p>
            <a:pPr defTabSz="914217"/>
            <a:r>
              <a:rPr lang="en-US" altLang="zh-CN" b="1" dirty="0">
                <a:solidFill>
                  <a:srgbClr val="03277F"/>
                </a:solidFill>
                <a:latin typeface="微软雅黑" panose="020B0503020204020204" pitchFamily="34" charset="-122"/>
                <a:ea typeface="微软雅黑" panose="020B0503020204020204" pitchFamily="34" charset="-122"/>
                <a:cs typeface="+mn-ea"/>
                <a:sym typeface="+mn-lt"/>
              </a:rPr>
              <a:t>02</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、基本用例设计方法介绍</a:t>
            </a:r>
            <a:endParaRPr lang="zh-CN" altLang="en-US" b="1" dirty="0">
              <a:solidFill>
                <a:srgbClr val="03277F"/>
              </a:solidFill>
              <a:latin typeface="Agency FB" panose="020F0502020204030204"/>
              <a:ea typeface="微软雅黑"/>
              <a:cs typeface="+mn-ea"/>
              <a:sym typeface="+mn-lt"/>
            </a:endParaRPr>
          </a:p>
        </p:txBody>
      </p:sp>
      <p:sp>
        <p:nvSpPr>
          <p:cNvPr id="11" name="TextBox 119">
            <a:extLst>
              <a:ext uri="{FF2B5EF4-FFF2-40B4-BE49-F238E27FC236}">
                <a16:creationId xmlns:a16="http://schemas.microsoft.com/office/drawing/2014/main" id="{E49FFE89-6E4A-4215-8C3E-488A65A51E38}"/>
              </a:ext>
            </a:extLst>
          </p:cNvPr>
          <p:cNvSpPr txBox="1"/>
          <p:nvPr/>
        </p:nvSpPr>
        <p:spPr>
          <a:xfrm>
            <a:off x="5437109" y="3178771"/>
            <a:ext cx="3842358"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03</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、用例设计方法的综合应用</a:t>
            </a:r>
            <a:endParaRPr lang="zh-CN" altLang="en-US" b="1" dirty="0">
              <a:solidFill>
                <a:srgbClr val="03277F"/>
              </a:solidFill>
              <a:latin typeface="Agency FB" panose="020F0502020204030204"/>
              <a:ea typeface="微软雅黑"/>
              <a:cs typeface="+mn-ea"/>
              <a:sym typeface="+mn-lt"/>
            </a:endParaRPr>
          </a:p>
        </p:txBody>
      </p:sp>
      <p:sp>
        <p:nvSpPr>
          <p:cNvPr id="12" name="Rectangle 120">
            <a:extLst>
              <a:ext uri="{FF2B5EF4-FFF2-40B4-BE49-F238E27FC236}">
                <a16:creationId xmlns:a16="http://schemas.microsoft.com/office/drawing/2014/main" id="{A1548EEB-028A-4707-9CA0-4FC31A91FE4A}"/>
              </a:ext>
            </a:extLst>
          </p:cNvPr>
          <p:cNvSpPr/>
          <p:nvPr/>
        </p:nvSpPr>
        <p:spPr>
          <a:xfrm>
            <a:off x="5437108" y="3408108"/>
            <a:ext cx="3593486" cy="292901"/>
          </a:xfrm>
          <a:prstGeom prst="rect">
            <a:avLst/>
          </a:prstGeom>
        </p:spPr>
        <p:txBody>
          <a:bodyPr wrap="square">
            <a:spAutoFit/>
          </a:bodyPr>
          <a:lstStyle/>
          <a:p>
            <a:pPr defTabSz="914217">
              <a:lnSpc>
                <a:spcPct val="150000"/>
              </a:lnSpc>
            </a:pPr>
            <a:endParaRPr lang="id-ID" sz="1000" dirty="0">
              <a:solidFill>
                <a:prstClr val="black">
                  <a:lumMod val="65000"/>
                  <a:lumOff val="35000"/>
                </a:prstClr>
              </a:solidFill>
              <a:latin typeface="Agency FB" panose="020F0502020204030204"/>
              <a:ea typeface="微软雅黑"/>
              <a:cs typeface="+mn-ea"/>
              <a:sym typeface="+mn-lt"/>
            </a:endParaRPr>
          </a:p>
        </p:txBody>
      </p:sp>
    </p:spTree>
    <p:extLst>
      <p:ext uri="{BB962C8B-B14F-4D97-AF65-F5344CB8AC3E}">
        <p14:creationId xmlns:p14="http://schemas.microsoft.com/office/powerpoint/2010/main" val="112203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Part01</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测试用例和用例设计介绍</a:t>
            </a:r>
          </a:p>
        </p:txBody>
      </p:sp>
    </p:spTree>
    <p:extLst>
      <p:ext uri="{BB962C8B-B14F-4D97-AF65-F5344CB8AC3E}">
        <p14:creationId xmlns:p14="http://schemas.microsoft.com/office/powerpoint/2010/main" val="156878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测试用例的定义和特征</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11585467" cy="4013106"/>
          </a:xfrm>
          <a:prstGeom prst="rect">
            <a:avLst/>
          </a:prstGeom>
        </p:spPr>
        <p:txBody>
          <a:bodyPr vert="horz" wrap="none" lIns="91440" tIns="45720" rIns="91440" bIns="45720" rtlCol="0">
            <a:normAutofit fontScale="25000" lnSpcReduction="20000"/>
          </a:bodyPr>
          <a:lstStyle/>
          <a:p>
            <a:pPr marL="342900" lvl="0" indent="-342900" defTabSz="914400">
              <a:spcBef>
                <a:spcPct val="20000"/>
              </a:spcBef>
              <a:buFont typeface="Wingdings" panose="05000000000000000000" pitchFamily="2" charset="2"/>
              <a:buChar char="l"/>
              <a:defRPr/>
            </a:pPr>
            <a:r>
              <a:rPr lang="zh-CN" altLang="en-US" sz="7200" dirty="0">
                <a:latin typeface="华文细黑" pitchFamily="2" charset="-122"/>
                <a:ea typeface="华文细黑" pitchFamily="2" charset="-122"/>
              </a:rPr>
              <a:t>测试用例的定义：</a:t>
            </a:r>
          </a:p>
          <a:p>
            <a:pPr marL="914389" lvl="1" indent="-457200" defTabSz="914400">
              <a:spcBef>
                <a:spcPct val="20000"/>
              </a:spcBef>
              <a:buFont typeface="+mj-lt"/>
              <a:buAutoNum type="arabicPeriod"/>
              <a:defRPr/>
            </a:pPr>
            <a:r>
              <a:rPr lang="zh-CN" altLang="en-US" sz="7200" dirty="0">
                <a:latin typeface="华文细黑" pitchFamily="2" charset="-122"/>
                <a:ea typeface="华文细黑" pitchFamily="2" charset="-122"/>
              </a:rPr>
              <a:t>测试用例是为特定的目的而设计的一组测试输入、  执行条件和预期的结果。</a:t>
            </a:r>
          </a:p>
          <a:p>
            <a:pPr marL="914389" lvl="1" indent="-457200" defTabSz="914400">
              <a:spcBef>
                <a:spcPct val="20000"/>
              </a:spcBef>
              <a:buFont typeface="+mj-lt"/>
              <a:buAutoNum type="arabicPeriod"/>
              <a:defRPr/>
            </a:pPr>
            <a:r>
              <a:rPr lang="zh-CN" altLang="en-US" sz="7200" dirty="0">
                <a:latin typeface="华文细黑" pitchFamily="2" charset="-122"/>
                <a:ea typeface="华文细黑" pitchFamily="2" charset="-122"/>
              </a:rPr>
              <a:t>测试用例是执行的最小实体。</a:t>
            </a:r>
            <a:endParaRPr lang="en-US" altLang="zh-CN" sz="72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en-US" altLang="zh-CN" sz="72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en-US" altLang="zh-CN" sz="7200" dirty="0">
              <a:latin typeface="华文细黑" pitchFamily="2" charset="-122"/>
              <a:ea typeface="华文细黑" pitchFamily="2" charset="-122"/>
            </a:endParaRPr>
          </a:p>
          <a:p>
            <a:pPr lvl="1" defTabSz="914400">
              <a:spcBef>
                <a:spcPct val="20000"/>
              </a:spcBef>
              <a:defRPr/>
            </a:pPr>
            <a:r>
              <a:rPr lang="zh-CN" altLang="en-US" sz="7200" dirty="0">
                <a:latin typeface="华文细黑" pitchFamily="2" charset="-122"/>
                <a:ea typeface="华文细黑" pitchFamily="2" charset="-122"/>
              </a:rPr>
              <a:t> </a:t>
            </a:r>
            <a:endParaRPr lang="en-US" altLang="zh-CN" sz="7200" dirty="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endParaRPr lang="zh-CN" altLang="en-US" sz="72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7200" dirty="0">
                <a:latin typeface="华文细黑" pitchFamily="2" charset="-122"/>
                <a:ea typeface="华文细黑" pitchFamily="2" charset="-122"/>
              </a:rPr>
              <a:t>好的测试设计得到是整机的测试用例。阅读整洁测试用例，犹如阅读优美的散文：</a:t>
            </a:r>
          </a:p>
          <a:p>
            <a:pPr marL="914389" lvl="1" indent="-457200" defTabSz="914400">
              <a:spcBef>
                <a:spcPct val="20000"/>
              </a:spcBef>
              <a:buFont typeface="+mj-lt"/>
              <a:buAutoNum type="arabicPeriod"/>
              <a:defRPr/>
            </a:pPr>
            <a:r>
              <a:rPr lang="zh-CN" altLang="en-US" sz="7200" dirty="0">
                <a:latin typeface="华文细黑" pitchFamily="2" charset="-122"/>
                <a:ea typeface="华文细黑" pitchFamily="2" charset="-122"/>
              </a:rPr>
              <a:t>它使用</a:t>
            </a:r>
            <a:r>
              <a:rPr lang="zh-CN" altLang="en-US" sz="7200" b="1" dirty="0">
                <a:latin typeface="华文细黑" pitchFamily="2" charset="-122"/>
                <a:ea typeface="华文细黑" pitchFamily="2" charset="-122"/>
              </a:rPr>
              <a:t>恰到好处的测试设计方法</a:t>
            </a:r>
            <a:r>
              <a:rPr lang="zh-CN" altLang="en-US" sz="7200" dirty="0">
                <a:latin typeface="华文细黑" pitchFamily="2" charset="-122"/>
                <a:ea typeface="华文细黑" pitchFamily="2" charset="-122"/>
              </a:rPr>
              <a:t>，使得测试用例拥有</a:t>
            </a:r>
            <a:r>
              <a:rPr lang="zh-CN" altLang="en-US" sz="7200" b="1" dirty="0">
                <a:solidFill>
                  <a:srgbClr val="FF0000"/>
                </a:solidFill>
                <a:latin typeface="华文细黑" pitchFamily="2" charset="-122"/>
                <a:ea typeface="华文细黑" pitchFamily="2" charset="-122"/>
              </a:rPr>
              <a:t>良好的覆盖度且规模适中</a:t>
            </a:r>
            <a:r>
              <a:rPr lang="zh-CN" altLang="en-US" sz="7200" dirty="0">
                <a:latin typeface="华文细黑" pitchFamily="2" charset="-122"/>
                <a:ea typeface="华文细黑" pitchFamily="2" charset="-122"/>
              </a:rPr>
              <a:t>。</a:t>
            </a:r>
          </a:p>
          <a:p>
            <a:pPr marL="914389" lvl="1" indent="-457200" defTabSz="914400">
              <a:spcBef>
                <a:spcPct val="20000"/>
              </a:spcBef>
              <a:buFont typeface="+mj-lt"/>
              <a:buAutoNum type="arabicPeriod"/>
              <a:defRPr/>
            </a:pPr>
            <a:r>
              <a:rPr lang="zh-CN" altLang="en-US" sz="7200" dirty="0">
                <a:latin typeface="华文细黑" pitchFamily="2" charset="-122"/>
                <a:ea typeface="华文细黑" pitchFamily="2" charset="-122"/>
              </a:rPr>
              <a:t>它拥有精准的测试用例描述，让人一看就明白测试的目标、输入和预期。</a:t>
            </a:r>
            <a:endParaRPr lang="en-US" altLang="zh-CN" sz="7200" dirty="0">
              <a:latin typeface="华文细黑" pitchFamily="2" charset="-122"/>
              <a:ea typeface="华文细黑" pitchFamily="2" charset="-122"/>
            </a:endParaRPr>
          </a:p>
          <a:p>
            <a:pPr marL="914389" lvl="1" indent="-457200" defTabSz="914400">
              <a:spcBef>
                <a:spcPct val="20000"/>
              </a:spcBef>
              <a:buFont typeface="+mj-lt"/>
              <a:buAutoNum type="arabicPeriod"/>
              <a:defRPr/>
            </a:pPr>
            <a:r>
              <a:rPr lang="zh-CN" altLang="en-US" sz="7200" dirty="0">
                <a:latin typeface="华文细黑" pitchFamily="2" charset="-122"/>
                <a:ea typeface="华文细黑" pitchFamily="2" charset="-122"/>
              </a:rPr>
              <a:t>它能被良好地组织、维护和传承。</a:t>
            </a:r>
            <a:endParaRPr lang="en-US" altLang="zh-CN" sz="7200" dirty="0">
              <a:latin typeface="华文细黑" pitchFamily="2" charset="-122"/>
              <a:ea typeface="华文细黑" pitchFamily="2" charset="-122"/>
            </a:endParaRPr>
          </a:p>
          <a:p>
            <a:pPr lvl="1" defTabSz="914400">
              <a:spcBef>
                <a:spcPct val="20000"/>
              </a:spcBef>
              <a:defRPr/>
            </a:pPr>
            <a:r>
              <a:rPr lang="en-US" altLang="zh-CN" sz="7200" dirty="0">
                <a:latin typeface="华文细黑" pitchFamily="2" charset="-122"/>
                <a:ea typeface="华文细黑" pitchFamily="2" charset="-122"/>
              </a:rPr>
              <a:t>                                                                                 --</a:t>
            </a:r>
            <a:r>
              <a:rPr lang="zh-CN" altLang="en-US" sz="7200" dirty="0">
                <a:latin typeface="华文细黑" pitchFamily="2" charset="-122"/>
                <a:ea typeface="华文细黑" pitchFamily="2" charset="-122"/>
              </a:rPr>
              <a:t>摘自</a:t>
            </a:r>
            <a:r>
              <a:rPr lang="en-US" altLang="zh-CN" sz="7200" dirty="0">
                <a:latin typeface="华文细黑" pitchFamily="2" charset="-122"/>
                <a:ea typeface="华文细黑" pitchFamily="2" charset="-122"/>
              </a:rPr>
              <a:t>《</a:t>
            </a:r>
            <a:r>
              <a:rPr lang="zh-CN" altLang="en-US" sz="7200" dirty="0">
                <a:latin typeface="华文细黑" pitchFamily="2" charset="-122"/>
                <a:ea typeface="华文细黑" pitchFamily="2" charset="-122"/>
              </a:rPr>
              <a:t>测试架构师修炼之道</a:t>
            </a:r>
            <a:r>
              <a:rPr lang="en-US" altLang="zh-CN" sz="7200" dirty="0">
                <a:latin typeface="华文细黑" pitchFamily="2" charset="-122"/>
                <a:ea typeface="华文细黑" pitchFamily="2" charset="-122"/>
              </a:rPr>
              <a:t>》</a:t>
            </a:r>
          </a:p>
          <a:p>
            <a:pPr marL="914389" lvl="1" indent="-457200" defTabSz="914400">
              <a:spcBef>
                <a:spcPct val="20000"/>
              </a:spcBef>
              <a:buFont typeface="+mj-lt"/>
              <a:buAutoNum type="arabicPeriod"/>
              <a:defRPr/>
            </a:pPr>
            <a:endParaRPr lang="en-US" altLang="zh-CN" sz="24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zh-CN" altLang="en-US" sz="2400" dirty="0">
              <a:latin typeface="华文细黑" pitchFamily="2" charset="-122"/>
              <a:ea typeface="华文细黑" pitchFamily="2" charset="-122"/>
            </a:endParaRPr>
          </a:p>
        </p:txBody>
      </p:sp>
    </p:spTree>
    <p:extLst>
      <p:ext uri="{BB962C8B-B14F-4D97-AF65-F5344CB8AC3E}">
        <p14:creationId xmlns:p14="http://schemas.microsoft.com/office/powerpoint/2010/main" val="591399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测试用例的定义和特征</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11318139" cy="2668588"/>
          </a:xfrm>
          <a:prstGeom prst="rect">
            <a:avLst/>
          </a:prstGeom>
        </p:spPr>
        <p:txBody>
          <a:bodyPr vert="horz" lIns="91440" tIns="45720" rIns="91440" bIns="45720" rtlCol="0">
            <a:normAutofit fontScale="85000" lnSpcReduction="20000"/>
          </a:bodyPr>
          <a:lstStyle/>
          <a:p>
            <a:pPr lvl="0" defTabSz="914400">
              <a:spcBef>
                <a:spcPct val="20000"/>
              </a:spcBef>
              <a:defRPr/>
            </a:pPr>
            <a:r>
              <a:rPr lang="zh-CN" altLang="en-US" sz="2400" dirty="0">
                <a:latin typeface="华文细黑" pitchFamily="2" charset="-122"/>
                <a:ea typeface="华文细黑" pitchFamily="2" charset="-122"/>
              </a:rPr>
              <a:t>测试用例的定义：</a:t>
            </a:r>
          </a:p>
          <a:p>
            <a:pPr lvl="0" defTabSz="914400">
              <a:spcBef>
                <a:spcPct val="20000"/>
              </a:spcBef>
              <a:defRPr/>
            </a:pPr>
            <a:r>
              <a:rPr lang="zh-CN" altLang="en-US" sz="2400" dirty="0">
                <a:latin typeface="华文细黑" pitchFamily="2" charset="-122"/>
                <a:ea typeface="华文细黑" pitchFamily="2" charset="-122"/>
              </a:rPr>
              <a:t>（</a:t>
            </a:r>
            <a:r>
              <a:rPr lang="en-US" altLang="zh-CN" sz="2400" dirty="0">
                <a:latin typeface="华文细黑" pitchFamily="2" charset="-122"/>
                <a:ea typeface="华文细黑" pitchFamily="2" charset="-122"/>
              </a:rPr>
              <a:t>1</a:t>
            </a:r>
            <a:r>
              <a:rPr lang="zh-CN" altLang="en-US" sz="2400" dirty="0">
                <a:latin typeface="华文细黑" pitchFamily="2" charset="-122"/>
                <a:ea typeface="华文细黑" pitchFamily="2" charset="-122"/>
              </a:rPr>
              <a:t>）测试用例是为特定的目的而设计的一组测试输入、  执行条件和预期的结果。</a:t>
            </a:r>
          </a:p>
          <a:p>
            <a:pPr lvl="0" defTabSz="914400">
              <a:spcBef>
                <a:spcPct val="20000"/>
              </a:spcBef>
              <a:defRPr/>
            </a:pPr>
            <a:r>
              <a:rPr lang="zh-CN" altLang="en-US" sz="2400" dirty="0">
                <a:latin typeface="华文细黑" pitchFamily="2" charset="-122"/>
                <a:ea typeface="华文细黑" pitchFamily="2" charset="-122"/>
              </a:rPr>
              <a:t>（</a:t>
            </a:r>
            <a:r>
              <a:rPr lang="en-US" altLang="zh-CN" sz="2400" dirty="0">
                <a:latin typeface="华文细黑" pitchFamily="2" charset="-122"/>
                <a:ea typeface="华文细黑" pitchFamily="2" charset="-122"/>
              </a:rPr>
              <a:t>2</a:t>
            </a:r>
            <a:r>
              <a:rPr lang="zh-CN" altLang="en-US" sz="2400" dirty="0">
                <a:latin typeface="华文细黑" pitchFamily="2" charset="-122"/>
                <a:ea typeface="华文细黑" pitchFamily="2" charset="-122"/>
              </a:rPr>
              <a:t>）测试用例是执行的最小实体。 </a:t>
            </a:r>
          </a:p>
          <a:p>
            <a:pPr lvl="0" defTabSz="914400">
              <a:spcBef>
                <a:spcPct val="20000"/>
              </a:spcBef>
              <a:defRPr/>
            </a:pPr>
            <a:r>
              <a:rPr lang="zh-CN" altLang="en-US" sz="2400" dirty="0">
                <a:latin typeface="华文细黑" pitchFamily="2" charset="-122"/>
                <a:ea typeface="华文细黑" pitchFamily="2" charset="-122"/>
              </a:rPr>
              <a:t>测试用例的特征：</a:t>
            </a:r>
          </a:p>
          <a:p>
            <a:pPr lvl="0" defTabSz="914400">
              <a:spcBef>
                <a:spcPct val="20000"/>
              </a:spcBef>
              <a:defRPr/>
            </a:pPr>
            <a:r>
              <a:rPr lang="zh-CN" altLang="en-US" sz="2400" dirty="0">
                <a:latin typeface="华文细黑" pitchFamily="2" charset="-122"/>
                <a:ea typeface="华文细黑" pitchFamily="2" charset="-122"/>
              </a:rPr>
              <a:t>（</a:t>
            </a:r>
            <a:r>
              <a:rPr lang="en-US" altLang="zh-CN" sz="2400" dirty="0">
                <a:latin typeface="华文细黑" pitchFamily="2" charset="-122"/>
                <a:ea typeface="华文细黑" pitchFamily="2" charset="-122"/>
              </a:rPr>
              <a:t>1</a:t>
            </a:r>
            <a:r>
              <a:rPr lang="zh-CN" altLang="en-US" sz="2400" dirty="0">
                <a:latin typeface="华文细黑" pitchFamily="2" charset="-122"/>
                <a:ea typeface="华文细黑" pitchFamily="2" charset="-122"/>
              </a:rPr>
              <a:t>）最有可能抓住错误的；</a:t>
            </a:r>
          </a:p>
          <a:p>
            <a:pPr lvl="0" defTabSz="914400">
              <a:spcBef>
                <a:spcPct val="20000"/>
              </a:spcBef>
              <a:defRPr/>
            </a:pPr>
            <a:r>
              <a:rPr lang="zh-CN" altLang="en-US" sz="2400" dirty="0">
                <a:latin typeface="华文细黑" pitchFamily="2" charset="-122"/>
                <a:ea typeface="华文细黑" pitchFamily="2" charset="-122"/>
              </a:rPr>
              <a:t>（</a:t>
            </a:r>
            <a:r>
              <a:rPr lang="en-US" altLang="zh-CN" sz="2400" dirty="0">
                <a:latin typeface="华文细黑" pitchFamily="2" charset="-122"/>
                <a:ea typeface="华文细黑" pitchFamily="2" charset="-122"/>
              </a:rPr>
              <a:t>2</a:t>
            </a:r>
            <a:r>
              <a:rPr lang="zh-CN" altLang="en-US" sz="2400" dirty="0">
                <a:latin typeface="华文细黑" pitchFamily="2" charset="-122"/>
                <a:ea typeface="华文细黑" pitchFamily="2" charset="-122"/>
              </a:rPr>
              <a:t>）不是重复的、多余的；</a:t>
            </a:r>
          </a:p>
          <a:p>
            <a:pPr lvl="0" defTabSz="914400">
              <a:spcBef>
                <a:spcPct val="20000"/>
              </a:spcBef>
              <a:defRPr/>
            </a:pPr>
            <a:r>
              <a:rPr lang="zh-CN" altLang="en-US" sz="2400" dirty="0">
                <a:latin typeface="华文细黑" pitchFamily="2" charset="-122"/>
                <a:ea typeface="华文细黑" pitchFamily="2" charset="-122"/>
              </a:rPr>
              <a:t>（</a:t>
            </a:r>
            <a:r>
              <a:rPr lang="en-US" altLang="zh-CN" sz="2400" dirty="0">
                <a:latin typeface="华文细黑" pitchFamily="2" charset="-122"/>
                <a:ea typeface="华文细黑" pitchFamily="2" charset="-122"/>
              </a:rPr>
              <a:t>3</a:t>
            </a:r>
            <a:r>
              <a:rPr lang="zh-CN" altLang="en-US" sz="2400" dirty="0">
                <a:latin typeface="华文细黑" pitchFamily="2" charset="-122"/>
                <a:ea typeface="华文细黑" pitchFamily="2" charset="-122"/>
              </a:rPr>
              <a:t>）一组相似测试用例中最有效的；</a:t>
            </a:r>
          </a:p>
          <a:p>
            <a:pPr lvl="0" defTabSz="914400">
              <a:spcBef>
                <a:spcPct val="20000"/>
              </a:spcBef>
              <a:defRPr/>
            </a:pPr>
            <a:r>
              <a:rPr lang="zh-CN" altLang="en-US" sz="2400" dirty="0">
                <a:latin typeface="华文细黑" pitchFamily="2" charset="-122"/>
                <a:ea typeface="华文细黑" pitchFamily="2" charset="-122"/>
              </a:rPr>
              <a:t>（</a:t>
            </a:r>
            <a:r>
              <a:rPr lang="en-US" altLang="zh-CN" sz="2400" dirty="0">
                <a:latin typeface="华文细黑" pitchFamily="2" charset="-122"/>
                <a:ea typeface="华文细黑" pitchFamily="2" charset="-122"/>
              </a:rPr>
              <a:t>4</a:t>
            </a:r>
            <a:r>
              <a:rPr lang="zh-CN" altLang="en-US" sz="2400" dirty="0">
                <a:latin typeface="华文细黑" pitchFamily="2" charset="-122"/>
                <a:ea typeface="华文细黑" pitchFamily="2" charset="-122"/>
              </a:rPr>
              <a:t>）既不是太简单，也不是太复杂。</a:t>
            </a:r>
          </a:p>
        </p:txBody>
      </p:sp>
    </p:spTree>
    <p:extLst>
      <p:ext uri="{BB962C8B-B14F-4D97-AF65-F5344CB8AC3E}">
        <p14:creationId xmlns:p14="http://schemas.microsoft.com/office/powerpoint/2010/main" val="361441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测试设计流程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内容占位符 1">
            <a:extLst>
              <a:ext uri="{FF2B5EF4-FFF2-40B4-BE49-F238E27FC236}">
                <a16:creationId xmlns:a16="http://schemas.microsoft.com/office/drawing/2014/main" id="{170FEFEA-96BC-43E2-AE3C-319C13D40D99}"/>
              </a:ext>
            </a:extLst>
          </p:cNvPr>
          <p:cNvSpPr txBox="1">
            <a:spLocks/>
          </p:cNvSpPr>
          <p:nvPr/>
        </p:nvSpPr>
        <p:spPr>
          <a:xfrm>
            <a:off x="624840" y="1055350"/>
            <a:ext cx="9429816" cy="5532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000" dirty="0"/>
              <a:t>“</a:t>
            </a:r>
            <a:r>
              <a:rPr kumimoji="1" lang="zh-CN" altLang="en-US" sz="2000" dirty="0"/>
              <a:t>测试分析</a:t>
            </a:r>
            <a:r>
              <a:rPr kumimoji="1" lang="en-US" altLang="zh-CN" sz="2000" dirty="0"/>
              <a:t>”</a:t>
            </a:r>
            <a:r>
              <a:rPr kumimoji="1" lang="zh-CN" altLang="en-US" sz="2000" dirty="0"/>
              <a:t>和</a:t>
            </a:r>
            <a:r>
              <a:rPr kumimoji="1" lang="en-US" altLang="zh-CN" sz="2000" dirty="0"/>
              <a:t>“</a:t>
            </a:r>
            <a:r>
              <a:rPr kumimoji="1" lang="zh-CN" altLang="en-US" sz="2000" dirty="0"/>
              <a:t>用例设计</a:t>
            </a:r>
            <a:r>
              <a:rPr kumimoji="1" lang="en-US" altLang="zh-CN" sz="2000" dirty="0"/>
              <a:t>”</a:t>
            </a:r>
            <a:r>
              <a:rPr kumimoji="1" lang="zh-CN" altLang="en-US" sz="2000" dirty="0"/>
              <a:t>是两个不同的活动</a:t>
            </a:r>
          </a:p>
        </p:txBody>
      </p:sp>
      <p:sp>
        <p:nvSpPr>
          <p:cNvPr id="3" name="矩形 2"/>
          <p:cNvSpPr/>
          <p:nvPr/>
        </p:nvSpPr>
        <p:spPr>
          <a:xfrm>
            <a:off x="902327" y="1571160"/>
            <a:ext cx="10287755" cy="1200329"/>
          </a:xfrm>
          <a:prstGeom prst="rect">
            <a:avLst/>
          </a:prstGeom>
        </p:spPr>
        <p:txBody>
          <a:bodyPr wrap="square">
            <a:spAutoFit/>
          </a:bodyPr>
          <a:lstStyle/>
          <a:p>
            <a:r>
              <a:rPr lang="zh-CN" altLang="en-US" b="1" dirty="0">
                <a:solidFill>
                  <a:srgbClr val="000000"/>
                </a:solidFill>
                <a:latin typeface="华文细黑" pitchFamily="2" charset="-122"/>
                <a:ea typeface="华文细黑" pitchFamily="2" charset="-122"/>
              </a:rPr>
              <a:t>测试分析：从需求到测试点</a:t>
            </a:r>
            <a:endParaRPr lang="en-US" altLang="zh-CN" b="1"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测试分析就是从设计需求经过</a:t>
            </a:r>
            <a:r>
              <a:rPr lang="en-US" altLang="zh-CN" dirty="0">
                <a:solidFill>
                  <a:srgbClr val="000000"/>
                </a:solidFill>
                <a:latin typeface="华文细黑" pitchFamily="2" charset="-122"/>
                <a:ea typeface="华文细黑" pitchFamily="2" charset="-122"/>
              </a:rPr>
              <a:t>M</a:t>
            </a:r>
            <a:r>
              <a:rPr lang="zh-CN" altLang="en-US" dirty="0">
                <a:solidFill>
                  <a:srgbClr val="000000"/>
                </a:solidFill>
                <a:latin typeface="华文细黑" pitchFamily="2" charset="-122"/>
                <a:ea typeface="华文细黑" pitchFamily="2" charset="-122"/>
              </a:rPr>
              <a:t>（功能分析）</a:t>
            </a:r>
            <a:r>
              <a:rPr lang="en-US" altLang="zh-CN" dirty="0">
                <a:solidFill>
                  <a:srgbClr val="000000"/>
                </a:solidFill>
                <a:latin typeface="华文细黑" pitchFamily="2" charset="-122"/>
                <a:ea typeface="华文细黑" pitchFamily="2" charset="-122"/>
              </a:rPr>
              <a:t>F</a:t>
            </a:r>
            <a:r>
              <a:rPr lang="zh-CN" altLang="en-US" dirty="0">
                <a:solidFill>
                  <a:srgbClr val="000000"/>
                </a:solidFill>
                <a:latin typeface="华文细黑" pitchFamily="2" charset="-122"/>
                <a:ea typeface="华文细黑" pitchFamily="2" charset="-122"/>
              </a:rPr>
              <a:t>（测试类型分析）</a:t>
            </a:r>
            <a:r>
              <a:rPr lang="en-US" altLang="zh-CN" dirty="0">
                <a:solidFill>
                  <a:srgbClr val="000000"/>
                </a:solidFill>
                <a:latin typeface="华文细黑" pitchFamily="2" charset="-122"/>
                <a:ea typeface="华文细黑" pitchFamily="2" charset="-122"/>
              </a:rPr>
              <a:t>Q</a:t>
            </a:r>
            <a:r>
              <a:rPr lang="zh-CN" altLang="en-US" dirty="0">
                <a:solidFill>
                  <a:srgbClr val="000000"/>
                </a:solidFill>
                <a:latin typeface="华文细黑" pitchFamily="2" charset="-122"/>
                <a:ea typeface="华文细黑" pitchFamily="2" charset="-122"/>
              </a:rPr>
              <a:t>（交互分析）得到测试点的过程</a:t>
            </a:r>
            <a:endParaRPr lang="en-US" altLang="zh-CN" dirty="0">
              <a:solidFill>
                <a:srgbClr val="000000"/>
              </a:solidFill>
              <a:latin typeface="华文细黑" pitchFamily="2" charset="-122"/>
              <a:ea typeface="华文细黑" pitchFamily="2" charset="-122"/>
            </a:endParaRPr>
          </a:p>
          <a:p>
            <a:r>
              <a:rPr lang="zh-CN" altLang="en-US" b="1" dirty="0">
                <a:solidFill>
                  <a:srgbClr val="000000"/>
                </a:solidFill>
                <a:latin typeface="华文细黑" pitchFamily="2" charset="-122"/>
                <a:ea typeface="华文细黑" pitchFamily="2" charset="-122"/>
              </a:rPr>
              <a:t>用例设计</a:t>
            </a:r>
            <a:r>
              <a:rPr lang="zh-CN" altLang="en-US" dirty="0">
                <a:solidFill>
                  <a:srgbClr val="000000"/>
                </a:solidFill>
                <a:latin typeface="华文细黑" pitchFamily="2" charset="-122"/>
                <a:ea typeface="华文细黑" pitchFamily="2" charset="-122"/>
              </a:rPr>
              <a:t>：</a:t>
            </a:r>
            <a:r>
              <a:rPr lang="zh-CN" altLang="en-US" b="1" dirty="0">
                <a:solidFill>
                  <a:srgbClr val="000000"/>
                </a:solidFill>
                <a:latin typeface="华文细黑" pitchFamily="2" charset="-122"/>
                <a:ea typeface="华文细黑" pitchFamily="2" charset="-122"/>
              </a:rPr>
              <a:t>测试点到测试用例</a:t>
            </a:r>
            <a:endParaRPr lang="en-US" altLang="zh-CN" b="1"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用例设计就是使用用例设计方法将测试点加工为测试用例的过程</a:t>
            </a:r>
            <a:endParaRPr lang="en-US" altLang="zh-CN" dirty="0">
              <a:solidFill>
                <a:srgbClr val="000000"/>
              </a:solidFill>
              <a:latin typeface="华文细黑" pitchFamily="2" charset="-122"/>
              <a:ea typeface="华文细黑" pitchFamily="2" charset="-122"/>
            </a:endParaRPr>
          </a:p>
        </p:txBody>
      </p:sp>
      <p:sp>
        <p:nvSpPr>
          <p:cNvPr id="30" name="TextBox 30"/>
          <p:cNvSpPr txBox="1"/>
          <p:nvPr/>
        </p:nvSpPr>
        <p:spPr>
          <a:xfrm>
            <a:off x="1780456" y="3648695"/>
            <a:ext cx="1152128" cy="369332"/>
          </a:xfrm>
          <a:prstGeom prst="rect">
            <a:avLst/>
          </a:prstGeom>
          <a:solidFill>
            <a:schemeClr val="accent6">
              <a:lumMod val="60000"/>
              <a:lumOff val="40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设计需求</a:t>
            </a:r>
          </a:p>
        </p:txBody>
      </p:sp>
      <p:sp>
        <p:nvSpPr>
          <p:cNvPr id="55" name="TextBox 31"/>
          <p:cNvSpPr txBox="1"/>
          <p:nvPr/>
        </p:nvSpPr>
        <p:spPr>
          <a:xfrm>
            <a:off x="1780456" y="4401682"/>
            <a:ext cx="1152128" cy="369332"/>
          </a:xfrm>
          <a:prstGeom prst="rect">
            <a:avLst/>
          </a:prstGeom>
          <a:solidFill>
            <a:schemeClr val="accent6">
              <a:lumMod val="60000"/>
              <a:lumOff val="40000"/>
            </a:schemeClr>
          </a:solidFill>
          <a:ln>
            <a:solidFill>
              <a:schemeClr val="bg1"/>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测试需求</a:t>
            </a:r>
          </a:p>
        </p:txBody>
      </p:sp>
      <p:sp>
        <p:nvSpPr>
          <p:cNvPr id="56" name="TextBox 32"/>
          <p:cNvSpPr txBox="1"/>
          <p:nvPr/>
        </p:nvSpPr>
        <p:spPr>
          <a:xfrm>
            <a:off x="5115968" y="3960251"/>
            <a:ext cx="1152128" cy="369332"/>
          </a:xfrm>
          <a:prstGeom prst="rect">
            <a:avLst/>
          </a:prstGeom>
          <a:solidFill>
            <a:schemeClr val="accent6">
              <a:lumMod val="60000"/>
              <a:lumOff val="40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测试点</a:t>
            </a:r>
          </a:p>
        </p:txBody>
      </p:sp>
      <p:sp>
        <p:nvSpPr>
          <p:cNvPr id="57" name="TextBox 33"/>
          <p:cNvSpPr txBox="1"/>
          <p:nvPr/>
        </p:nvSpPr>
        <p:spPr>
          <a:xfrm>
            <a:off x="8586681" y="4018027"/>
            <a:ext cx="1152128" cy="369332"/>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r"/>
            <a:r>
              <a:rPr lang="zh-CN" altLang="en-US" dirty="0"/>
              <a:t>测试用例</a:t>
            </a:r>
          </a:p>
        </p:txBody>
      </p:sp>
      <p:sp>
        <p:nvSpPr>
          <p:cNvPr id="58" name="右箭头 57"/>
          <p:cNvSpPr/>
          <p:nvPr/>
        </p:nvSpPr>
        <p:spPr>
          <a:xfrm>
            <a:off x="3341487" y="3592663"/>
            <a:ext cx="1474957" cy="1248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rgbClr val="000000"/>
                </a:solidFill>
                <a:latin typeface="华文细黑" pitchFamily="2" charset="-122"/>
                <a:ea typeface="华文细黑" pitchFamily="2" charset="-122"/>
              </a:rPr>
              <a:t>M</a:t>
            </a:r>
            <a:r>
              <a:rPr lang="zh-CN" altLang="en-US" sz="1000" dirty="0">
                <a:solidFill>
                  <a:srgbClr val="000000"/>
                </a:solidFill>
                <a:latin typeface="华文细黑" pitchFamily="2" charset="-122"/>
                <a:ea typeface="华文细黑" pitchFamily="2" charset="-122"/>
              </a:rPr>
              <a:t>：功能分析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F</a:t>
            </a:r>
            <a:r>
              <a:rPr lang="zh-CN" altLang="en-US" sz="1000" dirty="0">
                <a:solidFill>
                  <a:srgbClr val="000000"/>
                </a:solidFill>
                <a:latin typeface="华文细黑" pitchFamily="2" charset="-122"/>
                <a:ea typeface="华文细黑" pitchFamily="2" charset="-122"/>
              </a:rPr>
              <a:t>：测试类型分析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Q</a:t>
            </a:r>
            <a:r>
              <a:rPr lang="zh-CN" altLang="en-US" sz="1000" dirty="0">
                <a:solidFill>
                  <a:srgbClr val="000000"/>
                </a:solidFill>
                <a:latin typeface="华文细黑" pitchFamily="2" charset="-122"/>
                <a:ea typeface="华文细黑" pitchFamily="2" charset="-122"/>
              </a:rPr>
              <a:t>：交付分析</a:t>
            </a:r>
          </a:p>
        </p:txBody>
      </p:sp>
      <p:sp>
        <p:nvSpPr>
          <p:cNvPr id="59" name="右箭头 58"/>
          <p:cNvSpPr/>
          <p:nvPr/>
        </p:nvSpPr>
        <p:spPr>
          <a:xfrm>
            <a:off x="6774728" y="3648695"/>
            <a:ext cx="1440160" cy="1248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solidFill>
                  <a:srgbClr val="000000"/>
                </a:solidFill>
                <a:latin typeface="华文细黑" pitchFamily="2" charset="-122"/>
                <a:ea typeface="华文细黑" pitchFamily="2" charset="-122"/>
              </a:rPr>
              <a:t>等价类划分</a:t>
            </a:r>
            <a:endParaRPr lang="en-US" altLang="zh-CN" sz="1000" dirty="0">
              <a:solidFill>
                <a:srgbClr val="000000"/>
              </a:solidFill>
              <a:latin typeface="华文细黑" pitchFamily="2" charset="-122"/>
              <a:ea typeface="华文细黑" pitchFamily="2" charset="-122"/>
            </a:endParaRPr>
          </a:p>
          <a:p>
            <a:r>
              <a:rPr lang="zh-CN" altLang="en-US" sz="1000" dirty="0">
                <a:solidFill>
                  <a:srgbClr val="000000"/>
                </a:solidFill>
                <a:latin typeface="华文细黑" pitchFamily="2" charset="-122"/>
                <a:ea typeface="华文细黑" pitchFamily="2" charset="-122"/>
              </a:rPr>
              <a:t>流程路径分析</a:t>
            </a:r>
            <a:endParaRPr lang="en-US" altLang="zh-CN" sz="1000" dirty="0">
              <a:solidFill>
                <a:srgbClr val="000000"/>
              </a:solidFill>
              <a:latin typeface="华文细黑" pitchFamily="2" charset="-122"/>
              <a:ea typeface="华文细黑" pitchFamily="2" charset="-122"/>
            </a:endParaRPr>
          </a:p>
          <a:p>
            <a:r>
              <a:rPr lang="zh-CN" altLang="en-US" sz="1000" dirty="0">
                <a:solidFill>
                  <a:srgbClr val="000000"/>
                </a:solidFill>
                <a:latin typeface="华文细黑" pitchFamily="2" charset="-122"/>
                <a:ea typeface="华文细黑" pitchFamily="2" charset="-122"/>
              </a:rPr>
              <a:t>判定表分析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a:t>
            </a:r>
            <a:endParaRPr lang="zh-CN" altLang="en-US" sz="1000"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1895926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测试设计过程展示</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30">
            <a:extLst>
              <a:ext uri="{FF2B5EF4-FFF2-40B4-BE49-F238E27FC236}">
                <a16:creationId xmlns:a16="http://schemas.microsoft.com/office/drawing/2014/main" id="{3668F692-BBD1-012D-5936-73827AED3AB9}"/>
              </a:ext>
            </a:extLst>
          </p:cNvPr>
          <p:cNvSpPr txBox="1"/>
          <p:nvPr/>
        </p:nvSpPr>
        <p:spPr>
          <a:xfrm>
            <a:off x="999406" y="1210295"/>
            <a:ext cx="1152128" cy="369332"/>
          </a:xfrm>
          <a:prstGeom prst="rect">
            <a:avLst/>
          </a:prstGeom>
          <a:solidFill>
            <a:schemeClr val="accent6">
              <a:lumMod val="60000"/>
              <a:lumOff val="40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设计需求</a:t>
            </a:r>
          </a:p>
        </p:txBody>
      </p:sp>
      <p:sp>
        <p:nvSpPr>
          <p:cNvPr id="5" name="TextBox 31">
            <a:extLst>
              <a:ext uri="{FF2B5EF4-FFF2-40B4-BE49-F238E27FC236}">
                <a16:creationId xmlns:a16="http://schemas.microsoft.com/office/drawing/2014/main" id="{74DA5836-4FE2-8271-1B89-F38BA933BBAF}"/>
              </a:ext>
            </a:extLst>
          </p:cNvPr>
          <p:cNvSpPr txBox="1"/>
          <p:nvPr/>
        </p:nvSpPr>
        <p:spPr>
          <a:xfrm>
            <a:off x="999406" y="1963282"/>
            <a:ext cx="1152128" cy="369332"/>
          </a:xfrm>
          <a:prstGeom prst="rect">
            <a:avLst/>
          </a:prstGeom>
          <a:solidFill>
            <a:schemeClr val="accent6">
              <a:lumMod val="60000"/>
              <a:lumOff val="40000"/>
            </a:schemeClr>
          </a:solidFill>
          <a:ln>
            <a:solidFill>
              <a:schemeClr val="bg1"/>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测试需求</a:t>
            </a:r>
          </a:p>
        </p:txBody>
      </p:sp>
      <p:sp>
        <p:nvSpPr>
          <p:cNvPr id="6" name="TextBox 32">
            <a:extLst>
              <a:ext uri="{FF2B5EF4-FFF2-40B4-BE49-F238E27FC236}">
                <a16:creationId xmlns:a16="http://schemas.microsoft.com/office/drawing/2014/main" id="{21BA182E-CB8A-EF1E-C777-2F0298736EAE}"/>
              </a:ext>
            </a:extLst>
          </p:cNvPr>
          <p:cNvSpPr txBox="1"/>
          <p:nvPr/>
        </p:nvSpPr>
        <p:spPr>
          <a:xfrm>
            <a:off x="4334918" y="1521851"/>
            <a:ext cx="1152128" cy="369332"/>
          </a:xfrm>
          <a:prstGeom prst="rect">
            <a:avLst/>
          </a:prstGeom>
          <a:solidFill>
            <a:schemeClr val="accent6">
              <a:lumMod val="60000"/>
              <a:lumOff val="40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测试点</a:t>
            </a:r>
          </a:p>
        </p:txBody>
      </p:sp>
      <p:sp>
        <p:nvSpPr>
          <p:cNvPr id="7" name="TextBox 33">
            <a:extLst>
              <a:ext uri="{FF2B5EF4-FFF2-40B4-BE49-F238E27FC236}">
                <a16:creationId xmlns:a16="http://schemas.microsoft.com/office/drawing/2014/main" id="{D2007CDE-C582-4197-938B-F81B39A9FF49}"/>
              </a:ext>
            </a:extLst>
          </p:cNvPr>
          <p:cNvSpPr txBox="1"/>
          <p:nvPr/>
        </p:nvSpPr>
        <p:spPr>
          <a:xfrm>
            <a:off x="7805631" y="1579627"/>
            <a:ext cx="1152128" cy="369332"/>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r"/>
            <a:r>
              <a:rPr lang="zh-CN" altLang="en-US" dirty="0"/>
              <a:t>测试用例</a:t>
            </a:r>
          </a:p>
        </p:txBody>
      </p:sp>
      <p:sp>
        <p:nvSpPr>
          <p:cNvPr id="8" name="右箭头 57">
            <a:extLst>
              <a:ext uri="{FF2B5EF4-FFF2-40B4-BE49-F238E27FC236}">
                <a16:creationId xmlns:a16="http://schemas.microsoft.com/office/drawing/2014/main" id="{732A7B0F-1BA2-1A86-5200-8B82F1600E73}"/>
              </a:ext>
            </a:extLst>
          </p:cNvPr>
          <p:cNvSpPr/>
          <p:nvPr/>
        </p:nvSpPr>
        <p:spPr>
          <a:xfrm>
            <a:off x="2560437" y="1154263"/>
            <a:ext cx="1474957" cy="1248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rgbClr val="000000"/>
                </a:solidFill>
                <a:latin typeface="华文细黑" pitchFamily="2" charset="-122"/>
                <a:ea typeface="华文细黑" pitchFamily="2" charset="-122"/>
              </a:rPr>
              <a:t>M</a:t>
            </a:r>
            <a:r>
              <a:rPr lang="zh-CN" altLang="en-US" sz="1000" dirty="0">
                <a:solidFill>
                  <a:srgbClr val="000000"/>
                </a:solidFill>
                <a:latin typeface="华文细黑" pitchFamily="2" charset="-122"/>
                <a:ea typeface="华文细黑" pitchFamily="2" charset="-122"/>
              </a:rPr>
              <a:t>：功能分析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F</a:t>
            </a:r>
            <a:r>
              <a:rPr lang="zh-CN" altLang="en-US" sz="1000" dirty="0">
                <a:solidFill>
                  <a:srgbClr val="000000"/>
                </a:solidFill>
                <a:latin typeface="华文细黑" pitchFamily="2" charset="-122"/>
                <a:ea typeface="华文细黑" pitchFamily="2" charset="-122"/>
              </a:rPr>
              <a:t>：测试类型分析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Q</a:t>
            </a:r>
            <a:r>
              <a:rPr lang="zh-CN" altLang="en-US" sz="1000" dirty="0">
                <a:solidFill>
                  <a:srgbClr val="000000"/>
                </a:solidFill>
                <a:latin typeface="华文细黑" pitchFamily="2" charset="-122"/>
                <a:ea typeface="华文细黑" pitchFamily="2" charset="-122"/>
              </a:rPr>
              <a:t>：交付分析</a:t>
            </a:r>
          </a:p>
        </p:txBody>
      </p:sp>
      <p:sp>
        <p:nvSpPr>
          <p:cNvPr id="9" name="右箭头 58">
            <a:extLst>
              <a:ext uri="{FF2B5EF4-FFF2-40B4-BE49-F238E27FC236}">
                <a16:creationId xmlns:a16="http://schemas.microsoft.com/office/drawing/2014/main" id="{E50D249A-3711-95C4-284F-CA1A42B8EC98}"/>
              </a:ext>
            </a:extLst>
          </p:cNvPr>
          <p:cNvSpPr/>
          <p:nvPr/>
        </p:nvSpPr>
        <p:spPr>
          <a:xfrm>
            <a:off x="5993678" y="1210295"/>
            <a:ext cx="1440160" cy="1248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solidFill>
                  <a:srgbClr val="000000"/>
                </a:solidFill>
                <a:latin typeface="华文细黑" pitchFamily="2" charset="-122"/>
                <a:ea typeface="华文细黑" pitchFamily="2" charset="-122"/>
              </a:rPr>
              <a:t>等价类划分</a:t>
            </a:r>
            <a:endParaRPr lang="en-US" altLang="zh-CN" sz="1000" dirty="0">
              <a:solidFill>
                <a:srgbClr val="000000"/>
              </a:solidFill>
              <a:latin typeface="华文细黑" pitchFamily="2" charset="-122"/>
              <a:ea typeface="华文细黑" pitchFamily="2" charset="-122"/>
            </a:endParaRPr>
          </a:p>
          <a:p>
            <a:r>
              <a:rPr lang="zh-CN" altLang="en-US" sz="1000" dirty="0">
                <a:solidFill>
                  <a:srgbClr val="000000"/>
                </a:solidFill>
                <a:latin typeface="华文细黑" pitchFamily="2" charset="-122"/>
                <a:ea typeface="华文细黑" pitchFamily="2" charset="-122"/>
              </a:rPr>
              <a:t>流程路径分析</a:t>
            </a:r>
            <a:endParaRPr lang="en-US" altLang="zh-CN" sz="1000" dirty="0">
              <a:solidFill>
                <a:srgbClr val="000000"/>
              </a:solidFill>
              <a:latin typeface="华文细黑" pitchFamily="2" charset="-122"/>
              <a:ea typeface="华文细黑" pitchFamily="2" charset="-122"/>
            </a:endParaRPr>
          </a:p>
          <a:p>
            <a:r>
              <a:rPr lang="zh-CN" altLang="en-US" sz="1000" dirty="0">
                <a:solidFill>
                  <a:srgbClr val="000000"/>
                </a:solidFill>
                <a:latin typeface="华文细黑" pitchFamily="2" charset="-122"/>
                <a:ea typeface="华文细黑" pitchFamily="2" charset="-122"/>
              </a:rPr>
              <a:t>判定表分析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a:t>
            </a:r>
            <a:endParaRPr lang="zh-CN" altLang="en-US" sz="1000" dirty="0">
              <a:solidFill>
                <a:srgbClr val="000000"/>
              </a:solidFill>
              <a:latin typeface="华文细黑" pitchFamily="2" charset="-122"/>
              <a:ea typeface="华文细黑" pitchFamily="2" charset="-122"/>
            </a:endParaRPr>
          </a:p>
        </p:txBody>
      </p:sp>
      <p:pic>
        <p:nvPicPr>
          <p:cNvPr id="11" name="图片 10">
            <a:extLst>
              <a:ext uri="{FF2B5EF4-FFF2-40B4-BE49-F238E27FC236}">
                <a16:creationId xmlns:a16="http://schemas.microsoft.com/office/drawing/2014/main" id="{F3EA56C9-00D5-2A8C-F928-9757C8B1EC7A}"/>
              </a:ext>
            </a:extLst>
          </p:cNvPr>
          <p:cNvPicPr>
            <a:picLocks noChangeAspect="1"/>
          </p:cNvPicPr>
          <p:nvPr/>
        </p:nvPicPr>
        <p:blipFill>
          <a:blip r:embed="rId2"/>
          <a:stretch>
            <a:fillRect/>
          </a:stretch>
        </p:blipFill>
        <p:spPr>
          <a:xfrm>
            <a:off x="689264" y="2716269"/>
            <a:ext cx="3747630" cy="3055882"/>
          </a:xfrm>
          <a:prstGeom prst="rect">
            <a:avLst/>
          </a:prstGeom>
        </p:spPr>
      </p:pic>
      <p:pic>
        <p:nvPicPr>
          <p:cNvPr id="13" name="图片 12">
            <a:extLst>
              <a:ext uri="{FF2B5EF4-FFF2-40B4-BE49-F238E27FC236}">
                <a16:creationId xmlns:a16="http://schemas.microsoft.com/office/drawing/2014/main" id="{E29D72CB-A0E3-0518-0797-768A893E10D8}"/>
              </a:ext>
            </a:extLst>
          </p:cNvPr>
          <p:cNvPicPr>
            <a:picLocks noChangeAspect="1"/>
          </p:cNvPicPr>
          <p:nvPr/>
        </p:nvPicPr>
        <p:blipFill>
          <a:blip r:embed="rId3"/>
          <a:stretch>
            <a:fillRect/>
          </a:stretch>
        </p:blipFill>
        <p:spPr>
          <a:xfrm>
            <a:off x="4483099" y="2716270"/>
            <a:ext cx="3841751" cy="3029310"/>
          </a:xfrm>
          <a:prstGeom prst="rect">
            <a:avLst/>
          </a:prstGeom>
        </p:spPr>
      </p:pic>
      <p:pic>
        <p:nvPicPr>
          <p:cNvPr id="15" name="图片 14">
            <a:extLst>
              <a:ext uri="{FF2B5EF4-FFF2-40B4-BE49-F238E27FC236}">
                <a16:creationId xmlns:a16="http://schemas.microsoft.com/office/drawing/2014/main" id="{4F24028E-F205-D438-4D47-37CCFBF8AEFB}"/>
              </a:ext>
            </a:extLst>
          </p:cNvPr>
          <p:cNvPicPr>
            <a:picLocks noChangeAspect="1"/>
          </p:cNvPicPr>
          <p:nvPr/>
        </p:nvPicPr>
        <p:blipFill>
          <a:blip r:embed="rId4"/>
          <a:stretch>
            <a:fillRect/>
          </a:stretch>
        </p:blipFill>
        <p:spPr>
          <a:xfrm>
            <a:off x="8381695" y="2729555"/>
            <a:ext cx="3242141" cy="3029310"/>
          </a:xfrm>
          <a:prstGeom prst="rect">
            <a:avLst/>
          </a:prstGeom>
        </p:spPr>
      </p:pic>
    </p:spTree>
    <p:extLst>
      <p:ext uri="{BB962C8B-B14F-4D97-AF65-F5344CB8AC3E}">
        <p14:creationId xmlns:p14="http://schemas.microsoft.com/office/powerpoint/2010/main" val="3680861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内容占位符 1">
            <a:extLst>
              <a:ext uri="{FF2B5EF4-FFF2-40B4-BE49-F238E27FC236}">
                <a16:creationId xmlns:a16="http://schemas.microsoft.com/office/drawing/2014/main" id="{170FEFEA-96BC-43E2-AE3C-319C13D40D99}"/>
              </a:ext>
            </a:extLst>
          </p:cNvPr>
          <p:cNvSpPr txBox="1">
            <a:spLocks/>
          </p:cNvSpPr>
          <p:nvPr/>
        </p:nvSpPr>
        <p:spPr>
          <a:xfrm>
            <a:off x="624840" y="1055350"/>
            <a:ext cx="9429816" cy="5532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dirty="0"/>
              <a:t>用例设计过程</a:t>
            </a:r>
          </a:p>
        </p:txBody>
      </p:sp>
      <p:grpSp>
        <p:nvGrpSpPr>
          <p:cNvPr id="101" name="组合 100"/>
          <p:cNvGrpSpPr/>
          <p:nvPr/>
        </p:nvGrpSpPr>
        <p:grpSpPr>
          <a:xfrm>
            <a:off x="1038126" y="1634085"/>
            <a:ext cx="5582104" cy="3005377"/>
            <a:chOff x="556320" y="777280"/>
            <a:chExt cx="6137789" cy="3290882"/>
          </a:xfrm>
        </p:grpSpPr>
        <p:sp>
          <p:nvSpPr>
            <p:cNvPr id="102" name="矩形 101"/>
            <p:cNvSpPr/>
            <p:nvPr/>
          </p:nvSpPr>
          <p:spPr>
            <a:xfrm>
              <a:off x="2140496" y="1209328"/>
              <a:ext cx="3312368" cy="864096"/>
            </a:xfrm>
            <a:prstGeom prst="rect">
              <a:avLst/>
            </a:prstGeom>
            <a:solidFill>
              <a:schemeClr val="accent6">
                <a:lumMod val="60000"/>
                <a:lumOff val="40000"/>
              </a:schemeClr>
            </a:solidFill>
            <a:ln w="25400" cap="flat" cmpd="sng" algn="ctr">
              <a:no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FFFFFF"/>
                </a:solidFill>
                <a:effectLst/>
                <a:uLnTx/>
                <a:uFillTx/>
                <a:latin typeface="Tahoma"/>
                <a:ea typeface="微软雅黑"/>
                <a:cs typeface="+mn-cs"/>
              </a:endParaRPr>
            </a:p>
          </p:txBody>
        </p:sp>
        <p:sp>
          <p:nvSpPr>
            <p:cNvPr id="103" name="TextBox 4"/>
            <p:cNvSpPr txBox="1"/>
            <p:nvPr/>
          </p:nvSpPr>
          <p:spPr>
            <a:xfrm>
              <a:off x="556320" y="1406915"/>
              <a:ext cx="1467325" cy="338554"/>
            </a:xfrm>
            <a:prstGeom prst="rect">
              <a:avLst/>
            </a:prstGeom>
            <a:noFill/>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rPr>
                <a:t>Test Condition</a:t>
              </a:r>
              <a:endParaRPr kumimoji="0" lang="zh-CN" altLang="en-US" sz="1600" b="0" i="0" u="none" strike="noStrike" kern="0" cap="none" spc="0" normalizeH="0" baseline="0" noProof="0" dirty="0">
                <a:ln>
                  <a:noFill/>
                </a:ln>
                <a:solidFill>
                  <a:srgbClr val="284448"/>
                </a:solidFill>
                <a:effectLst/>
                <a:uLnTx/>
                <a:uFillTx/>
                <a:latin typeface="Tahoma"/>
                <a:ea typeface="微软雅黑"/>
              </a:endParaRPr>
            </a:p>
          </p:txBody>
        </p:sp>
        <p:sp>
          <p:nvSpPr>
            <p:cNvPr id="104" name="矩形 103"/>
            <p:cNvSpPr/>
            <p:nvPr/>
          </p:nvSpPr>
          <p:spPr>
            <a:xfrm>
              <a:off x="2500536" y="1425352"/>
              <a:ext cx="792088" cy="432048"/>
            </a:xfrm>
            <a:prstGeom prst="rect">
              <a:avLst/>
            </a:prstGeom>
            <a:solidFill>
              <a:srgbClr val="284448"/>
            </a:solidFill>
            <a:ln w="25400" cap="flat" cmpd="sng" algn="ctr">
              <a:solidFill>
                <a:srgbClr val="284448">
                  <a:shade val="50000"/>
                </a:srgbClr>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Tahoma"/>
                  <a:ea typeface="微软雅黑"/>
                  <a:cs typeface="+mn-cs"/>
                </a:rPr>
                <a:t>因子</a:t>
              </a:r>
              <a:r>
                <a:rPr kumimoji="0" lang="en-US" altLang="zh-CN" sz="1600" b="0" i="0" u="none" strike="noStrike" kern="0" cap="none" spc="0" normalizeH="0" baseline="0" noProof="0" dirty="0">
                  <a:ln>
                    <a:noFill/>
                  </a:ln>
                  <a:solidFill>
                    <a:srgbClr val="FFFFFF"/>
                  </a:solidFill>
                  <a:effectLst/>
                  <a:uLnTx/>
                  <a:uFillTx/>
                  <a:latin typeface="Tahoma"/>
                  <a:ea typeface="微软雅黑"/>
                  <a:cs typeface="+mn-cs"/>
                </a:rPr>
                <a:t>1</a:t>
              </a:r>
              <a:endParaRPr kumimoji="0" lang="zh-CN" altLang="en-US" sz="1600" b="0" i="0" u="none" strike="noStrike" kern="0" cap="none" spc="0" normalizeH="0" baseline="0" noProof="0" dirty="0">
                <a:ln>
                  <a:noFill/>
                </a:ln>
                <a:solidFill>
                  <a:srgbClr val="FFFFFF"/>
                </a:solidFill>
                <a:effectLst/>
                <a:uLnTx/>
                <a:uFillTx/>
                <a:latin typeface="Tahoma"/>
                <a:ea typeface="微软雅黑"/>
                <a:cs typeface="+mn-cs"/>
              </a:endParaRPr>
            </a:p>
          </p:txBody>
        </p:sp>
        <p:sp>
          <p:nvSpPr>
            <p:cNvPr id="105" name="矩形 104"/>
            <p:cNvSpPr/>
            <p:nvPr/>
          </p:nvSpPr>
          <p:spPr>
            <a:xfrm>
              <a:off x="3473276" y="1425352"/>
              <a:ext cx="792088" cy="432048"/>
            </a:xfrm>
            <a:prstGeom prst="rect">
              <a:avLst/>
            </a:prstGeom>
            <a:solidFill>
              <a:srgbClr val="284448"/>
            </a:solidFill>
            <a:ln w="25400" cap="flat" cmpd="sng" algn="ctr">
              <a:solidFill>
                <a:srgbClr val="284448">
                  <a:shade val="50000"/>
                </a:srgbClr>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Tahoma"/>
                  <a:ea typeface="微软雅黑"/>
                  <a:cs typeface="+mn-cs"/>
                </a:rPr>
                <a:t>因子</a:t>
              </a:r>
              <a:r>
                <a:rPr kumimoji="0" lang="en-US" altLang="zh-CN" sz="1600" b="0" i="0" u="none" strike="noStrike" kern="0" cap="none" spc="0" normalizeH="0" baseline="0" noProof="0" dirty="0">
                  <a:ln>
                    <a:noFill/>
                  </a:ln>
                  <a:solidFill>
                    <a:srgbClr val="FFFFFF"/>
                  </a:solidFill>
                  <a:effectLst/>
                  <a:uLnTx/>
                  <a:uFillTx/>
                  <a:latin typeface="Tahoma"/>
                  <a:ea typeface="微软雅黑"/>
                  <a:cs typeface="+mn-cs"/>
                </a:rPr>
                <a:t>2</a:t>
              </a:r>
              <a:endParaRPr kumimoji="0" lang="zh-CN" altLang="en-US" sz="1600" b="0" i="0" u="none" strike="noStrike" kern="0" cap="none" spc="0" normalizeH="0" baseline="0" noProof="0" dirty="0">
                <a:ln>
                  <a:noFill/>
                </a:ln>
                <a:solidFill>
                  <a:srgbClr val="FFFFFF"/>
                </a:solidFill>
                <a:effectLst/>
                <a:uLnTx/>
                <a:uFillTx/>
                <a:latin typeface="Tahoma"/>
                <a:ea typeface="微软雅黑"/>
                <a:cs typeface="+mn-cs"/>
              </a:endParaRPr>
            </a:p>
          </p:txBody>
        </p:sp>
        <p:sp>
          <p:nvSpPr>
            <p:cNvPr id="106" name="矩形 105"/>
            <p:cNvSpPr/>
            <p:nvPr/>
          </p:nvSpPr>
          <p:spPr>
            <a:xfrm>
              <a:off x="4417764" y="1425352"/>
              <a:ext cx="792088" cy="432048"/>
            </a:xfrm>
            <a:prstGeom prst="rect">
              <a:avLst/>
            </a:prstGeom>
            <a:solidFill>
              <a:srgbClr val="284448"/>
            </a:solidFill>
            <a:ln w="25400" cap="flat" cmpd="sng" algn="ctr">
              <a:solidFill>
                <a:srgbClr val="284448">
                  <a:shade val="50000"/>
                </a:srgbClr>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Tahoma"/>
                  <a:ea typeface="微软雅黑"/>
                  <a:cs typeface="+mn-cs"/>
                </a:rPr>
                <a:t>因子</a:t>
              </a:r>
              <a:r>
                <a:rPr kumimoji="0" lang="en-US" altLang="zh-CN" sz="1600" b="0" i="0" u="none" strike="noStrike" kern="0" cap="none" spc="0" normalizeH="0" baseline="0" noProof="0" dirty="0">
                  <a:ln>
                    <a:noFill/>
                  </a:ln>
                  <a:solidFill>
                    <a:srgbClr val="FFFFFF"/>
                  </a:solidFill>
                  <a:effectLst/>
                  <a:uLnTx/>
                  <a:uFillTx/>
                  <a:latin typeface="Tahoma"/>
                  <a:ea typeface="微软雅黑"/>
                  <a:cs typeface="+mn-cs"/>
                </a:rPr>
                <a:t>3</a:t>
              </a:r>
              <a:endParaRPr kumimoji="0" lang="zh-CN" altLang="en-US" sz="1600" b="0" i="0" u="none" strike="noStrike" kern="0" cap="none" spc="0" normalizeH="0" baseline="0" noProof="0" dirty="0">
                <a:ln>
                  <a:noFill/>
                </a:ln>
                <a:solidFill>
                  <a:srgbClr val="FFFFFF"/>
                </a:solidFill>
                <a:effectLst/>
                <a:uLnTx/>
                <a:uFillTx/>
                <a:latin typeface="Tahoma"/>
                <a:ea typeface="微软雅黑"/>
                <a:cs typeface="+mn-cs"/>
              </a:endParaRPr>
            </a:p>
          </p:txBody>
        </p:sp>
        <p:sp>
          <p:nvSpPr>
            <p:cNvPr id="107" name="矩形 106"/>
            <p:cNvSpPr/>
            <p:nvPr/>
          </p:nvSpPr>
          <p:spPr>
            <a:xfrm>
              <a:off x="2527986" y="2217440"/>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A1</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08" name="TextBox 9"/>
            <p:cNvSpPr txBox="1"/>
            <p:nvPr/>
          </p:nvSpPr>
          <p:spPr>
            <a:xfrm>
              <a:off x="3277210" y="3729608"/>
              <a:ext cx="1038939" cy="338554"/>
            </a:xfrm>
            <a:prstGeom prst="rect">
              <a:avLst/>
            </a:prstGeom>
            <a:noFill/>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rPr>
                <a:t>Test Data</a:t>
              </a:r>
              <a:endParaRPr kumimoji="0" lang="zh-CN" altLang="en-US" sz="1600" b="0" i="0" u="none" strike="noStrike" kern="0" cap="none" spc="0" normalizeH="0" baseline="0" noProof="0" dirty="0">
                <a:ln>
                  <a:noFill/>
                </a:ln>
                <a:solidFill>
                  <a:srgbClr val="284448"/>
                </a:solidFill>
                <a:effectLst/>
                <a:uLnTx/>
                <a:uFillTx/>
                <a:latin typeface="Tahoma"/>
                <a:ea typeface="微软雅黑"/>
              </a:endParaRPr>
            </a:p>
          </p:txBody>
        </p:sp>
        <p:sp>
          <p:nvSpPr>
            <p:cNvPr id="109" name="矩形 108"/>
            <p:cNvSpPr/>
            <p:nvPr/>
          </p:nvSpPr>
          <p:spPr>
            <a:xfrm>
              <a:off x="2527986" y="2577480"/>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A2</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0" name="矩形 109"/>
            <p:cNvSpPr/>
            <p:nvPr/>
          </p:nvSpPr>
          <p:spPr>
            <a:xfrm>
              <a:off x="2527986" y="2937520"/>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A3</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1" name="矩形 110"/>
            <p:cNvSpPr/>
            <p:nvPr/>
          </p:nvSpPr>
          <p:spPr>
            <a:xfrm>
              <a:off x="3491539" y="2217440"/>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B1</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2" name="矩形 111"/>
            <p:cNvSpPr/>
            <p:nvPr/>
          </p:nvSpPr>
          <p:spPr>
            <a:xfrm>
              <a:off x="3491539" y="2577480"/>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B2</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3" name="矩形 112"/>
            <p:cNvSpPr/>
            <p:nvPr/>
          </p:nvSpPr>
          <p:spPr>
            <a:xfrm>
              <a:off x="4427643" y="2217440"/>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C1</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4" name="矩形 113"/>
            <p:cNvSpPr/>
            <p:nvPr/>
          </p:nvSpPr>
          <p:spPr>
            <a:xfrm>
              <a:off x="4427643" y="2580759"/>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C2</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5" name="矩形 114"/>
            <p:cNvSpPr/>
            <p:nvPr/>
          </p:nvSpPr>
          <p:spPr>
            <a:xfrm>
              <a:off x="4427643" y="2944078"/>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C3</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6" name="矩形 115"/>
            <p:cNvSpPr/>
            <p:nvPr/>
          </p:nvSpPr>
          <p:spPr>
            <a:xfrm>
              <a:off x="4427643" y="3307396"/>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284448"/>
                  </a:solidFill>
                  <a:effectLst/>
                  <a:uLnTx/>
                  <a:uFillTx/>
                  <a:latin typeface="Tahoma"/>
                  <a:ea typeface="微软雅黑"/>
                  <a:cs typeface="+mn-cs"/>
                </a:rPr>
                <a:t>C4</a:t>
              </a:r>
              <a:endParaRPr kumimoji="0" lang="zh-CN" altLang="en-US" sz="14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7" name="TextBox 18"/>
            <p:cNvSpPr txBox="1"/>
            <p:nvPr/>
          </p:nvSpPr>
          <p:spPr>
            <a:xfrm>
              <a:off x="3413759" y="777280"/>
              <a:ext cx="670953" cy="338554"/>
            </a:xfrm>
            <a:prstGeom prst="rect">
              <a:avLst/>
            </a:prstGeom>
            <a:solidFill>
              <a:srgbClr val="FFFFFF"/>
            </a:solidFill>
            <a:ln w="25400" cap="flat" cmpd="sng" algn="ctr">
              <a:solidFill>
                <a:srgbClr val="92BCC2"/>
              </a:solidFill>
              <a:prstDash val="sysDot"/>
            </a:ln>
            <a:effectLst/>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cs typeface="+mn-cs"/>
                </a:rPr>
                <a:t>Input</a:t>
              </a:r>
              <a:endParaRPr kumimoji="0" lang="zh-CN" altLang="en-US" sz="16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8" name="TextBox 19"/>
            <p:cNvSpPr txBox="1"/>
            <p:nvPr/>
          </p:nvSpPr>
          <p:spPr>
            <a:xfrm>
              <a:off x="5900825" y="777280"/>
              <a:ext cx="776175" cy="338554"/>
            </a:xfrm>
            <a:prstGeom prst="rect">
              <a:avLst/>
            </a:prstGeom>
            <a:solidFill>
              <a:srgbClr val="FFFFFF"/>
            </a:solidFill>
            <a:ln w="25400" cap="flat" cmpd="sng" algn="ctr">
              <a:solidFill>
                <a:srgbClr val="92BCC2"/>
              </a:solidFill>
              <a:prstDash val="sysDot"/>
            </a:ln>
            <a:effectLst/>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cs typeface="+mn-cs"/>
                </a:rPr>
                <a:t>output</a:t>
              </a:r>
              <a:endParaRPr kumimoji="0" lang="zh-CN" altLang="en-US" sz="16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19" name="TextBox 20"/>
            <p:cNvSpPr txBox="1"/>
            <p:nvPr/>
          </p:nvSpPr>
          <p:spPr>
            <a:xfrm>
              <a:off x="918049" y="2251853"/>
              <a:ext cx="1157561" cy="338554"/>
            </a:xfrm>
            <a:prstGeom prst="rect">
              <a:avLst/>
            </a:prstGeom>
            <a:noFill/>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rPr>
                <a:t>Test Case1</a:t>
              </a:r>
              <a:endParaRPr kumimoji="0" lang="zh-CN" altLang="en-US" sz="1600" b="0" i="0" u="none" strike="noStrike" kern="0" cap="none" spc="0" normalizeH="0" baseline="0" noProof="0" dirty="0">
                <a:ln>
                  <a:noFill/>
                </a:ln>
                <a:solidFill>
                  <a:srgbClr val="284448"/>
                </a:solidFill>
                <a:effectLst/>
                <a:uLnTx/>
                <a:uFillTx/>
                <a:latin typeface="Tahoma"/>
                <a:ea typeface="微软雅黑"/>
              </a:endParaRPr>
            </a:p>
          </p:txBody>
        </p:sp>
        <p:sp>
          <p:nvSpPr>
            <p:cNvPr id="120" name="任意多边形 119"/>
            <p:cNvSpPr/>
            <p:nvPr/>
          </p:nvSpPr>
          <p:spPr>
            <a:xfrm>
              <a:off x="2011680" y="2396691"/>
              <a:ext cx="3945239" cy="45719"/>
            </a:xfrm>
            <a:custGeom>
              <a:avLst/>
              <a:gdLst>
                <a:gd name="connsiteX0" fmla="*/ 0 w 4581625"/>
                <a:gd name="connsiteY0" fmla="*/ 28875 h 28875"/>
                <a:gd name="connsiteX1" fmla="*/ 3782728 w 4581625"/>
                <a:gd name="connsiteY1" fmla="*/ 0 h 28875"/>
                <a:gd name="connsiteX2" fmla="*/ 4581625 w 4581625"/>
                <a:gd name="connsiteY2" fmla="*/ 9625 h 28875"/>
              </a:gdLst>
              <a:ahLst/>
              <a:cxnLst>
                <a:cxn ang="0">
                  <a:pos x="connsiteX0" y="connsiteY0"/>
                </a:cxn>
                <a:cxn ang="0">
                  <a:pos x="connsiteX1" y="connsiteY1"/>
                </a:cxn>
                <a:cxn ang="0">
                  <a:pos x="connsiteX2" y="connsiteY2"/>
                </a:cxn>
              </a:cxnLst>
              <a:rect l="l" t="t" r="r" b="b"/>
              <a:pathLst>
                <a:path w="4581625" h="28875">
                  <a:moveTo>
                    <a:pt x="0" y="28875"/>
                  </a:moveTo>
                  <a:lnTo>
                    <a:pt x="3782728" y="0"/>
                  </a:lnTo>
                  <a:lnTo>
                    <a:pt x="4581625" y="9625"/>
                  </a:lnTo>
                </a:path>
              </a:pathLst>
            </a:custGeom>
            <a:noFill/>
            <a:ln w="25400" cap="flat" cmpd="sng" algn="ctr">
              <a:solidFill>
                <a:srgbClr val="92BCC2">
                  <a:shade val="50000"/>
                </a:srgbClr>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endParaRPr kumimoji="0" lang="zh-CN" altLang="en-US" sz="1900" b="0" i="0" u="none" strike="noStrike" kern="0" cap="none" spc="0" normalizeH="0" baseline="0" noProof="0">
                <a:ln>
                  <a:noFill/>
                </a:ln>
                <a:solidFill>
                  <a:srgbClr val="FFFFFF"/>
                </a:solidFill>
                <a:effectLst/>
                <a:uLnTx/>
                <a:uFillTx/>
                <a:latin typeface="Tahoma"/>
                <a:ea typeface="微软雅黑"/>
                <a:cs typeface="+mn-cs"/>
              </a:endParaRPr>
            </a:p>
          </p:txBody>
        </p:sp>
        <p:sp>
          <p:nvSpPr>
            <p:cNvPr id="121" name="任意多边形 120"/>
            <p:cNvSpPr/>
            <p:nvPr/>
          </p:nvSpPr>
          <p:spPr>
            <a:xfrm>
              <a:off x="2023645" y="2734640"/>
              <a:ext cx="3933274" cy="45719"/>
            </a:xfrm>
            <a:custGeom>
              <a:avLst/>
              <a:gdLst>
                <a:gd name="connsiteX0" fmla="*/ 0 w 4581625"/>
                <a:gd name="connsiteY0" fmla="*/ 28875 h 28875"/>
                <a:gd name="connsiteX1" fmla="*/ 3782728 w 4581625"/>
                <a:gd name="connsiteY1" fmla="*/ 0 h 28875"/>
                <a:gd name="connsiteX2" fmla="*/ 4581625 w 4581625"/>
                <a:gd name="connsiteY2" fmla="*/ 9625 h 28875"/>
              </a:gdLst>
              <a:ahLst/>
              <a:cxnLst>
                <a:cxn ang="0">
                  <a:pos x="connsiteX0" y="connsiteY0"/>
                </a:cxn>
                <a:cxn ang="0">
                  <a:pos x="connsiteX1" y="connsiteY1"/>
                </a:cxn>
                <a:cxn ang="0">
                  <a:pos x="connsiteX2" y="connsiteY2"/>
                </a:cxn>
              </a:cxnLst>
              <a:rect l="l" t="t" r="r" b="b"/>
              <a:pathLst>
                <a:path w="4581625" h="28875">
                  <a:moveTo>
                    <a:pt x="0" y="28875"/>
                  </a:moveTo>
                  <a:lnTo>
                    <a:pt x="3782728" y="0"/>
                  </a:lnTo>
                  <a:lnTo>
                    <a:pt x="4581625" y="9625"/>
                  </a:lnTo>
                </a:path>
              </a:pathLst>
            </a:custGeom>
            <a:noFill/>
            <a:ln w="25400" cap="flat" cmpd="sng" algn="ctr">
              <a:solidFill>
                <a:srgbClr val="92BCC2">
                  <a:shade val="50000"/>
                </a:srgbClr>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endParaRPr kumimoji="0" lang="zh-CN" altLang="en-US" sz="1900" b="0" i="0" u="none" strike="noStrike" kern="0" cap="none" spc="0" normalizeH="0" baseline="0" noProof="0">
                <a:ln>
                  <a:noFill/>
                </a:ln>
                <a:solidFill>
                  <a:srgbClr val="FFFFFF"/>
                </a:solidFill>
                <a:effectLst/>
                <a:uLnTx/>
                <a:uFillTx/>
                <a:latin typeface="Tahoma"/>
                <a:ea typeface="微软雅黑"/>
                <a:cs typeface="+mn-cs"/>
              </a:endParaRPr>
            </a:p>
          </p:txBody>
        </p:sp>
        <p:sp>
          <p:nvSpPr>
            <p:cNvPr id="122" name="任意多边形 121"/>
            <p:cNvSpPr/>
            <p:nvPr/>
          </p:nvSpPr>
          <p:spPr>
            <a:xfrm>
              <a:off x="2023644" y="2825411"/>
              <a:ext cx="3933275" cy="356542"/>
            </a:xfrm>
            <a:custGeom>
              <a:avLst/>
              <a:gdLst>
                <a:gd name="connsiteX0" fmla="*/ 0 w 3794317"/>
                <a:gd name="connsiteY0" fmla="*/ 365929 h 365929"/>
                <a:gd name="connsiteX1" fmla="*/ 914400 w 3794317"/>
                <a:gd name="connsiteY1" fmla="*/ 260051 h 365929"/>
                <a:gd name="connsiteX2" fmla="*/ 1597793 w 3794317"/>
                <a:gd name="connsiteY2" fmla="*/ 169 h 365929"/>
                <a:gd name="connsiteX3" fmla="*/ 2175309 w 3794317"/>
                <a:gd name="connsiteY3" fmla="*/ 221550 h 365929"/>
                <a:gd name="connsiteX4" fmla="*/ 3599848 w 3794317"/>
                <a:gd name="connsiteY4" fmla="*/ 298553 h 365929"/>
                <a:gd name="connsiteX5" fmla="*/ 3744227 w 3794317"/>
                <a:gd name="connsiteY5" fmla="*/ 298553 h 365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94317" h="365929">
                  <a:moveTo>
                    <a:pt x="0" y="365929"/>
                  </a:moveTo>
                  <a:cubicBezTo>
                    <a:pt x="324050" y="343470"/>
                    <a:pt x="648101" y="321011"/>
                    <a:pt x="914400" y="260051"/>
                  </a:cubicBezTo>
                  <a:cubicBezTo>
                    <a:pt x="1180699" y="199091"/>
                    <a:pt x="1387642" y="6586"/>
                    <a:pt x="1597793" y="169"/>
                  </a:cubicBezTo>
                  <a:cubicBezTo>
                    <a:pt x="1807944" y="-6248"/>
                    <a:pt x="1841633" y="171819"/>
                    <a:pt x="2175309" y="221550"/>
                  </a:cubicBezTo>
                  <a:cubicBezTo>
                    <a:pt x="2508985" y="271281"/>
                    <a:pt x="3338362" y="285719"/>
                    <a:pt x="3599848" y="298553"/>
                  </a:cubicBezTo>
                  <a:cubicBezTo>
                    <a:pt x="3861334" y="311387"/>
                    <a:pt x="3802780" y="304970"/>
                    <a:pt x="3744227" y="298553"/>
                  </a:cubicBezTo>
                </a:path>
              </a:pathLst>
            </a:custGeom>
            <a:noFill/>
            <a:ln w="25400" cap="flat" cmpd="sng" algn="ctr">
              <a:solidFill>
                <a:srgbClr val="92BCC2">
                  <a:shade val="50000"/>
                </a:srgbClr>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endParaRPr kumimoji="0" lang="zh-CN" altLang="en-US" sz="1900" b="0" i="0" u="none" strike="noStrike" kern="0" cap="none" spc="0" normalizeH="0" baseline="0" noProof="0">
                <a:ln>
                  <a:noFill/>
                </a:ln>
                <a:solidFill>
                  <a:srgbClr val="FFFFFF"/>
                </a:solidFill>
                <a:effectLst/>
                <a:uLnTx/>
                <a:uFillTx/>
                <a:latin typeface="Tahoma"/>
                <a:ea typeface="微软雅黑"/>
                <a:cs typeface="+mn-cs"/>
              </a:endParaRPr>
            </a:p>
          </p:txBody>
        </p:sp>
        <p:sp>
          <p:nvSpPr>
            <p:cNvPr id="123" name="任意多边形 122"/>
            <p:cNvSpPr/>
            <p:nvPr/>
          </p:nvSpPr>
          <p:spPr>
            <a:xfrm>
              <a:off x="2023645" y="2839045"/>
              <a:ext cx="3933274" cy="746548"/>
            </a:xfrm>
            <a:custGeom>
              <a:avLst/>
              <a:gdLst>
                <a:gd name="connsiteX0" fmla="*/ 0 w 3709309"/>
                <a:gd name="connsiteY0" fmla="*/ 452795 h 704646"/>
                <a:gd name="connsiteX1" fmla="*/ 1232034 w 3709309"/>
                <a:gd name="connsiteY1" fmla="*/ 356542 h 704646"/>
                <a:gd name="connsiteX2" fmla="*/ 1925053 w 3709309"/>
                <a:gd name="connsiteY2" fmla="*/ 408 h 704646"/>
                <a:gd name="connsiteX3" fmla="*/ 2136809 w 3709309"/>
                <a:gd name="connsiteY3" fmla="*/ 433544 h 704646"/>
                <a:gd name="connsiteX4" fmla="*/ 3522846 w 3709309"/>
                <a:gd name="connsiteY4" fmla="*/ 674176 h 704646"/>
                <a:gd name="connsiteX5" fmla="*/ 3657600 w 3709309"/>
                <a:gd name="connsiteY5" fmla="*/ 693427 h 704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9309" h="704646">
                  <a:moveTo>
                    <a:pt x="0" y="452795"/>
                  </a:moveTo>
                  <a:cubicBezTo>
                    <a:pt x="455596" y="442367"/>
                    <a:pt x="911192" y="431940"/>
                    <a:pt x="1232034" y="356542"/>
                  </a:cubicBezTo>
                  <a:cubicBezTo>
                    <a:pt x="1552876" y="281144"/>
                    <a:pt x="1774257" y="-12426"/>
                    <a:pt x="1925053" y="408"/>
                  </a:cubicBezTo>
                  <a:cubicBezTo>
                    <a:pt x="2075849" y="13242"/>
                    <a:pt x="1870510" y="321249"/>
                    <a:pt x="2136809" y="433544"/>
                  </a:cubicBezTo>
                  <a:cubicBezTo>
                    <a:pt x="2403108" y="545839"/>
                    <a:pt x="3269381" y="630862"/>
                    <a:pt x="3522846" y="674176"/>
                  </a:cubicBezTo>
                  <a:cubicBezTo>
                    <a:pt x="3776311" y="717490"/>
                    <a:pt x="3716955" y="705458"/>
                    <a:pt x="3657600" y="693427"/>
                  </a:cubicBezTo>
                </a:path>
              </a:pathLst>
            </a:custGeom>
            <a:noFill/>
            <a:ln w="25400" cap="flat" cmpd="sng" algn="ctr">
              <a:solidFill>
                <a:srgbClr val="92BCC2">
                  <a:shade val="50000"/>
                </a:srgbClr>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endParaRPr kumimoji="0" lang="zh-CN" altLang="en-US" sz="1900" b="0" i="0" u="none" strike="noStrike" kern="0" cap="none" spc="0" normalizeH="0" baseline="0" noProof="0">
                <a:ln>
                  <a:noFill/>
                </a:ln>
                <a:solidFill>
                  <a:srgbClr val="FFFFFF"/>
                </a:solidFill>
                <a:effectLst/>
                <a:uLnTx/>
                <a:uFillTx/>
                <a:latin typeface="Tahoma"/>
                <a:ea typeface="微软雅黑"/>
                <a:cs typeface="+mn-cs"/>
              </a:endParaRPr>
            </a:p>
          </p:txBody>
        </p:sp>
        <p:sp>
          <p:nvSpPr>
            <p:cNvPr id="124" name="矩形 123"/>
            <p:cNvSpPr/>
            <p:nvPr/>
          </p:nvSpPr>
          <p:spPr>
            <a:xfrm>
              <a:off x="5956920" y="2199446"/>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4448"/>
                  </a:solidFill>
                  <a:effectLst/>
                  <a:uLnTx/>
                  <a:uFillTx/>
                  <a:latin typeface="Tahoma"/>
                  <a:ea typeface="微软雅黑"/>
                  <a:cs typeface="+mn-cs"/>
                </a:rPr>
                <a:t>Result1</a:t>
              </a:r>
              <a:endParaRPr kumimoji="0" lang="zh-CN" altLang="en-US" sz="12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25" name="矩形 124"/>
            <p:cNvSpPr/>
            <p:nvPr/>
          </p:nvSpPr>
          <p:spPr>
            <a:xfrm>
              <a:off x="5956920" y="2643642"/>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4448"/>
                  </a:solidFill>
                  <a:effectLst/>
                  <a:uLnTx/>
                  <a:uFillTx/>
                  <a:latin typeface="Tahoma"/>
                  <a:ea typeface="微软雅黑"/>
                  <a:cs typeface="+mn-cs"/>
                </a:rPr>
                <a:t>Result2</a:t>
              </a:r>
              <a:endParaRPr kumimoji="0" lang="zh-CN" altLang="en-US" sz="12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26" name="矩形 125"/>
            <p:cNvSpPr/>
            <p:nvPr/>
          </p:nvSpPr>
          <p:spPr>
            <a:xfrm>
              <a:off x="5956920" y="3081536"/>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4448"/>
                  </a:solidFill>
                  <a:effectLst/>
                  <a:uLnTx/>
                  <a:uFillTx/>
                  <a:latin typeface="Tahoma"/>
                  <a:ea typeface="微软雅黑"/>
                  <a:cs typeface="+mn-cs"/>
                </a:rPr>
                <a:t>Result3</a:t>
              </a:r>
              <a:endParaRPr kumimoji="0" lang="zh-CN" altLang="en-US" sz="12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27" name="矩形 126"/>
            <p:cNvSpPr/>
            <p:nvPr/>
          </p:nvSpPr>
          <p:spPr>
            <a:xfrm>
              <a:off x="5956920" y="3513584"/>
              <a:ext cx="737189" cy="360040"/>
            </a:xfrm>
            <a:prstGeom prst="rect">
              <a:avLst/>
            </a:prstGeom>
            <a:solidFill>
              <a:srgbClr val="FFFFFF"/>
            </a:solidFill>
            <a:ln w="25400" cap="flat" cmpd="sng" algn="ctr">
              <a:solidFill>
                <a:srgbClr val="284448"/>
              </a:solidFill>
              <a:prstDash val="solid"/>
            </a:ln>
            <a:effectLst/>
          </p:spPr>
          <p:txBody>
            <a:bodyPr rtlCol="0" anchor="ctr"/>
            <a:lstStyle/>
            <a:p>
              <a:pPr marL="0" marR="0" lvl="0" indent="0" algn="ctr" defTabSz="975299"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284448"/>
                  </a:solidFill>
                  <a:effectLst/>
                  <a:uLnTx/>
                  <a:uFillTx/>
                  <a:latin typeface="Tahoma"/>
                  <a:ea typeface="微软雅黑"/>
                  <a:cs typeface="+mn-cs"/>
                </a:rPr>
                <a:t>Result4</a:t>
              </a:r>
              <a:endParaRPr kumimoji="0" lang="zh-CN" altLang="en-US" sz="1200" b="0" i="0" u="none" strike="noStrike" kern="0" cap="none" spc="0" normalizeH="0" baseline="0" noProof="0" dirty="0">
                <a:ln>
                  <a:noFill/>
                </a:ln>
                <a:solidFill>
                  <a:srgbClr val="284448"/>
                </a:solidFill>
                <a:effectLst/>
                <a:uLnTx/>
                <a:uFillTx/>
                <a:latin typeface="Tahoma"/>
                <a:ea typeface="微软雅黑"/>
                <a:cs typeface="+mn-cs"/>
              </a:endParaRPr>
            </a:p>
          </p:txBody>
        </p:sp>
        <p:sp>
          <p:nvSpPr>
            <p:cNvPr id="128" name="TextBox 31"/>
            <p:cNvSpPr txBox="1"/>
            <p:nvPr/>
          </p:nvSpPr>
          <p:spPr>
            <a:xfrm>
              <a:off x="916360" y="2598966"/>
              <a:ext cx="1157561" cy="338554"/>
            </a:xfrm>
            <a:prstGeom prst="rect">
              <a:avLst/>
            </a:prstGeom>
            <a:noFill/>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rPr>
                <a:t>Test Case2</a:t>
              </a:r>
              <a:endParaRPr kumimoji="0" lang="zh-CN" altLang="en-US" sz="1600" b="0" i="0" u="none" strike="noStrike" kern="0" cap="none" spc="0" normalizeH="0" baseline="0" noProof="0" dirty="0">
                <a:ln>
                  <a:noFill/>
                </a:ln>
                <a:solidFill>
                  <a:srgbClr val="284448"/>
                </a:solidFill>
                <a:effectLst/>
                <a:uLnTx/>
                <a:uFillTx/>
                <a:latin typeface="Tahoma"/>
                <a:ea typeface="微软雅黑"/>
              </a:endParaRPr>
            </a:p>
          </p:txBody>
        </p:sp>
        <p:sp>
          <p:nvSpPr>
            <p:cNvPr id="129" name="TextBox 32"/>
            <p:cNvSpPr txBox="1"/>
            <p:nvPr/>
          </p:nvSpPr>
          <p:spPr>
            <a:xfrm>
              <a:off x="916360" y="2959006"/>
              <a:ext cx="1157561" cy="338554"/>
            </a:xfrm>
            <a:prstGeom prst="rect">
              <a:avLst/>
            </a:prstGeom>
            <a:noFill/>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rPr>
                <a:t>Test Case3</a:t>
              </a:r>
              <a:endParaRPr kumimoji="0" lang="zh-CN" altLang="en-US" sz="1600" b="0" i="0" u="none" strike="noStrike" kern="0" cap="none" spc="0" normalizeH="0" baseline="0" noProof="0" dirty="0">
                <a:ln>
                  <a:noFill/>
                </a:ln>
                <a:solidFill>
                  <a:srgbClr val="284448"/>
                </a:solidFill>
                <a:effectLst/>
                <a:uLnTx/>
                <a:uFillTx/>
                <a:latin typeface="Tahoma"/>
                <a:ea typeface="微软雅黑"/>
              </a:endParaRPr>
            </a:p>
          </p:txBody>
        </p:sp>
        <p:sp>
          <p:nvSpPr>
            <p:cNvPr id="130" name="TextBox 33"/>
            <p:cNvSpPr txBox="1"/>
            <p:nvPr/>
          </p:nvSpPr>
          <p:spPr>
            <a:xfrm>
              <a:off x="916360" y="3175030"/>
              <a:ext cx="1157561" cy="338554"/>
            </a:xfrm>
            <a:prstGeom prst="rect">
              <a:avLst/>
            </a:prstGeom>
            <a:noFill/>
          </p:spPr>
          <p:txBody>
            <a:bodyPr wrap="none" rtlCol="0">
              <a:spAutoFit/>
            </a:bodyPr>
            <a:lstStyle/>
            <a:p>
              <a:pPr marL="0" marR="0" lvl="0" indent="0" defTabSz="975299"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284448"/>
                  </a:solidFill>
                  <a:effectLst/>
                  <a:uLnTx/>
                  <a:uFillTx/>
                  <a:latin typeface="Tahoma"/>
                  <a:ea typeface="微软雅黑"/>
                </a:rPr>
                <a:t>Test Case4</a:t>
              </a:r>
              <a:endParaRPr kumimoji="0" lang="zh-CN" altLang="en-US" sz="1600" b="0" i="0" u="none" strike="noStrike" kern="0" cap="none" spc="0" normalizeH="0" baseline="0" noProof="0" dirty="0">
                <a:ln>
                  <a:noFill/>
                </a:ln>
                <a:solidFill>
                  <a:srgbClr val="284448"/>
                </a:solidFill>
                <a:effectLst/>
                <a:uLnTx/>
                <a:uFillTx/>
                <a:latin typeface="Tahoma"/>
                <a:ea typeface="微软雅黑"/>
              </a:endParaRPr>
            </a:p>
          </p:txBody>
        </p:sp>
      </p:grpSp>
      <p:sp>
        <p:nvSpPr>
          <p:cNvPr id="3" name="右箭头 2"/>
          <p:cNvSpPr/>
          <p:nvPr/>
        </p:nvSpPr>
        <p:spPr>
          <a:xfrm>
            <a:off x="7093599" y="1949909"/>
            <a:ext cx="659572" cy="48463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33" name="矩形 132"/>
          <p:cNvSpPr/>
          <p:nvPr/>
        </p:nvSpPr>
        <p:spPr>
          <a:xfrm>
            <a:off x="8071031" y="1856601"/>
            <a:ext cx="2119427" cy="738664"/>
          </a:xfrm>
          <a:prstGeom prst="rect">
            <a:avLst/>
          </a:prstGeom>
          <a:solidFill>
            <a:schemeClr val="tx2">
              <a:lumMod val="40000"/>
              <a:lumOff val="60000"/>
            </a:schemeClr>
          </a:solidFill>
          <a:ln>
            <a:solidFill>
              <a:schemeClr val="tx1"/>
            </a:solidFill>
          </a:ln>
        </p:spPr>
        <p:txBody>
          <a:bodyPr wrap="square">
            <a:spAutoFit/>
          </a:bodyPr>
          <a:lstStyle/>
          <a:p>
            <a:pPr lvl="0" defTabSz="975299">
              <a:defRPr/>
            </a:pPr>
            <a:r>
              <a:rPr lang="zh-CN" altLang="en-US" sz="1400" kern="0" dirty="0">
                <a:solidFill>
                  <a:srgbClr val="284448"/>
                </a:solidFill>
                <a:latin typeface="Tahoma"/>
                <a:ea typeface="微软雅黑"/>
              </a:rPr>
              <a:t>测试分析的结果：</a:t>
            </a:r>
            <a:endParaRPr lang="en-US" altLang="zh-CN" sz="1400" kern="0" dirty="0">
              <a:solidFill>
                <a:srgbClr val="284448"/>
              </a:solidFill>
              <a:latin typeface="Tahoma"/>
              <a:ea typeface="微软雅黑"/>
            </a:endParaRPr>
          </a:p>
          <a:p>
            <a:pPr marL="285750" lvl="0" indent="-285750" defTabSz="975299">
              <a:buFont typeface="Arial" panose="020B0604020202020204" pitchFamily="34" charset="0"/>
              <a:buChar char="•"/>
              <a:defRPr/>
            </a:pPr>
            <a:r>
              <a:rPr lang="zh-CN" altLang="en-US" sz="1400" kern="0" dirty="0">
                <a:solidFill>
                  <a:srgbClr val="284448"/>
                </a:solidFill>
                <a:latin typeface="Tahoma"/>
                <a:ea typeface="微软雅黑"/>
              </a:rPr>
              <a:t>“测试条件”</a:t>
            </a:r>
            <a:endParaRPr lang="en-US" altLang="zh-CN" sz="1400" kern="0" dirty="0">
              <a:solidFill>
                <a:srgbClr val="284448"/>
              </a:solidFill>
              <a:latin typeface="Tahoma"/>
              <a:ea typeface="微软雅黑"/>
            </a:endParaRPr>
          </a:p>
          <a:p>
            <a:pPr marL="285750" lvl="0" indent="-285750" defTabSz="975299">
              <a:buFont typeface="Arial" panose="020B0604020202020204" pitchFamily="34" charset="0"/>
              <a:buChar char="•"/>
              <a:defRPr/>
            </a:pPr>
            <a:r>
              <a:rPr lang="zh-CN" altLang="en-US" sz="1400" kern="0" dirty="0">
                <a:solidFill>
                  <a:srgbClr val="284448"/>
                </a:solidFill>
                <a:latin typeface="Tahoma"/>
                <a:ea typeface="微软雅黑"/>
              </a:rPr>
              <a:t>“测试数据”</a:t>
            </a:r>
          </a:p>
        </p:txBody>
      </p:sp>
      <p:sp>
        <p:nvSpPr>
          <p:cNvPr id="134" name="右箭头 133"/>
          <p:cNvSpPr/>
          <p:nvPr/>
        </p:nvSpPr>
        <p:spPr>
          <a:xfrm>
            <a:off x="7093599" y="3470088"/>
            <a:ext cx="659572" cy="48463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35" name="矩形 134"/>
          <p:cNvSpPr/>
          <p:nvPr/>
        </p:nvSpPr>
        <p:spPr>
          <a:xfrm>
            <a:off x="8071032" y="3401980"/>
            <a:ext cx="2268026" cy="738664"/>
          </a:xfrm>
          <a:prstGeom prst="rect">
            <a:avLst/>
          </a:prstGeom>
          <a:solidFill>
            <a:schemeClr val="tx2">
              <a:lumMod val="40000"/>
              <a:lumOff val="60000"/>
            </a:schemeClr>
          </a:solidFill>
          <a:ln>
            <a:solidFill>
              <a:schemeClr val="tx1"/>
            </a:solidFill>
          </a:ln>
        </p:spPr>
        <p:txBody>
          <a:bodyPr wrap="square">
            <a:spAutoFit/>
          </a:bodyPr>
          <a:lstStyle/>
          <a:p>
            <a:pPr marL="285750" lvl="0" indent="-285750" defTabSz="975299">
              <a:buFont typeface="Arial" panose="020B0604020202020204" pitchFamily="34" charset="0"/>
              <a:buChar char="•"/>
              <a:defRPr/>
            </a:pPr>
            <a:r>
              <a:rPr lang="zh-CN" altLang="en-US" sz="1400" kern="0" dirty="0">
                <a:solidFill>
                  <a:srgbClr val="284448"/>
                </a:solidFill>
                <a:latin typeface="Tahoma"/>
                <a:ea typeface="微软雅黑"/>
              </a:rPr>
              <a:t>测试设计确定因子的取值关系；</a:t>
            </a:r>
            <a:endParaRPr lang="en-US" altLang="zh-CN" sz="1400" kern="0" dirty="0">
              <a:solidFill>
                <a:srgbClr val="284448"/>
              </a:solidFill>
              <a:latin typeface="Tahoma"/>
              <a:ea typeface="微软雅黑"/>
            </a:endParaRPr>
          </a:p>
          <a:p>
            <a:pPr marL="285750" lvl="0" indent="-285750" defTabSz="975299">
              <a:buFont typeface="Arial" panose="020B0604020202020204" pitchFamily="34" charset="0"/>
              <a:buChar char="•"/>
              <a:defRPr/>
            </a:pPr>
            <a:r>
              <a:rPr lang="zh-CN" altLang="en-US" sz="1400" kern="0" dirty="0">
                <a:solidFill>
                  <a:srgbClr val="284448"/>
                </a:solidFill>
                <a:latin typeface="Tahoma"/>
                <a:ea typeface="微软雅黑"/>
              </a:rPr>
              <a:t>测试条件之间的关系</a:t>
            </a:r>
          </a:p>
        </p:txBody>
      </p:sp>
      <p:sp>
        <p:nvSpPr>
          <p:cNvPr id="7" name="矩形 6"/>
          <p:cNvSpPr/>
          <p:nvPr/>
        </p:nvSpPr>
        <p:spPr>
          <a:xfrm>
            <a:off x="2137215" y="5916482"/>
            <a:ext cx="7196907" cy="369332"/>
          </a:xfrm>
          <a:prstGeom prst="rect">
            <a:avLst/>
          </a:prstGeom>
          <a:solidFill>
            <a:schemeClr val="accent2">
              <a:lumMod val="40000"/>
              <a:lumOff val="60000"/>
            </a:schemeClr>
          </a:solidFill>
        </p:spPr>
        <p:txBody>
          <a:bodyPr wrap="square">
            <a:spAutoFit/>
          </a:bodyPr>
          <a:lstStyle/>
          <a:p>
            <a:pPr algn="ctr"/>
            <a:r>
              <a:rPr lang="zh-CN" altLang="en-US" b="1" dirty="0"/>
              <a:t>测试设计的关键点就是对测试数据进行组合分析时选择合适的方法</a:t>
            </a:r>
          </a:p>
        </p:txBody>
      </p:sp>
    </p:spTree>
    <p:extLst>
      <p:ext uri="{BB962C8B-B14F-4D97-AF65-F5344CB8AC3E}">
        <p14:creationId xmlns:p14="http://schemas.microsoft.com/office/powerpoint/2010/main" val="3018016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内容占位符 1">
            <a:extLst>
              <a:ext uri="{FF2B5EF4-FFF2-40B4-BE49-F238E27FC236}">
                <a16:creationId xmlns:a16="http://schemas.microsoft.com/office/drawing/2014/main" id="{170FEFEA-96BC-43E2-AE3C-319C13D40D99}"/>
              </a:ext>
            </a:extLst>
          </p:cNvPr>
          <p:cNvSpPr txBox="1">
            <a:spLocks/>
          </p:cNvSpPr>
          <p:nvPr/>
        </p:nvSpPr>
        <p:spPr>
          <a:xfrm>
            <a:off x="624840" y="1598559"/>
            <a:ext cx="9429816" cy="141624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000" dirty="0"/>
              <a:t>测试用例首先是一份文档，“易读性”是其中一个重要的关注点</a:t>
            </a:r>
            <a:endParaRPr kumimoji="1" lang="en-US" altLang="zh-CN" sz="2000" dirty="0"/>
          </a:p>
          <a:p>
            <a:pPr>
              <a:buFont typeface="Wingdings" panose="05000000000000000000" pitchFamily="2" charset="2"/>
              <a:buChar char="Ø"/>
            </a:pPr>
            <a:r>
              <a:rPr lang="zh-CN" altLang="en-US" sz="2000" dirty="0"/>
              <a:t>测试用例要有“可维护性”，这样才可能被继承</a:t>
            </a:r>
            <a:r>
              <a:rPr kumimoji="1" lang="zh-CN" altLang="en-US" sz="2000" dirty="0"/>
              <a:t>。</a:t>
            </a:r>
            <a:endParaRPr kumimoji="1" lang="en-US" altLang="zh-CN" sz="2000" dirty="0"/>
          </a:p>
          <a:p>
            <a:pPr>
              <a:buFont typeface="Wingdings" panose="05000000000000000000" pitchFamily="2" charset="2"/>
              <a:buChar char="Ø"/>
            </a:pPr>
            <a:r>
              <a:rPr lang="zh-CN" altLang="en-US" sz="2000" dirty="0"/>
              <a:t>测试用例要考虑测试执行，考虑自动化</a:t>
            </a:r>
            <a:r>
              <a:rPr kumimoji="1" lang="zh-CN" altLang="en-US" sz="2000" dirty="0"/>
              <a:t>。</a:t>
            </a:r>
          </a:p>
        </p:txBody>
      </p:sp>
      <p:sp>
        <p:nvSpPr>
          <p:cNvPr id="44" name="TextBox 3"/>
          <p:cNvSpPr txBox="1"/>
          <p:nvPr/>
        </p:nvSpPr>
        <p:spPr>
          <a:xfrm>
            <a:off x="695759" y="3960824"/>
            <a:ext cx="1733167" cy="400110"/>
          </a:xfrm>
          <a:prstGeom prst="rect">
            <a:avLst/>
          </a:prstGeom>
          <a:solidFill>
            <a:schemeClr val="tx1">
              <a:lumMod val="65000"/>
              <a:lumOff val="35000"/>
            </a:schemeClr>
          </a:solidFill>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zh-CN" altLang="en-US" sz="2000" b="1" dirty="0"/>
              <a:t>一些经验值：</a:t>
            </a:r>
          </a:p>
        </p:txBody>
      </p:sp>
      <p:sp>
        <p:nvSpPr>
          <p:cNvPr id="45" name="内容占位符 1">
            <a:extLst>
              <a:ext uri="{FF2B5EF4-FFF2-40B4-BE49-F238E27FC236}">
                <a16:creationId xmlns:a16="http://schemas.microsoft.com/office/drawing/2014/main" id="{170FEFEA-96BC-43E2-AE3C-319C13D40D99}"/>
              </a:ext>
            </a:extLst>
          </p:cNvPr>
          <p:cNvSpPr txBox="1">
            <a:spLocks/>
          </p:cNvSpPr>
          <p:nvPr/>
        </p:nvSpPr>
        <p:spPr>
          <a:xfrm>
            <a:off x="695759" y="4430783"/>
            <a:ext cx="9429816" cy="11823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0000"/>
              <a:buFont typeface="Wingdings" panose="05000000000000000000" pitchFamily="2" charset="2"/>
              <a:buChar char="p"/>
            </a:pPr>
            <a:r>
              <a:rPr lang="zh-CN" altLang="en-US" sz="1800" dirty="0"/>
              <a:t>“用例标题”的长度不超过</a:t>
            </a:r>
            <a:r>
              <a:rPr lang="en-US" altLang="zh-CN" sz="1800" dirty="0"/>
              <a:t>30</a:t>
            </a:r>
            <a:r>
              <a:rPr lang="zh-CN" altLang="en-US" sz="1800" dirty="0"/>
              <a:t>个字；</a:t>
            </a:r>
            <a:endParaRPr kumimoji="1" lang="en-US" altLang="zh-CN" sz="1800" dirty="0"/>
          </a:p>
          <a:p>
            <a:pPr>
              <a:buSzPct val="80000"/>
              <a:buFont typeface="Wingdings" panose="05000000000000000000" pitchFamily="2" charset="2"/>
              <a:buChar char="p"/>
            </a:pPr>
            <a:r>
              <a:rPr kumimoji="1" lang="zh-CN" altLang="en-US" sz="1800" dirty="0"/>
              <a:t>“测试步骤”建议最好控制在</a:t>
            </a:r>
            <a:r>
              <a:rPr kumimoji="1" lang="en-US" altLang="zh-CN" sz="1800" dirty="0"/>
              <a:t>5</a:t>
            </a:r>
            <a:r>
              <a:rPr kumimoji="1" lang="zh-CN" altLang="en-US" sz="1800" dirty="0"/>
              <a:t>步，不要超过</a:t>
            </a:r>
            <a:r>
              <a:rPr kumimoji="1" lang="en-US" altLang="zh-CN" sz="1800" dirty="0"/>
              <a:t>7</a:t>
            </a:r>
            <a:r>
              <a:rPr kumimoji="1" lang="zh-CN" altLang="en-US" sz="1800" dirty="0"/>
              <a:t>步，不要少于</a:t>
            </a:r>
            <a:r>
              <a:rPr kumimoji="1" lang="en-US" altLang="zh-CN" sz="1800" dirty="0"/>
              <a:t>3</a:t>
            </a:r>
            <a:r>
              <a:rPr kumimoji="1" lang="zh-CN" altLang="en-US" sz="1800" dirty="0"/>
              <a:t>步。</a:t>
            </a:r>
            <a:endParaRPr kumimoji="1" lang="en-US" altLang="zh-CN" sz="1800" dirty="0"/>
          </a:p>
          <a:p>
            <a:pPr>
              <a:buSzPct val="80000"/>
              <a:buFont typeface="Wingdings" panose="05000000000000000000" pitchFamily="2" charset="2"/>
              <a:buChar char="p"/>
            </a:pPr>
            <a:r>
              <a:rPr lang="zh-CN" altLang="en-US" sz="1800" dirty="0"/>
              <a:t>“预期结果”不要多于</a:t>
            </a:r>
            <a:r>
              <a:rPr lang="en-US" altLang="zh-CN" sz="1800" dirty="0"/>
              <a:t>5</a:t>
            </a:r>
            <a:r>
              <a:rPr lang="zh-CN" altLang="en-US" sz="1800" dirty="0"/>
              <a:t>个，不要少于</a:t>
            </a:r>
            <a:r>
              <a:rPr lang="en-US" altLang="zh-CN" sz="1800" dirty="0"/>
              <a:t>1</a:t>
            </a:r>
            <a:r>
              <a:rPr lang="zh-CN" altLang="en-US" sz="1800" dirty="0"/>
              <a:t>个</a:t>
            </a:r>
            <a:r>
              <a:rPr kumimoji="1" lang="zh-CN" altLang="en-US" sz="1800" dirty="0"/>
              <a:t>。</a:t>
            </a:r>
          </a:p>
        </p:txBody>
      </p:sp>
      <p:sp>
        <p:nvSpPr>
          <p:cNvPr id="46" name="TextBox 3"/>
          <p:cNvSpPr txBox="1"/>
          <p:nvPr/>
        </p:nvSpPr>
        <p:spPr>
          <a:xfrm>
            <a:off x="695759" y="1116728"/>
            <a:ext cx="2507418" cy="400110"/>
          </a:xfrm>
          <a:prstGeom prst="rect">
            <a:avLst/>
          </a:prstGeom>
          <a:solidFill>
            <a:schemeClr val="tx1">
              <a:lumMod val="65000"/>
              <a:lumOff val="35000"/>
            </a:schemeClr>
          </a:solidFill>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zh-CN" altLang="en-US" sz="2000" b="1" dirty="0"/>
              <a:t>用例输出总体原则：</a:t>
            </a:r>
          </a:p>
        </p:txBody>
      </p:sp>
    </p:spTree>
    <p:extLst>
      <p:ext uri="{BB962C8B-B14F-4D97-AF65-F5344CB8AC3E}">
        <p14:creationId xmlns:p14="http://schemas.microsoft.com/office/powerpoint/2010/main" val="933760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Box 2"/>
          <p:cNvSpPr txBox="1"/>
          <p:nvPr/>
        </p:nvSpPr>
        <p:spPr>
          <a:xfrm>
            <a:off x="759241" y="1037734"/>
            <a:ext cx="2262158" cy="369332"/>
          </a:xfrm>
          <a:prstGeom prst="rect">
            <a:avLst/>
          </a:prstGeom>
          <a:noFill/>
        </p:spPr>
        <p:txBody>
          <a:bodyPr wrap="none" rtlCol="0">
            <a:spAutoFit/>
          </a:bodyPr>
          <a:lstStyle/>
          <a:p>
            <a:r>
              <a:rPr lang="zh-CN" altLang="en-US" dirty="0"/>
              <a:t>推荐测试用例模板：</a:t>
            </a:r>
          </a:p>
        </p:txBody>
      </p:sp>
      <p:pic>
        <p:nvPicPr>
          <p:cNvPr id="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394" y="1407066"/>
            <a:ext cx="3493665" cy="18504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图片 2"/>
          <p:cNvPicPr>
            <a:picLocks noChangeAspect="1"/>
          </p:cNvPicPr>
          <p:nvPr/>
        </p:nvPicPr>
        <p:blipFill>
          <a:blip r:embed="rId3"/>
          <a:stretch>
            <a:fillRect/>
          </a:stretch>
        </p:blipFill>
        <p:spPr>
          <a:xfrm>
            <a:off x="798394" y="3726441"/>
            <a:ext cx="8519594" cy="2554561"/>
          </a:xfrm>
          <a:prstGeom prst="rect">
            <a:avLst/>
          </a:prstGeom>
        </p:spPr>
      </p:pic>
      <p:sp>
        <p:nvSpPr>
          <p:cNvPr id="11" name="TextBox 2"/>
          <p:cNvSpPr txBox="1"/>
          <p:nvPr/>
        </p:nvSpPr>
        <p:spPr>
          <a:xfrm>
            <a:off x="759241" y="3368157"/>
            <a:ext cx="877163" cy="369332"/>
          </a:xfrm>
          <a:prstGeom prst="rect">
            <a:avLst/>
          </a:prstGeom>
          <a:noFill/>
        </p:spPr>
        <p:txBody>
          <a:bodyPr wrap="none" rtlCol="0">
            <a:spAutoFit/>
          </a:bodyPr>
          <a:lstStyle/>
          <a:p>
            <a:r>
              <a:rPr lang="zh-CN" altLang="en-US" dirty="0"/>
              <a:t>样例：</a:t>
            </a:r>
          </a:p>
        </p:txBody>
      </p:sp>
      <p:graphicFrame>
        <p:nvGraphicFramePr>
          <p:cNvPr id="6" name="对象 5"/>
          <p:cNvGraphicFramePr>
            <a:graphicFrameLocks noChangeAspect="1"/>
          </p:cNvGraphicFramePr>
          <p:nvPr>
            <p:extLst>
              <p:ext uri="{D42A27DB-BD31-4B8C-83A1-F6EECF244321}">
                <p14:modId xmlns:p14="http://schemas.microsoft.com/office/powerpoint/2010/main" val="1437927910"/>
              </p:ext>
            </p:extLst>
          </p:nvPr>
        </p:nvGraphicFramePr>
        <p:xfrm>
          <a:off x="6392275" y="1991240"/>
          <a:ext cx="1167370" cy="1000495"/>
        </p:xfrm>
        <a:graphic>
          <a:graphicData uri="http://schemas.openxmlformats.org/presentationml/2006/ole">
            <mc:AlternateContent xmlns:mc="http://schemas.openxmlformats.org/markup-compatibility/2006">
              <mc:Choice xmlns:v="urn:schemas-microsoft-com:vml" Requires="v">
                <p:oleObj name="Worksheet" showAsIcon="1" r:id="rId4" imgW="914400" imgH="828720" progId="Excel.Sheet.12">
                  <p:embed/>
                </p:oleObj>
              </mc:Choice>
              <mc:Fallback>
                <p:oleObj name="Worksheet" showAsIcon="1" r:id="rId4" imgW="914400" imgH="828720" progId="Excel.Sheet.12">
                  <p:embed/>
                  <p:pic>
                    <p:nvPicPr>
                      <p:cNvPr id="6" name="对象 5"/>
                      <p:cNvPicPr/>
                      <p:nvPr/>
                    </p:nvPicPr>
                    <p:blipFill>
                      <a:blip r:embed="rId5"/>
                      <a:stretch>
                        <a:fillRect/>
                      </a:stretch>
                    </p:blipFill>
                    <p:spPr>
                      <a:xfrm>
                        <a:off x="6392275" y="1991240"/>
                        <a:ext cx="1167370" cy="1000495"/>
                      </a:xfrm>
                      <a:prstGeom prst="rect">
                        <a:avLst/>
                      </a:prstGeom>
                    </p:spPr>
                  </p:pic>
                </p:oleObj>
              </mc:Fallback>
            </mc:AlternateContent>
          </a:graphicData>
        </a:graphic>
      </p:graphicFrame>
    </p:spTree>
    <p:extLst>
      <p:ext uri="{BB962C8B-B14F-4D97-AF65-F5344CB8AC3E}">
        <p14:creationId xmlns:p14="http://schemas.microsoft.com/office/powerpoint/2010/main" val="1911989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1530204" y="1644254"/>
            <a:ext cx="8269119" cy="2677656"/>
          </a:xfrm>
          <a:prstGeom prst="rect">
            <a:avLst/>
          </a:prstGeom>
          <a:solidFill>
            <a:schemeClr val="bg2">
              <a:lumMod val="90000"/>
            </a:schemeClr>
          </a:solidFill>
          <a:ln>
            <a:noFill/>
          </a:ln>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zh-CN" altLang="en-US" sz="2400" dirty="0"/>
              <a:t>测</a:t>
            </a:r>
            <a:r>
              <a:rPr lang="zh-CN" altLang="zh-CN" sz="2400" dirty="0"/>
              <a:t>试用例并不是越细越好</a:t>
            </a:r>
            <a:r>
              <a:rPr lang="zh-CN" altLang="en-US" sz="2400" dirty="0"/>
              <a:t>：</a:t>
            </a:r>
            <a:r>
              <a:rPr lang="zh-CN" altLang="zh-CN" sz="2400" dirty="0"/>
              <a:t>测试用例过细，用例规模自然就会变得很庞大，过于庞大的用例在编写起来不仅会十分费时，也很难维护；</a:t>
            </a:r>
            <a:endParaRPr lang="en-US" altLang="zh-CN" sz="2400" dirty="0"/>
          </a:p>
          <a:p>
            <a:pPr marL="285750" indent="-285750">
              <a:buFont typeface="Wingdings" panose="05000000000000000000" pitchFamily="2" charset="2"/>
              <a:buChar char="Ø"/>
            </a:pPr>
            <a:endParaRPr lang="en-US" altLang="zh-CN" sz="2400" dirty="0"/>
          </a:p>
          <a:p>
            <a:pPr marL="285750" indent="-285750">
              <a:buFont typeface="Wingdings" panose="05000000000000000000" pitchFamily="2" charset="2"/>
              <a:buChar char="Ø"/>
            </a:pPr>
            <a:r>
              <a:rPr lang="zh-CN" altLang="zh-CN" sz="2400" dirty="0"/>
              <a:t>测试用例也不</a:t>
            </a:r>
            <a:r>
              <a:rPr lang="zh-CN" altLang="en-US" sz="2400" dirty="0"/>
              <a:t>是越粗越好：</a:t>
            </a:r>
            <a:r>
              <a:rPr lang="zh-CN" altLang="zh-CN" sz="2400" dirty="0"/>
              <a:t>太粗的测试用例，看似给了测试人员很多“发挥”的空间，但是也提高了测试执行漏测的风险，也很难对用例进行自动化。</a:t>
            </a:r>
            <a:endParaRPr lang="zh-CN" altLang="en-US" sz="2400" dirty="0"/>
          </a:p>
        </p:txBody>
      </p:sp>
    </p:spTree>
    <p:extLst>
      <p:ext uri="{BB962C8B-B14F-4D97-AF65-F5344CB8AC3E}">
        <p14:creationId xmlns:p14="http://schemas.microsoft.com/office/powerpoint/2010/main" val="874513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Part02</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基本用例设计方法</a:t>
            </a:r>
          </a:p>
        </p:txBody>
      </p:sp>
    </p:spTree>
    <p:extLst>
      <p:ext uri="{BB962C8B-B14F-4D97-AF65-F5344CB8AC3E}">
        <p14:creationId xmlns:p14="http://schemas.microsoft.com/office/powerpoint/2010/main" val="2828164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测试用例的定义和特征</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11318139" cy="2668588"/>
          </a:xfrm>
          <a:prstGeom prst="rect">
            <a:avLst/>
          </a:prstGeom>
        </p:spPr>
        <p:txBody>
          <a:bodyPr vert="horz" lIns="91440" tIns="45720" rIns="91440" bIns="45720" rtlCol="0">
            <a:normAutofit fontScale="85000" lnSpcReduction="20000"/>
          </a:bodyPr>
          <a:lstStyle/>
          <a:p>
            <a:pPr lvl="1" defTabSz="914400">
              <a:spcBef>
                <a:spcPct val="20000"/>
              </a:spcBef>
              <a:defRPr/>
            </a:pPr>
            <a:endParaRPr lang="zh-CN" altLang="en-US"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等价类划分方法：</a:t>
            </a:r>
            <a:endParaRPr lang="en-US" altLang="zh-CN"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边界值分析方法：</a:t>
            </a:r>
            <a:endParaRPr lang="en-US" altLang="zh-CN" sz="2400" dirty="0">
              <a:latin typeface="华文细黑" pitchFamily="2" charset="-122"/>
              <a:ea typeface="华文细黑" pitchFamily="2" charset="-122"/>
            </a:endParaRPr>
          </a:p>
          <a:p>
            <a:pPr marL="34290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正交实验设计方法</a:t>
            </a:r>
            <a:endParaRPr lang="en-US" altLang="zh-CN" sz="2400" dirty="0">
              <a:latin typeface="华文细黑" pitchFamily="2" charset="-122"/>
              <a:ea typeface="华文细黑" pitchFamily="2" charset="-122"/>
            </a:endParaRPr>
          </a:p>
          <a:p>
            <a:pPr marL="34290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判定表驱动分析方法</a:t>
            </a:r>
            <a:endParaRPr lang="en-US" altLang="zh-CN"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错误推测方法：</a:t>
            </a:r>
            <a:endParaRPr lang="en-US" altLang="zh-CN"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因果图方法：</a:t>
            </a:r>
            <a:endParaRPr lang="en-US" altLang="zh-CN"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功能图分析方法：</a:t>
            </a:r>
            <a:endParaRPr lang="en-US" altLang="zh-CN" sz="24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zh-CN" altLang="en-US" sz="2400" dirty="0">
              <a:latin typeface="华文细黑" pitchFamily="2" charset="-122"/>
              <a:ea typeface="华文细黑" pitchFamily="2" charset="-122"/>
            </a:endParaRPr>
          </a:p>
        </p:txBody>
      </p:sp>
    </p:spTree>
    <p:extLst>
      <p:ext uri="{BB962C8B-B14F-4D97-AF65-F5344CB8AC3E}">
        <p14:creationId xmlns:p14="http://schemas.microsoft.com/office/powerpoint/2010/main" val="414391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等价类划分方法</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14680" y="933237"/>
            <a:ext cx="10610427" cy="4247317"/>
          </a:xfrm>
          <a:prstGeom prst="rect">
            <a:avLst/>
          </a:prstGeom>
        </p:spPr>
        <p:txBody>
          <a:bodyPr wrap="square">
            <a:spAutoFit/>
          </a:bodyPr>
          <a:lstStyle/>
          <a:p>
            <a:pPr marL="285750" indent="-285750">
              <a:buFont typeface="Wingdings" panose="05000000000000000000" pitchFamily="2" charset="2"/>
              <a:buChar char="l"/>
            </a:pPr>
            <a:r>
              <a:rPr lang="zh-CN" altLang="en-US" dirty="0"/>
              <a:t>定义</a:t>
            </a:r>
          </a:p>
          <a:p>
            <a:pPr lvl="1"/>
            <a:r>
              <a:rPr lang="zh-CN" altLang="en-US" dirty="0"/>
              <a:t>是把所有可能的输入数据,即程序的输入域划分成若干部分（子集）,然后从每一个子集中选取少数具有代表性的数据作为测试用例。该方法是一种重要的,常用的黑盒测试用例设计方法。</a:t>
            </a:r>
          </a:p>
          <a:p>
            <a:r>
              <a:rPr lang="zh-CN" altLang="en-US" dirty="0"/>
              <a:t>    </a:t>
            </a:r>
          </a:p>
          <a:p>
            <a:pPr marL="285750" indent="-285750">
              <a:buFont typeface="Wingdings" panose="05000000000000000000" pitchFamily="2" charset="2"/>
              <a:buChar char="l"/>
            </a:pPr>
            <a:r>
              <a:rPr lang="zh-CN" altLang="en-US" dirty="0"/>
              <a:t>划分等价类：</a:t>
            </a:r>
          </a:p>
          <a:p>
            <a:pPr lvl="1"/>
            <a:r>
              <a:rPr lang="zh-CN" altLang="en-US" dirty="0"/>
              <a:t>等价类是指某个输入域的子集合。在该子集合中,各个输入数据对于揭露程序中的错误都是等效的，</a:t>
            </a:r>
            <a:r>
              <a:rPr lang="zh-CN" altLang="en-US" b="1" dirty="0">
                <a:solidFill>
                  <a:srgbClr val="FF0000"/>
                </a:solidFill>
              </a:rPr>
              <a:t>并合理地假定：测试某等价类的代表值就等于对这一类其它值的测试</a:t>
            </a:r>
            <a:r>
              <a:rPr lang="zh-CN" altLang="en-US" dirty="0"/>
              <a:t>，因此,可以把全部输入数据合理划分为若干等价类,在每一个等价类中取一个数据作为测试的输入条件就可以用少量代表性的测试数据取得较好的测试结果。等价类划分可有两种不同的情况：有效等价类和无效等价类。</a:t>
            </a:r>
          </a:p>
          <a:p>
            <a:r>
              <a:rPr lang="zh-CN" altLang="en-US" dirty="0"/>
              <a:t>   </a:t>
            </a:r>
          </a:p>
          <a:p>
            <a:pPr marL="285750" indent="-285750">
              <a:buFont typeface="Wingdings" panose="05000000000000000000" pitchFamily="2" charset="2"/>
              <a:buChar char="l"/>
            </a:pPr>
            <a:r>
              <a:rPr lang="zh-CN" altLang="en-US" dirty="0"/>
              <a:t>划分等价类的标准：</a:t>
            </a:r>
          </a:p>
          <a:p>
            <a:pPr marL="800089" lvl="1" indent="-342900">
              <a:buFont typeface="+mj-lt"/>
              <a:buAutoNum type="arabicPeriod"/>
            </a:pPr>
            <a:r>
              <a:rPr lang="zh-CN" altLang="en-US" dirty="0"/>
              <a:t>完备性</a:t>
            </a:r>
            <a:r>
              <a:rPr lang="en-US" altLang="zh-CN" dirty="0"/>
              <a:t>——</a:t>
            </a:r>
            <a:r>
              <a:rPr lang="zh-CN" altLang="en-US" dirty="0"/>
              <a:t>整个输入域提供一种形式的完备性（所有等价类的并集等于全集）</a:t>
            </a:r>
          </a:p>
          <a:p>
            <a:pPr marL="800089" lvl="1" indent="-342900">
              <a:buFont typeface="+mj-lt"/>
              <a:buAutoNum type="arabicPeriod"/>
            </a:pPr>
            <a:r>
              <a:rPr lang="zh-CN" altLang="en-US" dirty="0"/>
              <a:t>无冗余性</a:t>
            </a:r>
            <a:r>
              <a:rPr lang="en-US" altLang="zh-CN" dirty="0"/>
              <a:t>——</a:t>
            </a:r>
            <a:r>
              <a:rPr lang="zh-CN" altLang="en-US" dirty="0"/>
              <a:t>若互不相交则可保证一种形式的无冗余性</a:t>
            </a:r>
          </a:p>
          <a:p>
            <a:pPr marL="800089" lvl="1" indent="-342900">
              <a:buFont typeface="+mj-lt"/>
              <a:buAutoNum type="arabicPeriod"/>
            </a:pPr>
            <a:r>
              <a:rPr lang="zh-CN" altLang="en-US" dirty="0"/>
              <a:t>如何划分？</a:t>
            </a:r>
            <a:r>
              <a:rPr lang="en-US" altLang="zh-CN" dirty="0"/>
              <a:t>——</a:t>
            </a:r>
            <a:r>
              <a:rPr lang="zh-CN" altLang="en-US" dirty="0"/>
              <a:t>先从程序的规格说明书中找出各个输入条件，再为每个输入条件划分两个或多个等价类，形成若干的互不相交的子集。。</a:t>
            </a:r>
          </a:p>
        </p:txBody>
      </p:sp>
    </p:spTree>
    <p:extLst>
      <p:ext uri="{BB962C8B-B14F-4D97-AF65-F5344CB8AC3E}">
        <p14:creationId xmlns:p14="http://schemas.microsoft.com/office/powerpoint/2010/main" val="2433954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等价类划分方法</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6" name="表格 5"/>
          <p:cNvGraphicFramePr>
            <a:graphicFrameLocks noGrp="1"/>
          </p:cNvGraphicFramePr>
          <p:nvPr>
            <p:extLst>
              <p:ext uri="{D42A27DB-BD31-4B8C-83A1-F6EECF244321}">
                <p14:modId xmlns:p14="http://schemas.microsoft.com/office/powerpoint/2010/main" val="1723272532"/>
              </p:ext>
            </p:extLst>
          </p:nvPr>
        </p:nvGraphicFramePr>
        <p:xfrm>
          <a:off x="543375" y="1223108"/>
          <a:ext cx="10210800" cy="4678680"/>
        </p:xfrm>
        <a:graphic>
          <a:graphicData uri="http://schemas.openxmlformats.org/drawingml/2006/table">
            <a:tbl>
              <a:tblPr>
                <a:tableStyleId>{5C22544A-7EE6-4342-B048-85BDC9FD1C3A}</a:tableStyleId>
              </a:tblPr>
              <a:tblGrid>
                <a:gridCol w="1211873">
                  <a:extLst>
                    <a:ext uri="{9D8B030D-6E8A-4147-A177-3AD203B41FA5}">
                      <a16:colId xmlns:a16="http://schemas.microsoft.com/office/drawing/2014/main" val="4222987873"/>
                    </a:ext>
                  </a:extLst>
                </a:gridCol>
                <a:gridCol w="5354515">
                  <a:extLst>
                    <a:ext uri="{9D8B030D-6E8A-4147-A177-3AD203B41FA5}">
                      <a16:colId xmlns:a16="http://schemas.microsoft.com/office/drawing/2014/main" val="263167911"/>
                    </a:ext>
                  </a:extLst>
                </a:gridCol>
                <a:gridCol w="3644412">
                  <a:extLst>
                    <a:ext uri="{9D8B030D-6E8A-4147-A177-3AD203B41FA5}">
                      <a16:colId xmlns:a16="http://schemas.microsoft.com/office/drawing/2014/main" val="872868062"/>
                    </a:ext>
                  </a:extLst>
                </a:gridCol>
              </a:tblGrid>
              <a:tr h="175260">
                <a:tc>
                  <a:txBody>
                    <a:bodyPr/>
                    <a:lstStyle/>
                    <a:p>
                      <a:pPr algn="l" fontAlgn="ctr"/>
                      <a:r>
                        <a:rPr lang="zh-CN" altLang="en-US" sz="1600" u="none" strike="noStrike" dirty="0">
                          <a:effectLst/>
                        </a:rPr>
                        <a:t>类型</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a:effectLst/>
                        </a:rPr>
                        <a:t>划分方法</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a:effectLst/>
                        </a:rPr>
                        <a:t>举例</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2194622930"/>
                  </a:ext>
                </a:extLst>
              </a:tr>
              <a:tr h="175260">
                <a:tc>
                  <a:txBody>
                    <a:bodyPr/>
                    <a:lstStyle/>
                    <a:p>
                      <a:pPr algn="l" fontAlgn="ctr"/>
                      <a:r>
                        <a:rPr lang="zh-CN" altLang="en-US" sz="1600" u="none" strike="noStrike" dirty="0">
                          <a:effectLst/>
                        </a:rPr>
                        <a:t>范围</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dirty="0">
                          <a:effectLst/>
                        </a:rPr>
                        <a:t>（</a:t>
                      </a:r>
                      <a:r>
                        <a:rPr lang="en-US" altLang="zh-CN" sz="1600" u="none" strike="noStrike" dirty="0">
                          <a:effectLst/>
                        </a:rPr>
                        <a:t>1</a:t>
                      </a:r>
                      <a:r>
                        <a:rPr lang="zh-CN" altLang="en-US" sz="1600" u="none" strike="noStrike" dirty="0">
                          <a:effectLst/>
                        </a:rPr>
                        <a:t>）按照区间划分   在输入条件规定了取值范围或值的个数的情况下，可以确定一个有效等价类和两个无效等价类。</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en-US" sz="1600" u="none" strike="noStrike">
                          <a:effectLst/>
                        </a:rPr>
                        <a:t>VLAN</a:t>
                      </a:r>
                      <a:r>
                        <a:rPr lang="zh-CN" altLang="en-US" sz="1600" u="none" strike="noStrike">
                          <a:effectLst/>
                        </a:rPr>
                        <a:t>范围</a:t>
                      </a:r>
                      <a:r>
                        <a:rPr lang="en-US" altLang="zh-CN" sz="1600" u="none" strike="noStrike">
                          <a:effectLst/>
                        </a:rPr>
                        <a:t>=[1-4094]</a:t>
                      </a:r>
                      <a:endParaRPr lang="en-US" altLang="zh-CN"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2193376729"/>
                  </a:ext>
                </a:extLst>
              </a:tr>
              <a:tr h="350520">
                <a:tc>
                  <a:txBody>
                    <a:bodyPr/>
                    <a:lstStyle/>
                    <a:p>
                      <a:pPr algn="l" fontAlgn="ctr"/>
                      <a:r>
                        <a:rPr lang="zh-CN" altLang="en-US" sz="1600" u="none" strike="noStrike">
                          <a:effectLst/>
                        </a:rPr>
                        <a:t>枚举</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dirty="0">
                          <a:effectLst/>
                        </a:rPr>
                        <a:t>（</a:t>
                      </a:r>
                      <a:r>
                        <a:rPr lang="en-US" altLang="zh-CN" sz="1600" u="none" strike="noStrike" dirty="0">
                          <a:effectLst/>
                        </a:rPr>
                        <a:t>2</a:t>
                      </a:r>
                      <a:r>
                        <a:rPr lang="zh-CN" altLang="en-US" sz="1600" u="none" strike="noStrike" dirty="0">
                          <a:effectLst/>
                        </a:rPr>
                        <a:t>）按照数值划分   在规定了一组输入数据（假设包括 </a:t>
                      </a:r>
                      <a:r>
                        <a:rPr lang="en-US" altLang="zh-CN" sz="1600" u="none" strike="noStrike" dirty="0">
                          <a:effectLst/>
                        </a:rPr>
                        <a:t>n</a:t>
                      </a:r>
                      <a:r>
                        <a:rPr lang="zh-CN" altLang="en-US" sz="1600" u="none" strike="noStrike" dirty="0">
                          <a:effectLst/>
                        </a:rPr>
                        <a:t>个  输入值），并且程序要对每一个输入值分别进行处理的情况下，可确定 </a:t>
                      </a:r>
                      <a:r>
                        <a:rPr lang="en-US" altLang="zh-CN" sz="1600" u="none" strike="noStrike" dirty="0">
                          <a:effectLst/>
                        </a:rPr>
                        <a:t>n </a:t>
                      </a:r>
                      <a:r>
                        <a:rPr lang="zh-CN" altLang="en-US" sz="1600" u="none" strike="noStrike" dirty="0">
                          <a:effectLst/>
                        </a:rPr>
                        <a:t>个有效等价类（每个值确定一个有效等价类）和一个无效等价类（所有不允许的输入值的集合）。</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a:effectLst/>
                        </a:rPr>
                        <a:t>接口的状态</a:t>
                      </a:r>
                      <a:r>
                        <a:rPr lang="en-US" altLang="zh-CN" sz="1600" u="none" strike="noStrike">
                          <a:effectLst/>
                        </a:rPr>
                        <a:t>=</a:t>
                      </a:r>
                      <a:r>
                        <a:rPr lang="zh-CN" altLang="en-US" sz="1600" u="none" strike="noStrike">
                          <a:effectLst/>
                        </a:rPr>
                        <a:t>启用</a:t>
                      </a:r>
                      <a:r>
                        <a:rPr lang="en-US" altLang="zh-CN" sz="1600" u="none" strike="noStrike">
                          <a:effectLst/>
                        </a:rPr>
                        <a:t>,</a:t>
                      </a:r>
                      <a:r>
                        <a:rPr lang="zh-CN" altLang="en-US" sz="1600" u="none" strike="noStrike">
                          <a:effectLst/>
                        </a:rPr>
                        <a:t>禁用</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166708400"/>
                  </a:ext>
                </a:extLst>
              </a:tr>
              <a:tr h="350520">
                <a:tc>
                  <a:txBody>
                    <a:bodyPr/>
                    <a:lstStyle/>
                    <a:p>
                      <a:pPr algn="l" fontAlgn="ctr"/>
                      <a:r>
                        <a:rPr lang="zh-CN" altLang="en-US" sz="1600" u="none" strike="noStrike">
                          <a:effectLst/>
                        </a:rPr>
                        <a:t>单一限定条件</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dirty="0">
                          <a:effectLst/>
                        </a:rPr>
                        <a:t>（</a:t>
                      </a:r>
                      <a:r>
                        <a:rPr lang="en-US" altLang="zh-CN" sz="1600" u="none" strike="noStrike" dirty="0">
                          <a:effectLst/>
                        </a:rPr>
                        <a:t>3</a:t>
                      </a:r>
                      <a:r>
                        <a:rPr lang="zh-CN" altLang="en-US" sz="1600" u="none" strike="noStrike" dirty="0">
                          <a:effectLst/>
                        </a:rPr>
                        <a:t>）按照数值集合划分  在输入条件规定了输入值的集合或规定了“必须如何”的条件下，可以确定一个有效等价类和一个无效等价类（该集合有效值之外）。</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a:effectLst/>
                        </a:rPr>
                        <a:t>例如</a:t>
                      </a:r>
                      <a:r>
                        <a:rPr lang="en-US" sz="1600" u="none" strike="noStrike">
                          <a:effectLst/>
                        </a:rPr>
                        <a:t>a</a:t>
                      </a:r>
                      <a:r>
                        <a:rPr lang="zh-CN" altLang="en-US" sz="1600" u="none" strike="noStrike">
                          <a:effectLst/>
                        </a:rPr>
                        <a:t>的取值小于</a:t>
                      </a:r>
                      <a:r>
                        <a:rPr lang="en-US" sz="1600" u="none" strike="noStrike">
                          <a:effectLst/>
                        </a:rPr>
                        <a:t>b</a:t>
                      </a:r>
                      <a:endParaRPr 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582296405"/>
                  </a:ext>
                </a:extLst>
              </a:tr>
              <a:tr h="525780">
                <a:tc>
                  <a:txBody>
                    <a:bodyPr/>
                    <a:lstStyle/>
                    <a:p>
                      <a:pPr algn="l" fontAlgn="ctr"/>
                      <a:r>
                        <a:rPr lang="zh-CN" altLang="en-US" sz="1600" u="none" strike="noStrike">
                          <a:effectLst/>
                        </a:rPr>
                        <a:t>多限定条件</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dirty="0">
                          <a:effectLst/>
                        </a:rPr>
                        <a:t>（</a:t>
                      </a:r>
                      <a:r>
                        <a:rPr lang="en-US" altLang="zh-CN" sz="1600" u="none" strike="noStrike" dirty="0">
                          <a:effectLst/>
                        </a:rPr>
                        <a:t>4</a:t>
                      </a:r>
                      <a:r>
                        <a:rPr lang="zh-CN" altLang="en-US" sz="1600" u="none" strike="noStrike" dirty="0">
                          <a:effectLst/>
                        </a:rPr>
                        <a:t>）按照限制条件或规则划分   在规定了输入数据必须遵守的规则或限制条件的情况下，可确定一个有效等价类（符合规则）和若干个无效等价类（从不同角度违反规则）。</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a:effectLst/>
                        </a:rPr>
                        <a:t>例如三角形</a:t>
                      </a:r>
                      <a:br>
                        <a:rPr lang="zh-CN" altLang="en-US" sz="1600" u="none" strike="noStrike">
                          <a:effectLst/>
                        </a:rPr>
                      </a:br>
                      <a:r>
                        <a:rPr lang="zh-CN" altLang="en-US" sz="1600" u="none" strike="noStrike">
                          <a:effectLst/>
                        </a:rPr>
                        <a:t>任意两边之和大于第三边</a:t>
                      </a:r>
                      <a:br>
                        <a:rPr lang="zh-CN" altLang="en-US" sz="1600" u="none" strike="noStrike">
                          <a:effectLst/>
                        </a:rPr>
                      </a:br>
                      <a:r>
                        <a:rPr lang="zh-CN" altLang="en-US" sz="1600" u="none" strike="noStrike">
                          <a:effectLst/>
                        </a:rPr>
                        <a:t>任意两边之差小于低三边</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3193655875"/>
                  </a:ext>
                </a:extLst>
              </a:tr>
              <a:tr h="876300">
                <a:tc>
                  <a:txBody>
                    <a:bodyPr/>
                    <a:lstStyle/>
                    <a:p>
                      <a:pPr algn="l" fontAlgn="ctr"/>
                      <a:r>
                        <a:rPr lang="zh-CN" altLang="en-US" sz="1600" u="none" strike="noStrike">
                          <a:effectLst/>
                        </a:rPr>
                        <a:t>复杂限定条件</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dirty="0">
                          <a:effectLst/>
                        </a:rPr>
                        <a:t>（</a:t>
                      </a:r>
                      <a:r>
                        <a:rPr lang="en-US" altLang="zh-CN" sz="1600" u="none" strike="noStrike" dirty="0">
                          <a:effectLst/>
                        </a:rPr>
                        <a:t>5</a:t>
                      </a:r>
                      <a:r>
                        <a:rPr lang="zh-CN" altLang="en-US" sz="1600" u="none" strike="noStrike" dirty="0">
                          <a:effectLst/>
                        </a:rPr>
                        <a:t>）细分等价类  在确知已划分的等价类中各元素在程序中的处理方式不同的情况下，则应再将该等价类进一步划分为更小的等价类，并建立等价类表。 </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tc>
                  <a:txBody>
                    <a:bodyPr/>
                    <a:lstStyle/>
                    <a:p>
                      <a:pPr algn="l" fontAlgn="ctr"/>
                      <a:r>
                        <a:rPr lang="zh-CN" altLang="en-US" sz="1600" u="none" strike="noStrike" dirty="0">
                          <a:effectLst/>
                        </a:rPr>
                        <a:t>例如带掩码的</a:t>
                      </a:r>
                      <a:r>
                        <a:rPr lang="en-US" altLang="zh-CN" sz="1600" u="none" strike="noStrike" dirty="0">
                          <a:effectLst/>
                        </a:rPr>
                        <a:t>IP</a:t>
                      </a:r>
                      <a:r>
                        <a:rPr lang="zh-CN" altLang="en-US" sz="1600" u="none" strike="noStrike" dirty="0">
                          <a:effectLst/>
                        </a:rPr>
                        <a:t>单播地址</a:t>
                      </a:r>
                      <a:br>
                        <a:rPr lang="zh-CN" altLang="en-US" sz="1600" u="none" strike="noStrike" dirty="0">
                          <a:effectLst/>
                        </a:rPr>
                      </a:br>
                      <a:r>
                        <a:rPr lang="en-US" altLang="zh-CN" sz="1600" u="none" strike="noStrike" dirty="0">
                          <a:effectLst/>
                        </a:rPr>
                        <a:t>1</a:t>
                      </a:r>
                      <a:r>
                        <a:rPr lang="zh-CN" altLang="en-US" sz="1600" u="none" strike="noStrike" dirty="0">
                          <a:effectLst/>
                        </a:rPr>
                        <a:t>、四段点分十进制和掩码</a:t>
                      </a:r>
                      <a:br>
                        <a:rPr lang="zh-CN" altLang="en-US" sz="1600" u="none" strike="noStrike" dirty="0">
                          <a:effectLst/>
                        </a:rPr>
                      </a:br>
                      <a:r>
                        <a:rPr lang="en-US" altLang="zh-CN" sz="1600" u="none" strike="noStrike" dirty="0">
                          <a:effectLst/>
                        </a:rPr>
                        <a:t>2</a:t>
                      </a:r>
                      <a:r>
                        <a:rPr lang="zh-CN" altLang="en-US" sz="1600" u="none" strike="noStrike" dirty="0">
                          <a:effectLst/>
                        </a:rPr>
                        <a:t>、掩码长度为</a:t>
                      </a:r>
                      <a:r>
                        <a:rPr lang="en-US" altLang="zh-CN" sz="1600" u="none" strike="noStrike" dirty="0">
                          <a:effectLst/>
                        </a:rPr>
                        <a:t>1~322</a:t>
                      </a:r>
                      <a:br>
                        <a:rPr lang="en-US" altLang="zh-CN" sz="1600" u="none" strike="noStrike" dirty="0">
                          <a:effectLst/>
                        </a:rPr>
                      </a:br>
                      <a:r>
                        <a:rPr lang="en-US" altLang="zh-CN" sz="1600" u="none" strike="noStrike" dirty="0">
                          <a:effectLst/>
                        </a:rPr>
                        <a:t>3</a:t>
                      </a:r>
                      <a:r>
                        <a:rPr lang="zh-CN" altLang="en-US" sz="1600" u="none" strike="noStrike" dirty="0">
                          <a:effectLst/>
                        </a:rPr>
                        <a:t>、首位为</a:t>
                      </a:r>
                      <a:r>
                        <a:rPr lang="en-US" altLang="zh-CN" sz="1600" u="none" strike="noStrike" dirty="0">
                          <a:effectLst/>
                        </a:rPr>
                        <a:t>1~223</a:t>
                      </a:r>
                      <a:r>
                        <a:rPr lang="zh-CN" altLang="en-US" sz="1600" u="none" strike="noStrike" dirty="0">
                          <a:effectLst/>
                        </a:rPr>
                        <a:t>且不等于</a:t>
                      </a:r>
                      <a:r>
                        <a:rPr lang="en-US" altLang="zh-CN" sz="1600" u="none" strike="noStrike" dirty="0">
                          <a:effectLst/>
                        </a:rPr>
                        <a:t>127</a:t>
                      </a:r>
                    </a:p>
                    <a:p>
                      <a:pPr algn="l" fontAlgn="ctr"/>
                      <a:r>
                        <a:rPr lang="en-US" altLang="zh-CN" sz="1600" b="0" i="0" u="none" strike="noStrike" dirty="0">
                          <a:solidFill>
                            <a:srgbClr val="000000"/>
                          </a:solidFill>
                          <a:effectLst/>
                          <a:latin typeface="等线" panose="02010600030101010101" pitchFamily="2" charset="-122"/>
                          <a:ea typeface="等线" panose="02010600030101010101" pitchFamily="2" charset="-122"/>
                        </a:rPr>
                        <a:t>4</a:t>
                      </a:r>
                      <a:r>
                        <a:rPr lang="zh-CN" altLang="en-US" sz="1600" b="0" i="0" u="none" strike="noStrike" dirty="0">
                          <a:solidFill>
                            <a:srgbClr val="000000"/>
                          </a:solidFill>
                          <a:effectLst/>
                          <a:latin typeface="等线" panose="02010600030101010101" pitchFamily="2" charset="-122"/>
                          <a:ea typeface="等线" panose="02010600030101010101" pitchFamily="2" charset="-122"/>
                        </a:rPr>
                        <a:t>、非首段取值范围为</a:t>
                      </a:r>
                      <a:r>
                        <a:rPr lang="en-US" altLang="zh-CN" sz="1600" b="0" i="0" u="none" strike="noStrike" dirty="0">
                          <a:solidFill>
                            <a:srgbClr val="000000"/>
                          </a:solidFill>
                          <a:effectLst/>
                          <a:latin typeface="等线" panose="02010600030101010101" pitchFamily="2" charset="-122"/>
                          <a:ea typeface="等线" panose="02010600030101010101" pitchFamily="2" charset="-122"/>
                        </a:rPr>
                        <a:t>0~255</a:t>
                      </a:r>
                      <a:r>
                        <a:rPr lang="zh-CN" altLang="en-US" sz="1600" b="0" i="0" u="none" strike="noStrike" dirty="0">
                          <a:solidFill>
                            <a:srgbClr val="000000"/>
                          </a:solidFill>
                          <a:effectLst/>
                          <a:latin typeface="等线" panose="02010600030101010101" pitchFamily="2" charset="-122"/>
                          <a:ea typeface="等线" panose="02010600030101010101" pitchFamily="2" charset="-122"/>
                        </a:rPr>
                        <a:t>，且不能是网络地址或者广播地址</a:t>
                      </a:r>
                      <a:endParaRPr lang="en-US" altLang="zh-CN" sz="16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tc>
                <a:extLst>
                  <a:ext uri="{0D108BD9-81ED-4DB2-BD59-A6C34878D82A}">
                    <a16:rowId xmlns:a16="http://schemas.microsoft.com/office/drawing/2014/main" val="2831585860"/>
                  </a:ext>
                </a:extLst>
              </a:tr>
            </a:tbl>
          </a:graphicData>
        </a:graphic>
      </p:graphicFrame>
    </p:spTree>
    <p:extLst>
      <p:ext uri="{BB962C8B-B14F-4D97-AF65-F5344CB8AC3E}">
        <p14:creationId xmlns:p14="http://schemas.microsoft.com/office/powerpoint/2010/main" val="2397786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等价类划分</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实例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p:nvPicPr>
        <p:blipFill>
          <a:blip r:embed="rId2" cstate="print"/>
          <a:srcRect/>
          <a:stretch>
            <a:fillRect/>
          </a:stretch>
        </p:blipFill>
        <p:spPr bwMode="auto">
          <a:xfrm>
            <a:off x="624840" y="1662460"/>
            <a:ext cx="4229100" cy="4343400"/>
          </a:xfrm>
          <a:prstGeom prst="rect">
            <a:avLst/>
          </a:prstGeom>
          <a:noFill/>
          <a:ln w="9525">
            <a:noFill/>
            <a:miter lim="800000"/>
            <a:headEnd/>
            <a:tailEnd/>
          </a:ln>
        </p:spPr>
      </p:pic>
      <p:graphicFrame>
        <p:nvGraphicFramePr>
          <p:cNvPr id="10" name="表格 9"/>
          <p:cNvGraphicFramePr>
            <a:graphicFrameLocks noGrp="1"/>
          </p:cNvGraphicFramePr>
          <p:nvPr/>
        </p:nvGraphicFramePr>
        <p:xfrm>
          <a:off x="5266889" y="1689933"/>
          <a:ext cx="4824537" cy="4371311"/>
        </p:xfrm>
        <a:graphic>
          <a:graphicData uri="http://schemas.openxmlformats.org/drawingml/2006/table">
            <a:tbl>
              <a:tblPr/>
              <a:tblGrid>
                <a:gridCol w="1052265">
                  <a:extLst>
                    <a:ext uri="{9D8B030D-6E8A-4147-A177-3AD203B41FA5}">
                      <a16:colId xmlns:a16="http://schemas.microsoft.com/office/drawing/2014/main" val="20000"/>
                    </a:ext>
                  </a:extLst>
                </a:gridCol>
                <a:gridCol w="1886136">
                  <a:extLst>
                    <a:ext uri="{9D8B030D-6E8A-4147-A177-3AD203B41FA5}">
                      <a16:colId xmlns:a16="http://schemas.microsoft.com/office/drawing/2014/main" val="20001"/>
                    </a:ext>
                  </a:extLst>
                </a:gridCol>
                <a:gridCol w="1886136">
                  <a:extLst>
                    <a:ext uri="{9D8B030D-6E8A-4147-A177-3AD203B41FA5}">
                      <a16:colId xmlns:a16="http://schemas.microsoft.com/office/drawing/2014/main" val="20002"/>
                    </a:ext>
                  </a:extLst>
                </a:gridCol>
              </a:tblGrid>
              <a:tr h="300317">
                <a:tc>
                  <a:txBody>
                    <a:bodyPr/>
                    <a:lstStyle/>
                    <a:p>
                      <a:pPr algn="ctr">
                        <a:spcAft>
                          <a:spcPts val="0"/>
                        </a:spcAft>
                      </a:pPr>
                      <a:r>
                        <a:rPr lang="zh-CN" sz="1200" kern="100" dirty="0">
                          <a:solidFill>
                            <a:srgbClr val="000000"/>
                          </a:solidFill>
                          <a:latin typeface="华文细黑" pitchFamily="2" charset="-122"/>
                          <a:ea typeface="华文细黑" pitchFamily="2" charset="-122"/>
                        </a:rPr>
                        <a:t>输入条件</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200" kern="100" dirty="0">
                          <a:solidFill>
                            <a:srgbClr val="000000"/>
                          </a:solidFill>
                          <a:latin typeface="华文细黑" pitchFamily="2" charset="-122"/>
                          <a:ea typeface="华文细黑" pitchFamily="2" charset="-122"/>
                        </a:rPr>
                        <a:t>有效等价类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200" kern="100" dirty="0">
                          <a:solidFill>
                            <a:srgbClr val="000000"/>
                          </a:solidFill>
                          <a:latin typeface="华文细黑" pitchFamily="2" charset="-122"/>
                          <a:ea typeface="华文细黑" pitchFamily="2" charset="-122"/>
                        </a:rPr>
                        <a:t>无效等价类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0317">
                <a:tc>
                  <a:txBody>
                    <a:bodyPr/>
                    <a:lstStyle/>
                    <a:p>
                      <a:pPr algn="just">
                        <a:spcAft>
                          <a:spcPts val="0"/>
                        </a:spcAft>
                      </a:pPr>
                      <a:r>
                        <a:rPr lang="zh-CN" sz="1200" kern="100" dirty="0">
                          <a:solidFill>
                            <a:srgbClr val="000000"/>
                          </a:solidFill>
                          <a:latin typeface="华文细黑" pitchFamily="2" charset="-122"/>
                          <a:ea typeface="华文细黑" pitchFamily="2" charset="-122"/>
                        </a:rPr>
                        <a:t>打印机名称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可选择的打印机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0317">
                <a:tc>
                  <a:txBody>
                    <a:bodyPr/>
                    <a:lstStyle/>
                    <a:p>
                      <a:pPr algn="just">
                        <a:spcAft>
                          <a:spcPts val="0"/>
                        </a:spcAft>
                      </a:pPr>
                      <a:r>
                        <a:rPr lang="zh-CN" sz="1200" kern="100" dirty="0">
                          <a:solidFill>
                            <a:srgbClr val="000000"/>
                          </a:solidFill>
                          <a:latin typeface="华文细黑" pitchFamily="2" charset="-122"/>
                          <a:ea typeface="华文细黑" pitchFamily="2" charset="-122"/>
                        </a:rPr>
                        <a:t>打印到文件</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latin typeface="华文细黑" pitchFamily="2" charset="-122"/>
                          <a:ea typeface="华文细黑" pitchFamily="2" charset="-122"/>
                        </a:rPr>
                        <a:t>TRUE</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FALSE</a:t>
                      </a:r>
                      <a:endParaRPr lang="zh-CN"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3152">
                <a:tc>
                  <a:txBody>
                    <a:bodyPr/>
                    <a:lstStyle/>
                    <a:p>
                      <a:pPr algn="just">
                        <a:spcAft>
                          <a:spcPts val="0"/>
                        </a:spcAft>
                      </a:pPr>
                      <a:r>
                        <a:rPr lang="zh-CN" sz="1200" kern="100" dirty="0">
                          <a:solidFill>
                            <a:srgbClr val="000000"/>
                          </a:solidFill>
                          <a:latin typeface="华文细黑" pitchFamily="2" charset="-122"/>
                          <a:ea typeface="华文细黑" pitchFamily="2" charset="-122"/>
                        </a:rPr>
                        <a:t>打印范围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全部、当前幻灯片、幻灯片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9188">
                <a:tc>
                  <a:txBody>
                    <a:bodyPr/>
                    <a:lstStyle/>
                    <a:p>
                      <a:pPr algn="just">
                        <a:spcAft>
                          <a:spcPts val="0"/>
                        </a:spcAft>
                      </a:pPr>
                      <a:r>
                        <a:rPr lang="zh-CN" sz="1200" kern="100" dirty="0">
                          <a:solidFill>
                            <a:srgbClr val="000000"/>
                          </a:solidFill>
                          <a:latin typeface="华文细黑" pitchFamily="2" charset="-122"/>
                          <a:ea typeface="华文细黑" pitchFamily="2" charset="-122"/>
                        </a:rPr>
                        <a:t>幻灯片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不大于幻灯片总数的自然数集合</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小于</a:t>
                      </a:r>
                      <a:r>
                        <a:rPr lang="en-US" sz="1200" kern="100" dirty="0">
                          <a:solidFill>
                            <a:srgbClr val="000000"/>
                          </a:solidFill>
                          <a:latin typeface="华文细黑" pitchFamily="2" charset="-122"/>
                          <a:ea typeface="华文细黑" pitchFamily="2" charset="-122"/>
                        </a:rPr>
                        <a:t>1</a:t>
                      </a:r>
                      <a:r>
                        <a:rPr lang="zh-CN" sz="1200" kern="100" dirty="0">
                          <a:solidFill>
                            <a:srgbClr val="000000"/>
                          </a:solidFill>
                          <a:latin typeface="华文细黑" pitchFamily="2" charset="-122"/>
                          <a:ea typeface="华文细黑" pitchFamily="2" charset="-122"/>
                        </a:rPr>
                        <a:t>的整数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69188">
                <a:tc>
                  <a:txBody>
                    <a:bodyPr/>
                    <a:lstStyle/>
                    <a:p>
                      <a:pPr algn="just">
                        <a:spcAft>
                          <a:spcPts val="0"/>
                        </a:spcAft>
                      </a:pPr>
                      <a:r>
                        <a:rPr lang="zh-CN" sz="1200" kern="100" dirty="0">
                          <a:solidFill>
                            <a:srgbClr val="000000"/>
                          </a:solidFill>
                          <a:latin typeface="华文细黑" pitchFamily="2" charset="-122"/>
                          <a:ea typeface="华文细黑" pitchFamily="2" charset="-122"/>
                        </a:rPr>
                        <a:t>打印份数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latin typeface="华文细黑" pitchFamily="2" charset="-122"/>
                          <a:ea typeface="华文细黑" pitchFamily="2" charset="-122"/>
                        </a:rPr>
                        <a:t>[1</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32767]</a:t>
                      </a:r>
                      <a:endParaRPr lang="zh-CN"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小于</a:t>
                      </a:r>
                      <a:r>
                        <a:rPr lang="en-US" sz="1200" kern="100" dirty="0">
                          <a:solidFill>
                            <a:srgbClr val="000000"/>
                          </a:solidFill>
                          <a:latin typeface="华文细黑" pitchFamily="2" charset="-122"/>
                          <a:ea typeface="华文细黑" pitchFamily="2" charset="-122"/>
                        </a:rPr>
                        <a:t>1</a:t>
                      </a:r>
                      <a:r>
                        <a:rPr lang="zh-CN" sz="1200" kern="100" dirty="0">
                          <a:solidFill>
                            <a:srgbClr val="000000"/>
                          </a:solidFill>
                          <a:latin typeface="华文细黑" pitchFamily="2" charset="-122"/>
                          <a:ea typeface="华文细黑" pitchFamily="2" charset="-122"/>
                        </a:rPr>
                        <a:t>的整数，大于</a:t>
                      </a:r>
                      <a:r>
                        <a:rPr lang="en-US" sz="1200" kern="100" dirty="0">
                          <a:solidFill>
                            <a:srgbClr val="000000"/>
                          </a:solidFill>
                          <a:latin typeface="华文细黑" pitchFamily="2" charset="-122"/>
                          <a:ea typeface="华文细黑" pitchFamily="2" charset="-122"/>
                        </a:rPr>
                        <a:t>32767</a:t>
                      </a:r>
                      <a:r>
                        <a:rPr lang="zh-CN" sz="1200" kern="100" dirty="0">
                          <a:solidFill>
                            <a:srgbClr val="000000"/>
                          </a:solidFill>
                          <a:latin typeface="华文细黑" pitchFamily="2" charset="-122"/>
                          <a:ea typeface="华文细黑" pitchFamily="2" charset="-122"/>
                        </a:rPr>
                        <a:t>的整数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0317">
                <a:tc>
                  <a:txBody>
                    <a:bodyPr/>
                    <a:lstStyle/>
                    <a:p>
                      <a:pPr algn="just">
                        <a:spcAft>
                          <a:spcPts val="0"/>
                        </a:spcAft>
                      </a:pPr>
                      <a:r>
                        <a:rPr lang="zh-CN" sz="1200" kern="100" dirty="0">
                          <a:solidFill>
                            <a:srgbClr val="000000"/>
                          </a:solidFill>
                          <a:latin typeface="华文细黑" pitchFamily="2" charset="-122"/>
                          <a:ea typeface="华文细黑" pitchFamily="2" charset="-122"/>
                        </a:rPr>
                        <a:t>逐份打印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latin typeface="华文细黑" pitchFamily="2" charset="-122"/>
                          <a:ea typeface="华文细黑" pitchFamily="2" charset="-122"/>
                        </a:rPr>
                        <a:t>TRUE</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FALSE</a:t>
                      </a:r>
                      <a:endParaRPr lang="zh-CN"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9188">
                <a:tc>
                  <a:txBody>
                    <a:bodyPr/>
                    <a:lstStyle/>
                    <a:p>
                      <a:pPr algn="just">
                        <a:spcAft>
                          <a:spcPts val="0"/>
                        </a:spcAft>
                      </a:pPr>
                      <a:r>
                        <a:rPr lang="zh-CN" sz="1200" kern="100" dirty="0">
                          <a:solidFill>
                            <a:srgbClr val="000000"/>
                          </a:solidFill>
                          <a:latin typeface="华文细黑" pitchFamily="2" charset="-122"/>
                          <a:ea typeface="华文细黑" pitchFamily="2" charset="-122"/>
                        </a:rPr>
                        <a:t>打印内容</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幻灯片、讲义、备注页、大纲视图</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00317">
                <a:tc>
                  <a:txBody>
                    <a:bodyPr/>
                    <a:lstStyle/>
                    <a:p>
                      <a:pPr algn="just">
                        <a:spcAft>
                          <a:spcPts val="0"/>
                        </a:spcAft>
                      </a:pPr>
                      <a:r>
                        <a:rPr lang="zh-CN" sz="1200" kern="100" dirty="0">
                          <a:solidFill>
                            <a:srgbClr val="000000"/>
                          </a:solidFill>
                          <a:latin typeface="华文细黑" pitchFamily="2" charset="-122"/>
                          <a:ea typeface="华文细黑" pitchFamily="2" charset="-122"/>
                        </a:rPr>
                        <a:t>颜色</a:t>
                      </a:r>
                      <a:r>
                        <a:rPr lang="en-US" sz="1200" kern="100" dirty="0">
                          <a:solidFill>
                            <a:srgbClr val="000000"/>
                          </a:solidFill>
                          <a:latin typeface="华文细黑" pitchFamily="2" charset="-122"/>
                          <a:ea typeface="华文细黑" pitchFamily="2" charset="-122"/>
                        </a:rPr>
                        <a:t>/</a:t>
                      </a:r>
                      <a:r>
                        <a:rPr lang="zh-CN" sz="1200" kern="100" dirty="0">
                          <a:solidFill>
                            <a:srgbClr val="000000"/>
                          </a:solidFill>
                          <a:latin typeface="华文细黑" pitchFamily="2" charset="-122"/>
                          <a:ea typeface="华文细黑" pitchFamily="2" charset="-122"/>
                        </a:rPr>
                        <a:t>灰度</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颜色、灰度、纯黑白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69188">
                <a:tc>
                  <a:txBody>
                    <a:bodyPr/>
                    <a:lstStyle/>
                    <a:p>
                      <a:pPr algn="just">
                        <a:spcAft>
                          <a:spcPts val="0"/>
                        </a:spcAft>
                      </a:pPr>
                      <a:r>
                        <a:rPr lang="zh-CN" sz="1200" kern="100" dirty="0">
                          <a:solidFill>
                            <a:srgbClr val="000000"/>
                          </a:solidFill>
                          <a:latin typeface="华文细黑" pitchFamily="2" charset="-122"/>
                          <a:ea typeface="华文细黑" pitchFamily="2" charset="-122"/>
                        </a:rPr>
                        <a:t>每页幻灯片数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latin typeface="华文细黑" pitchFamily="2" charset="-122"/>
                          <a:ea typeface="华文细黑" pitchFamily="2" charset="-122"/>
                        </a:rPr>
                        <a:t>{1</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2</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3</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4</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6</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9}</a:t>
                      </a:r>
                      <a:endParaRPr lang="zh-CN"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除了</a:t>
                      </a:r>
                      <a:r>
                        <a:rPr lang="en-US" sz="1200" kern="100" dirty="0">
                          <a:solidFill>
                            <a:srgbClr val="000000"/>
                          </a:solidFill>
                          <a:latin typeface="华文细黑" pitchFamily="2" charset="-122"/>
                          <a:ea typeface="华文细黑" pitchFamily="2" charset="-122"/>
                        </a:rPr>
                        <a:t>1</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2</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3</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4</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6</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9</a:t>
                      </a:r>
                      <a:r>
                        <a:rPr lang="zh-CN" sz="1200" kern="100" dirty="0">
                          <a:solidFill>
                            <a:srgbClr val="000000"/>
                          </a:solidFill>
                          <a:latin typeface="华文细黑" pitchFamily="2" charset="-122"/>
                          <a:ea typeface="华文细黑" pitchFamily="2" charset="-122"/>
                        </a:rPr>
                        <a:t>以外 整数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00317">
                <a:tc>
                  <a:txBody>
                    <a:bodyPr/>
                    <a:lstStyle/>
                    <a:p>
                      <a:pPr algn="just">
                        <a:spcAft>
                          <a:spcPts val="0"/>
                        </a:spcAft>
                      </a:pPr>
                      <a:r>
                        <a:rPr lang="zh-CN" sz="1200" kern="100" dirty="0">
                          <a:solidFill>
                            <a:srgbClr val="000000"/>
                          </a:solidFill>
                          <a:latin typeface="华文细黑" pitchFamily="2" charset="-122"/>
                          <a:ea typeface="华文细黑" pitchFamily="2" charset="-122"/>
                        </a:rPr>
                        <a:t>顺序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solidFill>
                            <a:srgbClr val="000000"/>
                          </a:solidFill>
                          <a:latin typeface="华文细黑" pitchFamily="2" charset="-122"/>
                          <a:ea typeface="华文细黑" pitchFamily="2" charset="-122"/>
                        </a:rPr>
                        <a:t>水平、垂直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69188">
                <a:tc>
                  <a:txBody>
                    <a:bodyPr/>
                    <a:lstStyle/>
                    <a:p>
                      <a:pPr algn="just">
                        <a:spcAft>
                          <a:spcPts val="0"/>
                        </a:spcAft>
                      </a:pPr>
                      <a:r>
                        <a:rPr lang="zh-CN" sz="1200" kern="100" dirty="0">
                          <a:solidFill>
                            <a:srgbClr val="000000"/>
                          </a:solidFill>
                          <a:latin typeface="华文细黑" pitchFamily="2" charset="-122"/>
                          <a:ea typeface="华文细黑" pitchFamily="2" charset="-122"/>
                        </a:rPr>
                        <a:t>根据纸张调整大小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latin typeface="华文细黑" pitchFamily="2" charset="-122"/>
                          <a:ea typeface="华文细黑" pitchFamily="2" charset="-122"/>
                        </a:rPr>
                        <a:t>TRUE</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FALSE</a:t>
                      </a:r>
                      <a:endParaRPr lang="zh-CN"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00317">
                <a:tc>
                  <a:txBody>
                    <a:bodyPr/>
                    <a:lstStyle/>
                    <a:p>
                      <a:pPr algn="just">
                        <a:spcAft>
                          <a:spcPts val="0"/>
                        </a:spcAft>
                      </a:pPr>
                      <a:r>
                        <a:rPr lang="zh-CN" sz="1200" kern="100" dirty="0">
                          <a:solidFill>
                            <a:srgbClr val="000000"/>
                          </a:solidFill>
                          <a:latin typeface="华文细黑" pitchFamily="2" charset="-122"/>
                          <a:ea typeface="华文细黑" pitchFamily="2" charset="-122"/>
                        </a:rPr>
                        <a:t>幻灯片加框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solidFill>
                            <a:srgbClr val="000000"/>
                          </a:solidFill>
                          <a:latin typeface="华文细黑" pitchFamily="2" charset="-122"/>
                          <a:ea typeface="华文细黑" pitchFamily="2" charset="-122"/>
                        </a:rPr>
                        <a:t>TRUE</a:t>
                      </a:r>
                      <a:r>
                        <a:rPr lang="zh-CN" sz="1200" kern="100" dirty="0">
                          <a:solidFill>
                            <a:srgbClr val="000000"/>
                          </a:solidFill>
                          <a:latin typeface="华文细黑" pitchFamily="2" charset="-122"/>
                          <a:ea typeface="华文细黑" pitchFamily="2" charset="-122"/>
                        </a:rPr>
                        <a:t>、</a:t>
                      </a:r>
                      <a:r>
                        <a:rPr lang="en-US" sz="1200" kern="100" dirty="0">
                          <a:solidFill>
                            <a:srgbClr val="000000"/>
                          </a:solidFill>
                          <a:latin typeface="华文细黑" pitchFamily="2" charset="-122"/>
                          <a:ea typeface="华文细黑" pitchFamily="2" charset="-122"/>
                        </a:rPr>
                        <a:t>FALSE</a:t>
                      </a:r>
                      <a:endParaRPr lang="zh-CN"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solidFill>
                          <a:srgbClr val="000000"/>
                        </a:solidFill>
                        <a:latin typeface="华文细黑" pitchFamily="2" charset="-122"/>
                        <a:ea typeface="华文细黑"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11" name="TextBox 4"/>
          <p:cNvSpPr txBox="1"/>
          <p:nvPr/>
        </p:nvSpPr>
        <p:spPr>
          <a:xfrm>
            <a:off x="624840" y="954574"/>
            <a:ext cx="8496944" cy="707886"/>
          </a:xfrm>
          <a:prstGeom prst="rect">
            <a:avLst/>
          </a:prstGeom>
          <a:noFill/>
        </p:spPr>
        <p:txBody>
          <a:bodyPr wrap="square" rtlCol="0">
            <a:spAutoFit/>
          </a:bodyPr>
          <a:lstStyle/>
          <a:p>
            <a:pPr marL="274320" indent="-274320">
              <a:defRPr/>
            </a:pPr>
            <a:r>
              <a:rPr lang="zh-CN" altLang="zh-CN" sz="2000" b="1" dirty="0">
                <a:solidFill>
                  <a:srgbClr val="000000"/>
                </a:solidFill>
                <a:latin typeface="华文细黑" pitchFamily="2" charset="-122"/>
                <a:ea typeface="华文细黑" pitchFamily="2" charset="-122"/>
              </a:rPr>
              <a:t>举例：</a:t>
            </a:r>
            <a:endParaRPr lang="zh-CN" altLang="zh-CN" sz="2000" dirty="0">
              <a:solidFill>
                <a:srgbClr val="000000"/>
              </a:solidFill>
              <a:latin typeface="华文细黑" pitchFamily="2" charset="-122"/>
              <a:ea typeface="华文细黑" pitchFamily="2" charset="-122"/>
            </a:endParaRPr>
          </a:p>
          <a:p>
            <a:pPr marL="274320" indent="-274320">
              <a:defRPr/>
            </a:pPr>
            <a:r>
              <a:rPr lang="en-US" altLang="zh-CN" sz="2000" dirty="0">
                <a:solidFill>
                  <a:srgbClr val="000000"/>
                </a:solidFill>
                <a:latin typeface="华文细黑" pitchFamily="2" charset="-122"/>
                <a:ea typeface="华文细黑" pitchFamily="2" charset="-122"/>
              </a:rPr>
              <a:t>PowerPoint</a:t>
            </a:r>
            <a:r>
              <a:rPr lang="zh-CN" altLang="zh-CN" sz="2000" dirty="0">
                <a:solidFill>
                  <a:srgbClr val="000000"/>
                </a:solidFill>
                <a:latin typeface="华文细黑" pitchFamily="2" charset="-122"/>
                <a:ea typeface="华文细黑" pitchFamily="2" charset="-122"/>
              </a:rPr>
              <a:t>的打印功能界面用等价类方法，划分等价类</a:t>
            </a:r>
            <a:endParaRPr lang="zh-CN" altLang="en-US"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301826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4775971"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等价类划分</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带掩码</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IP</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地址</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2"/>
          <a:stretch>
            <a:fillRect/>
          </a:stretch>
        </p:blipFill>
        <p:spPr>
          <a:xfrm>
            <a:off x="543375" y="1057044"/>
            <a:ext cx="5351728" cy="5250752"/>
          </a:xfrm>
          <a:prstGeom prst="rect">
            <a:avLst/>
          </a:prstGeom>
        </p:spPr>
      </p:pic>
    </p:spTree>
    <p:extLst>
      <p:ext uri="{BB962C8B-B14F-4D97-AF65-F5344CB8AC3E}">
        <p14:creationId xmlns:p14="http://schemas.microsoft.com/office/powerpoint/2010/main" val="1737830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边界值分析</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21421" y="4982188"/>
            <a:ext cx="10590975" cy="1384995"/>
          </a:xfrm>
          <a:prstGeom prst="rect">
            <a:avLst/>
          </a:prstGeom>
        </p:spPr>
        <p:txBody>
          <a:bodyPr wrap="square">
            <a:spAutoFit/>
          </a:bodyPr>
          <a:lstStyle/>
          <a:p>
            <a:pPr indent="266700">
              <a:tabLst>
                <a:tab pos="495300" algn="l"/>
              </a:tabLst>
            </a:pPr>
            <a:r>
              <a:rPr lang="zh-CN" altLang="en-US" sz="1400" dirty="0">
                <a:solidFill>
                  <a:srgbClr val="000000"/>
                </a:solidFill>
                <a:latin typeface="华文细黑" pitchFamily="2" charset="-122"/>
                <a:ea typeface="华文细黑" pitchFamily="2" charset="-122"/>
                <a:cs typeface="Times New Roman" pitchFamily="18" charset="0"/>
              </a:rPr>
              <a:t>结合上图</a:t>
            </a:r>
            <a:endParaRPr lang="zh-CN" altLang="en-US" sz="1400" dirty="0">
              <a:latin typeface="华文细黑" pitchFamily="2" charset="-122"/>
              <a:ea typeface="华文细黑" pitchFamily="2" charset="-122"/>
            </a:endParaRPr>
          </a:p>
          <a:p>
            <a:pPr indent="266700" eaLnBrk="0" hangingPunct="0">
              <a:tabLst>
                <a:tab pos="495300" algn="l"/>
              </a:tabLst>
            </a:pPr>
            <a:r>
              <a:rPr lang="zh-CN" altLang="en-US" sz="1400" dirty="0">
                <a:solidFill>
                  <a:srgbClr val="000000"/>
                </a:solidFill>
                <a:latin typeface="华文细黑" pitchFamily="2" charset="-122"/>
                <a:ea typeface="华文细黑" pitchFamily="2" charset="-122"/>
                <a:cs typeface="Times New Roman" pitchFamily="18" charset="0"/>
              </a:rPr>
              <a:t>上点，就是边界上的点，不管它是开区间还是闭区间，就是说，如果该点是封闭的，那上点就在域范围内，如果该点是开放的，那上点就在域范围外；</a:t>
            </a:r>
            <a:endParaRPr lang="zh-CN" altLang="en-US" sz="1400" dirty="0">
              <a:latin typeface="华文细黑" pitchFamily="2" charset="-122"/>
              <a:ea typeface="华文细黑" pitchFamily="2" charset="-122"/>
            </a:endParaRPr>
          </a:p>
          <a:p>
            <a:pPr indent="266700" eaLnBrk="0" hangingPunct="0">
              <a:tabLst>
                <a:tab pos="495300" algn="l"/>
              </a:tabLst>
            </a:pPr>
            <a:r>
              <a:rPr lang="zh-CN" altLang="en-US" sz="1400" dirty="0">
                <a:solidFill>
                  <a:srgbClr val="000000"/>
                </a:solidFill>
                <a:latin typeface="华文细黑" pitchFamily="2" charset="-122"/>
                <a:ea typeface="华文细黑" pitchFamily="2" charset="-122"/>
                <a:cs typeface="Times New Roman" pitchFamily="18" charset="0"/>
              </a:rPr>
              <a:t>内点，就是在域范围内的任意一个点；</a:t>
            </a:r>
            <a:endParaRPr lang="zh-CN" altLang="en-US" sz="1400" dirty="0">
              <a:latin typeface="华文细黑" pitchFamily="2" charset="-122"/>
              <a:ea typeface="华文细黑" pitchFamily="2" charset="-122"/>
            </a:endParaRPr>
          </a:p>
          <a:p>
            <a:pPr indent="266700" eaLnBrk="0" hangingPunct="0">
              <a:tabLst>
                <a:tab pos="495300" algn="l"/>
              </a:tabLst>
            </a:pPr>
            <a:r>
              <a:rPr lang="zh-CN" altLang="en-US" sz="1400" dirty="0">
                <a:solidFill>
                  <a:srgbClr val="000000"/>
                </a:solidFill>
                <a:latin typeface="华文细黑" pitchFamily="2" charset="-122"/>
                <a:ea typeface="华文细黑" pitchFamily="2" charset="-122"/>
                <a:cs typeface="Times New Roman" pitchFamily="18" charset="0"/>
              </a:rPr>
              <a:t>离点，就是离上点最近的一个点，如果边界是封闭的，那离点就是域范围外离上点最近的点，如果边界是开放的，那离点就是域范围内离上点最近的点。</a:t>
            </a:r>
            <a:endParaRPr lang="en-US" altLang="zh-CN" sz="1400" dirty="0">
              <a:solidFill>
                <a:srgbClr val="000000"/>
              </a:solidFill>
              <a:latin typeface="华文细黑" pitchFamily="2" charset="-122"/>
              <a:ea typeface="华文细黑" pitchFamily="2" charset="-122"/>
              <a:cs typeface="Times New Roman" pitchFamily="18" charset="0"/>
            </a:endParaRPr>
          </a:p>
        </p:txBody>
      </p:sp>
      <p:grpSp>
        <p:nvGrpSpPr>
          <p:cNvPr id="7" name="Group 1"/>
          <p:cNvGrpSpPr>
            <a:grpSpLocks noChangeAspect="1"/>
          </p:cNvGrpSpPr>
          <p:nvPr/>
        </p:nvGrpSpPr>
        <p:grpSpPr bwMode="auto">
          <a:xfrm>
            <a:off x="670351" y="2582591"/>
            <a:ext cx="6084119" cy="2664296"/>
            <a:chOff x="2362" y="2703"/>
            <a:chExt cx="7200" cy="5025"/>
          </a:xfrm>
        </p:grpSpPr>
        <p:sp>
          <p:nvSpPr>
            <p:cNvPr id="8" name="AutoShape 63"/>
            <p:cNvSpPr>
              <a:spLocks noChangeAspect="1" noChangeArrowheads="1" noTextEdit="1"/>
            </p:cNvSpPr>
            <p:nvPr/>
          </p:nvSpPr>
          <p:spPr bwMode="auto">
            <a:xfrm>
              <a:off x="2362" y="2703"/>
              <a:ext cx="7200" cy="5025"/>
            </a:xfrm>
            <a:prstGeom prst="rect">
              <a:avLst/>
            </a:prstGeom>
            <a:noFill/>
            <a:ln w="9525">
              <a:noFill/>
              <a:miter lim="800000"/>
              <a:headEnd/>
              <a:tailEnd/>
            </a:ln>
          </p:spPr>
          <p:txBody>
            <a:bodyPr/>
            <a:lstStyle/>
            <a:p>
              <a:endParaRPr lang="zh-CN" altLang="en-US"/>
            </a:p>
          </p:txBody>
        </p:sp>
        <p:grpSp>
          <p:nvGrpSpPr>
            <p:cNvPr id="9" name="Group 2"/>
            <p:cNvGrpSpPr>
              <a:grpSpLocks/>
            </p:cNvGrpSpPr>
            <p:nvPr/>
          </p:nvGrpSpPr>
          <p:grpSpPr bwMode="auto">
            <a:xfrm>
              <a:off x="2675" y="3111"/>
              <a:ext cx="6731" cy="4617"/>
              <a:chOff x="2675" y="3111"/>
              <a:chExt cx="6731" cy="4617"/>
            </a:xfrm>
          </p:grpSpPr>
          <p:sp>
            <p:nvSpPr>
              <p:cNvPr id="10" name="Line 62"/>
              <p:cNvSpPr>
                <a:spLocks noChangeShapeType="1"/>
              </p:cNvSpPr>
              <p:nvPr/>
            </p:nvSpPr>
            <p:spPr bwMode="auto">
              <a:xfrm>
                <a:off x="4084" y="3246"/>
                <a:ext cx="5008" cy="1"/>
              </a:xfrm>
              <a:prstGeom prst="line">
                <a:avLst/>
              </a:prstGeom>
              <a:noFill/>
              <a:ln w="9525">
                <a:solidFill>
                  <a:srgbClr val="000000"/>
                </a:solidFill>
                <a:round/>
                <a:headEnd/>
                <a:tailEnd/>
              </a:ln>
            </p:spPr>
            <p:txBody>
              <a:bodyPr/>
              <a:lstStyle/>
              <a:p>
                <a:endParaRPr lang="zh-CN" altLang="en-US"/>
              </a:p>
            </p:txBody>
          </p:sp>
          <p:sp>
            <p:nvSpPr>
              <p:cNvPr id="11" name="Line 61"/>
              <p:cNvSpPr>
                <a:spLocks noChangeShapeType="1"/>
              </p:cNvSpPr>
              <p:nvPr/>
            </p:nvSpPr>
            <p:spPr bwMode="auto">
              <a:xfrm>
                <a:off x="5492" y="3246"/>
                <a:ext cx="1" cy="680"/>
              </a:xfrm>
              <a:prstGeom prst="line">
                <a:avLst/>
              </a:prstGeom>
              <a:noFill/>
              <a:ln w="9525">
                <a:solidFill>
                  <a:srgbClr val="000000"/>
                </a:solidFill>
                <a:round/>
                <a:headEnd/>
                <a:tailEnd/>
              </a:ln>
            </p:spPr>
            <p:txBody>
              <a:bodyPr/>
              <a:lstStyle/>
              <a:p>
                <a:endParaRPr lang="zh-CN" altLang="en-US"/>
              </a:p>
            </p:txBody>
          </p:sp>
          <p:sp>
            <p:nvSpPr>
              <p:cNvPr id="12" name="Line 60"/>
              <p:cNvSpPr>
                <a:spLocks noChangeShapeType="1"/>
              </p:cNvSpPr>
              <p:nvPr/>
            </p:nvSpPr>
            <p:spPr bwMode="auto">
              <a:xfrm>
                <a:off x="5492" y="3926"/>
                <a:ext cx="2505" cy="1"/>
              </a:xfrm>
              <a:prstGeom prst="line">
                <a:avLst/>
              </a:prstGeom>
              <a:noFill/>
              <a:ln w="9525">
                <a:solidFill>
                  <a:srgbClr val="000000"/>
                </a:solidFill>
                <a:round/>
                <a:headEnd/>
                <a:tailEnd/>
              </a:ln>
            </p:spPr>
            <p:txBody>
              <a:bodyPr/>
              <a:lstStyle/>
              <a:p>
                <a:endParaRPr lang="zh-CN" altLang="en-US"/>
              </a:p>
            </p:txBody>
          </p:sp>
          <p:sp>
            <p:nvSpPr>
              <p:cNvPr id="13" name="Line 59"/>
              <p:cNvSpPr>
                <a:spLocks noChangeShapeType="1"/>
              </p:cNvSpPr>
              <p:nvPr/>
            </p:nvSpPr>
            <p:spPr bwMode="auto">
              <a:xfrm flipV="1">
                <a:off x="7997" y="3246"/>
                <a:ext cx="1" cy="679"/>
              </a:xfrm>
              <a:prstGeom prst="line">
                <a:avLst/>
              </a:prstGeom>
              <a:noFill/>
              <a:ln w="9525">
                <a:solidFill>
                  <a:srgbClr val="000000"/>
                </a:solidFill>
                <a:round/>
                <a:headEnd/>
                <a:tailEnd/>
              </a:ln>
            </p:spPr>
            <p:txBody>
              <a:bodyPr/>
              <a:lstStyle/>
              <a:p>
                <a:endParaRPr lang="zh-CN" altLang="en-US"/>
              </a:p>
            </p:txBody>
          </p:sp>
          <p:sp>
            <p:nvSpPr>
              <p:cNvPr id="14" name="Line 58"/>
              <p:cNvSpPr>
                <a:spLocks noChangeShapeType="1"/>
              </p:cNvSpPr>
              <p:nvPr/>
            </p:nvSpPr>
            <p:spPr bwMode="auto">
              <a:xfrm flipH="1" flipV="1">
                <a:off x="7997" y="3382"/>
                <a:ext cx="313" cy="680"/>
              </a:xfrm>
              <a:prstGeom prst="line">
                <a:avLst/>
              </a:prstGeom>
              <a:noFill/>
              <a:ln w="9525">
                <a:solidFill>
                  <a:srgbClr val="000000"/>
                </a:solidFill>
                <a:round/>
                <a:headEnd/>
                <a:tailEnd type="triangle" w="med" len="med"/>
              </a:ln>
            </p:spPr>
            <p:txBody>
              <a:bodyPr/>
              <a:lstStyle/>
              <a:p>
                <a:endParaRPr lang="zh-CN" altLang="en-US"/>
              </a:p>
            </p:txBody>
          </p:sp>
          <p:sp>
            <p:nvSpPr>
              <p:cNvPr id="15" name="Line 57"/>
              <p:cNvSpPr>
                <a:spLocks noChangeShapeType="1"/>
              </p:cNvSpPr>
              <p:nvPr/>
            </p:nvSpPr>
            <p:spPr bwMode="auto">
              <a:xfrm flipV="1">
                <a:off x="6119" y="3382"/>
                <a:ext cx="467" cy="816"/>
              </a:xfrm>
              <a:prstGeom prst="line">
                <a:avLst/>
              </a:prstGeom>
              <a:noFill/>
              <a:ln w="9525">
                <a:solidFill>
                  <a:srgbClr val="000000"/>
                </a:solidFill>
                <a:round/>
                <a:headEnd/>
                <a:tailEnd type="triangle" w="med" len="med"/>
              </a:ln>
            </p:spPr>
            <p:txBody>
              <a:bodyPr/>
              <a:lstStyle/>
              <a:p>
                <a:endParaRPr lang="zh-CN" altLang="en-US"/>
              </a:p>
            </p:txBody>
          </p:sp>
          <p:sp>
            <p:nvSpPr>
              <p:cNvPr id="16" name="Line 56"/>
              <p:cNvSpPr>
                <a:spLocks noChangeShapeType="1"/>
              </p:cNvSpPr>
              <p:nvPr/>
            </p:nvSpPr>
            <p:spPr bwMode="auto">
              <a:xfrm flipV="1">
                <a:off x="4553" y="3382"/>
                <a:ext cx="470" cy="408"/>
              </a:xfrm>
              <a:prstGeom prst="line">
                <a:avLst/>
              </a:prstGeom>
              <a:noFill/>
              <a:ln w="9525">
                <a:solidFill>
                  <a:srgbClr val="000000"/>
                </a:solidFill>
                <a:round/>
                <a:headEnd/>
                <a:tailEnd type="triangle" w="med" len="med"/>
              </a:ln>
            </p:spPr>
            <p:txBody>
              <a:bodyPr/>
              <a:lstStyle/>
              <a:p>
                <a:endParaRPr lang="zh-CN" altLang="en-US"/>
              </a:p>
            </p:txBody>
          </p:sp>
          <p:sp>
            <p:nvSpPr>
              <p:cNvPr id="17" name="Line 55"/>
              <p:cNvSpPr>
                <a:spLocks noChangeShapeType="1"/>
              </p:cNvSpPr>
              <p:nvPr/>
            </p:nvSpPr>
            <p:spPr bwMode="auto">
              <a:xfrm>
                <a:off x="4084" y="4877"/>
                <a:ext cx="5008" cy="2"/>
              </a:xfrm>
              <a:prstGeom prst="line">
                <a:avLst/>
              </a:prstGeom>
              <a:noFill/>
              <a:ln w="9525">
                <a:solidFill>
                  <a:srgbClr val="000000"/>
                </a:solidFill>
                <a:round/>
                <a:headEnd/>
                <a:tailEnd/>
              </a:ln>
            </p:spPr>
            <p:txBody>
              <a:bodyPr/>
              <a:lstStyle/>
              <a:p>
                <a:endParaRPr lang="zh-CN" altLang="en-US"/>
              </a:p>
            </p:txBody>
          </p:sp>
          <p:sp>
            <p:nvSpPr>
              <p:cNvPr id="18" name="Line 54"/>
              <p:cNvSpPr>
                <a:spLocks noChangeShapeType="1"/>
              </p:cNvSpPr>
              <p:nvPr/>
            </p:nvSpPr>
            <p:spPr bwMode="auto">
              <a:xfrm>
                <a:off x="5492" y="4877"/>
                <a:ext cx="1" cy="680"/>
              </a:xfrm>
              <a:prstGeom prst="line">
                <a:avLst/>
              </a:prstGeom>
              <a:noFill/>
              <a:ln w="9525">
                <a:solidFill>
                  <a:srgbClr val="000000"/>
                </a:solidFill>
                <a:round/>
                <a:headEnd/>
                <a:tailEnd/>
              </a:ln>
            </p:spPr>
            <p:txBody>
              <a:bodyPr/>
              <a:lstStyle/>
              <a:p>
                <a:endParaRPr lang="zh-CN" altLang="en-US"/>
              </a:p>
            </p:txBody>
          </p:sp>
          <p:sp>
            <p:nvSpPr>
              <p:cNvPr id="19" name="Line 53"/>
              <p:cNvSpPr>
                <a:spLocks noChangeShapeType="1"/>
              </p:cNvSpPr>
              <p:nvPr/>
            </p:nvSpPr>
            <p:spPr bwMode="auto">
              <a:xfrm>
                <a:off x="5492" y="5557"/>
                <a:ext cx="2504" cy="1"/>
              </a:xfrm>
              <a:prstGeom prst="line">
                <a:avLst/>
              </a:prstGeom>
              <a:noFill/>
              <a:ln w="9525">
                <a:solidFill>
                  <a:srgbClr val="000000"/>
                </a:solidFill>
                <a:round/>
                <a:headEnd/>
                <a:tailEnd/>
              </a:ln>
            </p:spPr>
            <p:txBody>
              <a:bodyPr/>
              <a:lstStyle/>
              <a:p>
                <a:endParaRPr lang="zh-CN" altLang="en-US"/>
              </a:p>
            </p:txBody>
          </p:sp>
          <p:sp>
            <p:nvSpPr>
              <p:cNvPr id="20" name="Line 52"/>
              <p:cNvSpPr>
                <a:spLocks noChangeShapeType="1"/>
              </p:cNvSpPr>
              <p:nvPr/>
            </p:nvSpPr>
            <p:spPr bwMode="auto">
              <a:xfrm flipV="1">
                <a:off x="7996" y="4877"/>
                <a:ext cx="2" cy="679"/>
              </a:xfrm>
              <a:prstGeom prst="line">
                <a:avLst/>
              </a:prstGeom>
              <a:noFill/>
              <a:ln w="9525">
                <a:solidFill>
                  <a:srgbClr val="000000"/>
                </a:solidFill>
                <a:round/>
                <a:headEnd/>
                <a:tailEnd/>
              </a:ln>
            </p:spPr>
            <p:txBody>
              <a:bodyPr/>
              <a:lstStyle/>
              <a:p>
                <a:endParaRPr lang="zh-CN" altLang="en-US"/>
              </a:p>
            </p:txBody>
          </p:sp>
          <p:sp>
            <p:nvSpPr>
              <p:cNvPr id="21" name="Line 51"/>
              <p:cNvSpPr>
                <a:spLocks noChangeShapeType="1"/>
              </p:cNvSpPr>
              <p:nvPr/>
            </p:nvSpPr>
            <p:spPr bwMode="auto">
              <a:xfrm>
                <a:off x="4084" y="6371"/>
                <a:ext cx="5008" cy="2"/>
              </a:xfrm>
              <a:prstGeom prst="line">
                <a:avLst/>
              </a:prstGeom>
              <a:noFill/>
              <a:ln w="9525">
                <a:solidFill>
                  <a:srgbClr val="000000"/>
                </a:solidFill>
                <a:round/>
                <a:headEnd/>
                <a:tailEnd/>
              </a:ln>
            </p:spPr>
            <p:txBody>
              <a:bodyPr/>
              <a:lstStyle/>
              <a:p>
                <a:endParaRPr lang="zh-CN" altLang="en-US"/>
              </a:p>
            </p:txBody>
          </p:sp>
          <p:sp>
            <p:nvSpPr>
              <p:cNvPr id="22" name="Line 50"/>
              <p:cNvSpPr>
                <a:spLocks noChangeShapeType="1"/>
              </p:cNvSpPr>
              <p:nvPr/>
            </p:nvSpPr>
            <p:spPr bwMode="auto">
              <a:xfrm>
                <a:off x="5492" y="6371"/>
                <a:ext cx="1" cy="681"/>
              </a:xfrm>
              <a:prstGeom prst="line">
                <a:avLst/>
              </a:prstGeom>
              <a:noFill/>
              <a:ln w="9525">
                <a:solidFill>
                  <a:srgbClr val="000000"/>
                </a:solidFill>
                <a:round/>
                <a:headEnd/>
                <a:tailEnd/>
              </a:ln>
            </p:spPr>
            <p:txBody>
              <a:bodyPr/>
              <a:lstStyle/>
              <a:p>
                <a:endParaRPr lang="zh-CN" altLang="en-US"/>
              </a:p>
            </p:txBody>
          </p:sp>
          <p:sp>
            <p:nvSpPr>
              <p:cNvPr id="23" name="Line 49"/>
              <p:cNvSpPr>
                <a:spLocks noChangeShapeType="1"/>
              </p:cNvSpPr>
              <p:nvPr/>
            </p:nvSpPr>
            <p:spPr bwMode="auto">
              <a:xfrm>
                <a:off x="5492" y="7052"/>
                <a:ext cx="2504" cy="1"/>
              </a:xfrm>
              <a:prstGeom prst="line">
                <a:avLst/>
              </a:prstGeom>
              <a:noFill/>
              <a:ln w="9525">
                <a:solidFill>
                  <a:srgbClr val="000000"/>
                </a:solidFill>
                <a:round/>
                <a:headEnd/>
                <a:tailEnd/>
              </a:ln>
            </p:spPr>
            <p:txBody>
              <a:bodyPr/>
              <a:lstStyle/>
              <a:p>
                <a:endParaRPr lang="zh-CN" altLang="en-US"/>
              </a:p>
            </p:txBody>
          </p:sp>
          <p:sp>
            <p:nvSpPr>
              <p:cNvPr id="24" name="Line 48"/>
              <p:cNvSpPr>
                <a:spLocks noChangeShapeType="1"/>
              </p:cNvSpPr>
              <p:nvPr/>
            </p:nvSpPr>
            <p:spPr bwMode="auto">
              <a:xfrm flipV="1">
                <a:off x="7996" y="6371"/>
                <a:ext cx="2" cy="680"/>
              </a:xfrm>
              <a:prstGeom prst="line">
                <a:avLst/>
              </a:prstGeom>
              <a:noFill/>
              <a:ln w="9525">
                <a:solidFill>
                  <a:srgbClr val="000000"/>
                </a:solidFill>
                <a:round/>
                <a:headEnd/>
                <a:tailEnd/>
              </a:ln>
            </p:spPr>
            <p:txBody>
              <a:bodyPr/>
              <a:lstStyle/>
              <a:p>
                <a:endParaRPr lang="zh-CN" altLang="en-US"/>
              </a:p>
            </p:txBody>
          </p:sp>
          <p:sp>
            <p:nvSpPr>
              <p:cNvPr id="25" name="Line 47"/>
              <p:cNvSpPr>
                <a:spLocks noChangeShapeType="1"/>
              </p:cNvSpPr>
              <p:nvPr/>
            </p:nvSpPr>
            <p:spPr bwMode="auto">
              <a:xfrm flipH="1" flipV="1">
                <a:off x="8466" y="3382"/>
                <a:ext cx="313" cy="272"/>
              </a:xfrm>
              <a:prstGeom prst="line">
                <a:avLst/>
              </a:prstGeom>
              <a:noFill/>
              <a:ln w="9525">
                <a:solidFill>
                  <a:srgbClr val="000000"/>
                </a:solidFill>
                <a:round/>
                <a:headEnd/>
                <a:tailEnd type="triangle" w="med" len="med"/>
              </a:ln>
            </p:spPr>
            <p:txBody>
              <a:bodyPr/>
              <a:lstStyle/>
              <a:p>
                <a:endParaRPr lang="zh-CN" altLang="en-US"/>
              </a:p>
            </p:txBody>
          </p:sp>
          <p:sp>
            <p:nvSpPr>
              <p:cNvPr id="26" name="Oval 46"/>
              <p:cNvSpPr>
                <a:spLocks noChangeArrowheads="1"/>
              </p:cNvSpPr>
              <p:nvPr/>
            </p:nvSpPr>
            <p:spPr bwMode="auto">
              <a:xfrm>
                <a:off x="5336" y="3111"/>
                <a:ext cx="313" cy="272"/>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27" name="Line 45"/>
              <p:cNvSpPr>
                <a:spLocks noChangeShapeType="1"/>
              </p:cNvSpPr>
              <p:nvPr/>
            </p:nvSpPr>
            <p:spPr bwMode="auto">
              <a:xfrm flipV="1">
                <a:off x="5179" y="3382"/>
                <a:ext cx="313" cy="680"/>
              </a:xfrm>
              <a:prstGeom prst="line">
                <a:avLst/>
              </a:prstGeom>
              <a:noFill/>
              <a:ln w="9525">
                <a:solidFill>
                  <a:srgbClr val="000000"/>
                </a:solidFill>
                <a:round/>
                <a:headEnd/>
                <a:tailEnd type="triangle" w="med" len="med"/>
              </a:ln>
            </p:spPr>
            <p:txBody>
              <a:bodyPr/>
              <a:lstStyle/>
              <a:p>
                <a:endParaRPr lang="zh-CN" altLang="en-US"/>
              </a:p>
            </p:txBody>
          </p:sp>
          <p:sp>
            <p:nvSpPr>
              <p:cNvPr id="28" name="Oval 44"/>
              <p:cNvSpPr>
                <a:spLocks noChangeArrowheads="1"/>
              </p:cNvSpPr>
              <p:nvPr/>
            </p:nvSpPr>
            <p:spPr bwMode="auto">
              <a:xfrm>
                <a:off x="6432" y="3111"/>
                <a:ext cx="313" cy="272"/>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29" name="Oval 43"/>
              <p:cNvSpPr>
                <a:spLocks noChangeArrowheads="1"/>
              </p:cNvSpPr>
              <p:nvPr/>
            </p:nvSpPr>
            <p:spPr bwMode="auto">
              <a:xfrm>
                <a:off x="7840" y="3111"/>
                <a:ext cx="313" cy="272"/>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30" name="Oval 42"/>
              <p:cNvSpPr>
                <a:spLocks noChangeArrowheads="1"/>
              </p:cNvSpPr>
              <p:nvPr/>
            </p:nvSpPr>
            <p:spPr bwMode="auto">
              <a:xfrm>
                <a:off x="5023" y="3111"/>
                <a:ext cx="313" cy="272"/>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31" name="Oval 41"/>
              <p:cNvSpPr>
                <a:spLocks noChangeArrowheads="1"/>
              </p:cNvSpPr>
              <p:nvPr/>
            </p:nvSpPr>
            <p:spPr bwMode="auto">
              <a:xfrm>
                <a:off x="8153" y="3111"/>
                <a:ext cx="313" cy="272"/>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32" name="Oval 40"/>
              <p:cNvSpPr>
                <a:spLocks noChangeArrowheads="1"/>
              </p:cNvSpPr>
              <p:nvPr/>
            </p:nvSpPr>
            <p:spPr bwMode="auto">
              <a:xfrm>
                <a:off x="6432" y="4741"/>
                <a:ext cx="312" cy="273"/>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33" name="Oval 39"/>
              <p:cNvSpPr>
                <a:spLocks noChangeArrowheads="1"/>
              </p:cNvSpPr>
              <p:nvPr/>
            </p:nvSpPr>
            <p:spPr bwMode="auto">
              <a:xfrm>
                <a:off x="7839" y="4741"/>
                <a:ext cx="313" cy="273"/>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34" name="Oval 38"/>
              <p:cNvSpPr>
                <a:spLocks noChangeArrowheads="1"/>
              </p:cNvSpPr>
              <p:nvPr/>
            </p:nvSpPr>
            <p:spPr bwMode="auto">
              <a:xfrm>
                <a:off x="5649" y="4741"/>
                <a:ext cx="313" cy="273"/>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35" name="Oval 37"/>
              <p:cNvSpPr>
                <a:spLocks noChangeArrowheads="1"/>
              </p:cNvSpPr>
              <p:nvPr/>
            </p:nvSpPr>
            <p:spPr bwMode="auto">
              <a:xfrm>
                <a:off x="8153" y="4741"/>
                <a:ext cx="315" cy="273"/>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36" name="Line 36"/>
              <p:cNvSpPr>
                <a:spLocks noChangeShapeType="1"/>
              </p:cNvSpPr>
              <p:nvPr/>
            </p:nvSpPr>
            <p:spPr bwMode="auto">
              <a:xfrm flipH="1" flipV="1">
                <a:off x="7997" y="5013"/>
                <a:ext cx="313" cy="679"/>
              </a:xfrm>
              <a:prstGeom prst="line">
                <a:avLst/>
              </a:prstGeom>
              <a:noFill/>
              <a:ln w="9525">
                <a:solidFill>
                  <a:srgbClr val="000000"/>
                </a:solidFill>
                <a:round/>
                <a:headEnd/>
                <a:tailEnd type="triangle" w="med" len="med"/>
              </a:ln>
            </p:spPr>
            <p:txBody>
              <a:bodyPr/>
              <a:lstStyle/>
              <a:p>
                <a:endParaRPr lang="zh-CN" altLang="en-US"/>
              </a:p>
            </p:txBody>
          </p:sp>
          <p:sp>
            <p:nvSpPr>
              <p:cNvPr id="37" name="Line 35"/>
              <p:cNvSpPr>
                <a:spLocks noChangeShapeType="1"/>
              </p:cNvSpPr>
              <p:nvPr/>
            </p:nvSpPr>
            <p:spPr bwMode="auto">
              <a:xfrm flipH="1" flipV="1">
                <a:off x="6586" y="5013"/>
                <a:ext cx="472" cy="815"/>
              </a:xfrm>
              <a:prstGeom prst="line">
                <a:avLst/>
              </a:prstGeom>
              <a:noFill/>
              <a:ln w="9525">
                <a:solidFill>
                  <a:srgbClr val="000000"/>
                </a:solidFill>
                <a:round/>
                <a:headEnd/>
                <a:tailEnd type="triangle" w="med" len="med"/>
              </a:ln>
            </p:spPr>
            <p:txBody>
              <a:bodyPr/>
              <a:lstStyle/>
              <a:p>
                <a:endParaRPr lang="zh-CN" altLang="en-US"/>
              </a:p>
            </p:txBody>
          </p:sp>
          <p:sp>
            <p:nvSpPr>
              <p:cNvPr id="38" name="Line 34"/>
              <p:cNvSpPr>
                <a:spLocks noChangeShapeType="1"/>
              </p:cNvSpPr>
              <p:nvPr/>
            </p:nvSpPr>
            <p:spPr bwMode="auto">
              <a:xfrm flipV="1">
                <a:off x="5492" y="5013"/>
                <a:ext cx="313" cy="679"/>
              </a:xfrm>
              <a:prstGeom prst="line">
                <a:avLst/>
              </a:prstGeom>
              <a:noFill/>
              <a:ln w="9525">
                <a:solidFill>
                  <a:srgbClr val="000000"/>
                </a:solidFill>
                <a:round/>
                <a:headEnd/>
                <a:tailEnd type="triangle" w="med" len="med"/>
              </a:ln>
            </p:spPr>
            <p:txBody>
              <a:bodyPr/>
              <a:lstStyle/>
              <a:p>
                <a:endParaRPr lang="zh-CN" altLang="en-US"/>
              </a:p>
            </p:txBody>
          </p:sp>
          <p:sp>
            <p:nvSpPr>
              <p:cNvPr id="39" name="Line 33"/>
              <p:cNvSpPr>
                <a:spLocks noChangeShapeType="1"/>
              </p:cNvSpPr>
              <p:nvPr/>
            </p:nvSpPr>
            <p:spPr bwMode="auto">
              <a:xfrm flipH="1" flipV="1">
                <a:off x="8466" y="5013"/>
                <a:ext cx="313" cy="271"/>
              </a:xfrm>
              <a:prstGeom prst="line">
                <a:avLst/>
              </a:prstGeom>
              <a:noFill/>
              <a:ln w="9525">
                <a:solidFill>
                  <a:srgbClr val="000000"/>
                </a:solidFill>
                <a:round/>
                <a:headEnd/>
                <a:tailEnd type="triangle" w="med" len="med"/>
              </a:ln>
            </p:spPr>
            <p:txBody>
              <a:bodyPr/>
              <a:lstStyle/>
              <a:p>
                <a:endParaRPr lang="zh-CN" altLang="en-US"/>
              </a:p>
            </p:txBody>
          </p:sp>
          <p:sp>
            <p:nvSpPr>
              <p:cNvPr id="40" name="Line 32"/>
              <p:cNvSpPr>
                <a:spLocks noChangeShapeType="1"/>
              </p:cNvSpPr>
              <p:nvPr/>
            </p:nvSpPr>
            <p:spPr bwMode="auto">
              <a:xfrm flipV="1">
                <a:off x="4866" y="5013"/>
                <a:ext cx="471" cy="407"/>
              </a:xfrm>
              <a:prstGeom prst="line">
                <a:avLst/>
              </a:prstGeom>
              <a:noFill/>
              <a:ln w="9525">
                <a:solidFill>
                  <a:srgbClr val="000000"/>
                </a:solidFill>
                <a:round/>
                <a:headEnd/>
                <a:tailEnd type="triangle" w="med" len="med"/>
              </a:ln>
            </p:spPr>
            <p:txBody>
              <a:bodyPr/>
              <a:lstStyle/>
              <a:p>
                <a:endParaRPr lang="zh-CN" altLang="en-US"/>
              </a:p>
            </p:txBody>
          </p:sp>
          <p:sp>
            <p:nvSpPr>
              <p:cNvPr id="41" name="Line 31"/>
              <p:cNvSpPr>
                <a:spLocks noChangeShapeType="1"/>
              </p:cNvSpPr>
              <p:nvPr/>
            </p:nvSpPr>
            <p:spPr bwMode="auto">
              <a:xfrm flipH="1" flipV="1">
                <a:off x="8153" y="6507"/>
                <a:ext cx="470" cy="408"/>
              </a:xfrm>
              <a:prstGeom prst="line">
                <a:avLst/>
              </a:prstGeom>
              <a:noFill/>
              <a:ln w="9525">
                <a:solidFill>
                  <a:srgbClr val="000000"/>
                </a:solidFill>
                <a:round/>
                <a:headEnd/>
                <a:tailEnd type="triangle" w="med" len="med"/>
              </a:ln>
            </p:spPr>
            <p:txBody>
              <a:bodyPr/>
              <a:lstStyle/>
              <a:p>
                <a:endParaRPr lang="zh-CN" altLang="en-US"/>
              </a:p>
            </p:txBody>
          </p:sp>
          <p:sp>
            <p:nvSpPr>
              <p:cNvPr id="42" name="Line 30"/>
              <p:cNvSpPr>
                <a:spLocks noChangeShapeType="1"/>
              </p:cNvSpPr>
              <p:nvPr/>
            </p:nvSpPr>
            <p:spPr bwMode="auto">
              <a:xfrm flipH="1" flipV="1">
                <a:off x="6586" y="6507"/>
                <a:ext cx="315" cy="815"/>
              </a:xfrm>
              <a:prstGeom prst="line">
                <a:avLst/>
              </a:prstGeom>
              <a:noFill/>
              <a:ln w="9525">
                <a:solidFill>
                  <a:srgbClr val="000000"/>
                </a:solidFill>
                <a:round/>
                <a:headEnd/>
                <a:tailEnd type="triangle" w="med" len="med"/>
              </a:ln>
            </p:spPr>
            <p:txBody>
              <a:bodyPr/>
              <a:lstStyle/>
              <a:p>
                <a:endParaRPr lang="zh-CN" altLang="en-US"/>
              </a:p>
            </p:txBody>
          </p:sp>
          <p:sp>
            <p:nvSpPr>
              <p:cNvPr id="43" name="Line 29"/>
              <p:cNvSpPr>
                <a:spLocks noChangeShapeType="1"/>
              </p:cNvSpPr>
              <p:nvPr/>
            </p:nvSpPr>
            <p:spPr bwMode="auto">
              <a:xfrm flipV="1">
                <a:off x="5492" y="6507"/>
                <a:ext cx="313" cy="680"/>
              </a:xfrm>
              <a:prstGeom prst="line">
                <a:avLst/>
              </a:prstGeom>
              <a:noFill/>
              <a:ln w="9525">
                <a:solidFill>
                  <a:srgbClr val="000000"/>
                </a:solidFill>
                <a:round/>
                <a:headEnd/>
                <a:tailEnd type="triangle" w="med" len="med"/>
              </a:ln>
            </p:spPr>
            <p:txBody>
              <a:bodyPr/>
              <a:lstStyle/>
              <a:p>
                <a:endParaRPr lang="zh-CN" altLang="en-US"/>
              </a:p>
            </p:txBody>
          </p:sp>
          <p:sp>
            <p:nvSpPr>
              <p:cNvPr id="44" name="Line 28"/>
              <p:cNvSpPr>
                <a:spLocks noChangeShapeType="1"/>
              </p:cNvSpPr>
              <p:nvPr/>
            </p:nvSpPr>
            <p:spPr bwMode="auto">
              <a:xfrm flipH="1" flipV="1">
                <a:off x="7684" y="6507"/>
                <a:ext cx="313" cy="680"/>
              </a:xfrm>
              <a:prstGeom prst="line">
                <a:avLst/>
              </a:prstGeom>
              <a:noFill/>
              <a:ln w="9525">
                <a:solidFill>
                  <a:srgbClr val="000000"/>
                </a:solidFill>
                <a:round/>
                <a:headEnd/>
                <a:tailEnd type="triangle" w="med" len="med"/>
              </a:ln>
            </p:spPr>
            <p:txBody>
              <a:bodyPr/>
              <a:lstStyle/>
              <a:p>
                <a:endParaRPr lang="zh-CN" altLang="en-US"/>
              </a:p>
            </p:txBody>
          </p:sp>
          <p:sp>
            <p:nvSpPr>
              <p:cNvPr id="45" name="Line 27"/>
              <p:cNvSpPr>
                <a:spLocks noChangeShapeType="1"/>
              </p:cNvSpPr>
              <p:nvPr/>
            </p:nvSpPr>
            <p:spPr bwMode="auto">
              <a:xfrm flipV="1">
                <a:off x="4866" y="6507"/>
                <a:ext cx="469" cy="544"/>
              </a:xfrm>
              <a:prstGeom prst="line">
                <a:avLst/>
              </a:prstGeom>
              <a:noFill/>
              <a:ln w="9525">
                <a:solidFill>
                  <a:srgbClr val="000000"/>
                </a:solidFill>
                <a:round/>
                <a:headEnd/>
                <a:tailEnd type="triangle" w="med" len="med"/>
              </a:ln>
            </p:spPr>
            <p:txBody>
              <a:bodyPr/>
              <a:lstStyle/>
              <a:p>
                <a:endParaRPr lang="zh-CN" altLang="en-US"/>
              </a:p>
            </p:txBody>
          </p:sp>
          <p:sp>
            <p:nvSpPr>
              <p:cNvPr id="46" name="Oval 26"/>
              <p:cNvSpPr>
                <a:spLocks noChangeArrowheads="1"/>
              </p:cNvSpPr>
              <p:nvPr/>
            </p:nvSpPr>
            <p:spPr bwMode="auto">
              <a:xfrm>
                <a:off x="6432" y="6235"/>
                <a:ext cx="311" cy="274"/>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47" name="Oval 25"/>
              <p:cNvSpPr>
                <a:spLocks noChangeArrowheads="1"/>
              </p:cNvSpPr>
              <p:nvPr/>
            </p:nvSpPr>
            <p:spPr bwMode="auto">
              <a:xfrm>
                <a:off x="5649" y="6235"/>
                <a:ext cx="313" cy="275"/>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48" name="Oval 24"/>
              <p:cNvSpPr>
                <a:spLocks noChangeArrowheads="1"/>
              </p:cNvSpPr>
              <p:nvPr/>
            </p:nvSpPr>
            <p:spPr bwMode="auto">
              <a:xfrm>
                <a:off x="7527" y="6235"/>
                <a:ext cx="316" cy="275"/>
              </a:xfrm>
              <a:prstGeom prst="ellipse">
                <a:avLst/>
              </a:prstGeom>
              <a:solidFill>
                <a:srgbClr val="000000"/>
              </a:solidFill>
              <a:ln w="9525">
                <a:solidFill>
                  <a:srgbClr val="000000"/>
                </a:solidFill>
                <a:round/>
                <a:headEnd/>
                <a:tailEnd/>
              </a:ln>
            </p:spPr>
            <p:txBody>
              <a:bodyPr/>
              <a:lstStyle/>
              <a:p>
                <a:endParaRPr lang="zh-CN" altLang="en-US">
                  <a:latin typeface="Century Schoolbook"/>
                </a:endParaRPr>
              </a:p>
            </p:txBody>
          </p:sp>
          <p:sp>
            <p:nvSpPr>
              <p:cNvPr id="49" name="Oval 23"/>
              <p:cNvSpPr>
                <a:spLocks noChangeArrowheads="1"/>
              </p:cNvSpPr>
              <p:nvPr/>
            </p:nvSpPr>
            <p:spPr bwMode="auto">
              <a:xfrm>
                <a:off x="5336" y="4741"/>
                <a:ext cx="313" cy="272"/>
              </a:xfrm>
              <a:prstGeom prst="ellipse">
                <a:avLst/>
              </a:prstGeom>
              <a:solidFill>
                <a:srgbClr val="FFFFFF"/>
              </a:solidFill>
              <a:ln w="9525">
                <a:solidFill>
                  <a:srgbClr val="000000"/>
                </a:solidFill>
                <a:round/>
                <a:headEnd/>
                <a:tailEnd/>
              </a:ln>
            </p:spPr>
            <p:txBody>
              <a:bodyPr/>
              <a:lstStyle/>
              <a:p>
                <a:endParaRPr lang="zh-CN" altLang="en-US">
                  <a:latin typeface="Century Schoolbook"/>
                </a:endParaRPr>
              </a:p>
            </p:txBody>
          </p:sp>
          <p:sp>
            <p:nvSpPr>
              <p:cNvPr id="50" name="Oval 22"/>
              <p:cNvSpPr>
                <a:spLocks noChangeArrowheads="1"/>
              </p:cNvSpPr>
              <p:nvPr/>
            </p:nvSpPr>
            <p:spPr bwMode="auto">
              <a:xfrm>
                <a:off x="5336" y="6235"/>
                <a:ext cx="313" cy="272"/>
              </a:xfrm>
              <a:prstGeom prst="ellipse">
                <a:avLst/>
              </a:prstGeom>
              <a:solidFill>
                <a:srgbClr val="FFFFFF"/>
              </a:solidFill>
              <a:ln w="9525">
                <a:solidFill>
                  <a:srgbClr val="000000"/>
                </a:solidFill>
                <a:round/>
                <a:headEnd/>
                <a:tailEnd/>
              </a:ln>
            </p:spPr>
            <p:txBody>
              <a:bodyPr/>
              <a:lstStyle/>
              <a:p>
                <a:endParaRPr lang="zh-CN" altLang="en-US">
                  <a:latin typeface="Century Schoolbook"/>
                </a:endParaRPr>
              </a:p>
            </p:txBody>
          </p:sp>
          <p:sp>
            <p:nvSpPr>
              <p:cNvPr id="51" name="Oval 21"/>
              <p:cNvSpPr>
                <a:spLocks noChangeArrowheads="1"/>
              </p:cNvSpPr>
              <p:nvPr/>
            </p:nvSpPr>
            <p:spPr bwMode="auto">
              <a:xfrm>
                <a:off x="7840" y="6235"/>
                <a:ext cx="313" cy="272"/>
              </a:xfrm>
              <a:prstGeom prst="ellipse">
                <a:avLst/>
              </a:prstGeom>
              <a:solidFill>
                <a:srgbClr val="FFFFFF"/>
              </a:solidFill>
              <a:ln w="9525">
                <a:solidFill>
                  <a:srgbClr val="000000"/>
                </a:solidFill>
                <a:round/>
                <a:headEnd/>
                <a:tailEnd/>
              </a:ln>
            </p:spPr>
            <p:txBody>
              <a:bodyPr/>
              <a:lstStyle/>
              <a:p>
                <a:endParaRPr lang="zh-CN" altLang="en-US">
                  <a:latin typeface="Century Schoolbook"/>
                </a:endParaRPr>
              </a:p>
            </p:txBody>
          </p:sp>
          <p:sp>
            <p:nvSpPr>
              <p:cNvPr id="52" name="Rectangle 20"/>
              <p:cNvSpPr>
                <a:spLocks noChangeArrowheads="1"/>
              </p:cNvSpPr>
              <p:nvPr/>
            </p:nvSpPr>
            <p:spPr bwMode="auto">
              <a:xfrm>
                <a:off x="2675" y="3111"/>
                <a:ext cx="938" cy="407"/>
              </a:xfrm>
              <a:prstGeom prst="rect">
                <a:avLst/>
              </a:prstGeom>
              <a:noFill/>
              <a:ln w="9525">
                <a:noFill/>
                <a:miter lim="800000"/>
                <a:headEnd/>
                <a:tailEnd/>
              </a:ln>
            </p:spPr>
            <p:txBody>
              <a:bodyPr/>
              <a:lstStyle/>
              <a:p>
                <a:r>
                  <a:rPr lang="zh-CN" altLang="en-US" sz="1000" dirty="0">
                    <a:latin typeface="Times New Roman" pitchFamily="18" charset="0"/>
                    <a:cs typeface="Times New Roman" pitchFamily="18" charset="0"/>
                  </a:rPr>
                  <a:t>闭区间</a:t>
                </a:r>
                <a:endParaRPr lang="zh-CN" altLang="en-US" dirty="0"/>
              </a:p>
            </p:txBody>
          </p:sp>
          <p:sp>
            <p:nvSpPr>
              <p:cNvPr id="53" name="Rectangle 19"/>
              <p:cNvSpPr>
                <a:spLocks noChangeArrowheads="1"/>
              </p:cNvSpPr>
              <p:nvPr/>
            </p:nvSpPr>
            <p:spPr bwMode="auto">
              <a:xfrm>
                <a:off x="2675" y="4605"/>
                <a:ext cx="1409" cy="408"/>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半开半闭区间</a:t>
                </a:r>
                <a:endParaRPr lang="zh-CN" altLang="en-US"/>
              </a:p>
            </p:txBody>
          </p:sp>
          <p:sp>
            <p:nvSpPr>
              <p:cNvPr id="54" name="Rectangle 18"/>
              <p:cNvSpPr>
                <a:spLocks noChangeArrowheads="1"/>
              </p:cNvSpPr>
              <p:nvPr/>
            </p:nvSpPr>
            <p:spPr bwMode="auto">
              <a:xfrm>
                <a:off x="2675" y="6100"/>
                <a:ext cx="937" cy="407"/>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开区间</a:t>
                </a:r>
                <a:endParaRPr lang="zh-CN" altLang="en-US"/>
              </a:p>
            </p:txBody>
          </p:sp>
          <p:sp>
            <p:nvSpPr>
              <p:cNvPr id="55" name="Rectangle 17"/>
              <p:cNvSpPr>
                <a:spLocks noChangeArrowheads="1"/>
              </p:cNvSpPr>
              <p:nvPr/>
            </p:nvSpPr>
            <p:spPr bwMode="auto">
              <a:xfrm>
                <a:off x="4084" y="3790"/>
                <a:ext cx="626" cy="408"/>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离点</a:t>
                </a:r>
                <a:endParaRPr lang="zh-CN" altLang="en-US"/>
              </a:p>
            </p:txBody>
          </p:sp>
          <p:sp>
            <p:nvSpPr>
              <p:cNvPr id="56" name="Rectangle 16"/>
              <p:cNvSpPr>
                <a:spLocks noChangeArrowheads="1"/>
              </p:cNvSpPr>
              <p:nvPr/>
            </p:nvSpPr>
            <p:spPr bwMode="auto">
              <a:xfrm>
                <a:off x="8779" y="3518"/>
                <a:ext cx="627" cy="408"/>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离点</a:t>
                </a:r>
                <a:endParaRPr lang="zh-CN" altLang="en-US"/>
              </a:p>
            </p:txBody>
          </p:sp>
          <p:sp>
            <p:nvSpPr>
              <p:cNvPr id="57" name="Rectangle 15"/>
              <p:cNvSpPr>
                <a:spLocks noChangeArrowheads="1"/>
              </p:cNvSpPr>
              <p:nvPr/>
            </p:nvSpPr>
            <p:spPr bwMode="auto">
              <a:xfrm>
                <a:off x="5179" y="5692"/>
                <a:ext cx="627" cy="408"/>
              </a:xfrm>
              <a:prstGeom prst="rect">
                <a:avLst/>
              </a:prstGeom>
              <a:noFill/>
              <a:ln w="9525">
                <a:noFill/>
                <a:miter lim="800000"/>
                <a:headEnd/>
                <a:tailEnd/>
              </a:ln>
            </p:spPr>
            <p:txBody>
              <a:bodyPr/>
              <a:lstStyle/>
              <a:p>
                <a:r>
                  <a:rPr lang="zh-CN" altLang="en-US" sz="1000" dirty="0">
                    <a:latin typeface="Times New Roman" pitchFamily="18" charset="0"/>
                    <a:cs typeface="Times New Roman" pitchFamily="18" charset="0"/>
                  </a:rPr>
                  <a:t>离点</a:t>
                </a:r>
                <a:endParaRPr lang="zh-CN" altLang="en-US" dirty="0"/>
              </a:p>
            </p:txBody>
          </p:sp>
          <p:sp>
            <p:nvSpPr>
              <p:cNvPr id="58" name="Rectangle 14"/>
              <p:cNvSpPr>
                <a:spLocks noChangeArrowheads="1"/>
              </p:cNvSpPr>
              <p:nvPr/>
            </p:nvSpPr>
            <p:spPr bwMode="auto">
              <a:xfrm>
                <a:off x="8779" y="5284"/>
                <a:ext cx="627" cy="408"/>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离点</a:t>
                </a:r>
                <a:endParaRPr lang="zh-CN" altLang="en-US"/>
              </a:p>
            </p:txBody>
          </p:sp>
          <p:sp>
            <p:nvSpPr>
              <p:cNvPr id="59" name="Rectangle 13"/>
              <p:cNvSpPr>
                <a:spLocks noChangeArrowheads="1"/>
              </p:cNvSpPr>
              <p:nvPr/>
            </p:nvSpPr>
            <p:spPr bwMode="auto">
              <a:xfrm>
                <a:off x="5179" y="7187"/>
                <a:ext cx="627" cy="406"/>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离点</a:t>
                </a:r>
                <a:endParaRPr lang="zh-CN" altLang="en-US"/>
              </a:p>
            </p:txBody>
          </p:sp>
          <p:sp>
            <p:nvSpPr>
              <p:cNvPr id="60" name="Rectangle 12"/>
              <p:cNvSpPr>
                <a:spLocks noChangeArrowheads="1"/>
              </p:cNvSpPr>
              <p:nvPr/>
            </p:nvSpPr>
            <p:spPr bwMode="auto">
              <a:xfrm>
                <a:off x="7684" y="7187"/>
                <a:ext cx="627" cy="407"/>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离点</a:t>
                </a:r>
                <a:endParaRPr lang="zh-CN" altLang="en-US"/>
              </a:p>
            </p:txBody>
          </p:sp>
          <p:sp>
            <p:nvSpPr>
              <p:cNvPr id="61" name="Rectangle 11"/>
              <p:cNvSpPr>
                <a:spLocks noChangeArrowheads="1"/>
              </p:cNvSpPr>
              <p:nvPr/>
            </p:nvSpPr>
            <p:spPr bwMode="auto">
              <a:xfrm>
                <a:off x="4866" y="4062"/>
                <a:ext cx="627" cy="407"/>
              </a:xfrm>
              <a:prstGeom prst="rect">
                <a:avLst/>
              </a:prstGeom>
              <a:noFill/>
              <a:ln w="9525">
                <a:noFill/>
                <a:miter lim="800000"/>
                <a:headEnd/>
                <a:tailEnd/>
              </a:ln>
            </p:spPr>
            <p:txBody>
              <a:bodyPr/>
              <a:lstStyle/>
              <a:p>
                <a:r>
                  <a:rPr lang="zh-CN" altLang="en-US" sz="1000" dirty="0">
                    <a:latin typeface="Times New Roman" pitchFamily="18" charset="0"/>
                    <a:cs typeface="Times New Roman" pitchFamily="18" charset="0"/>
                  </a:rPr>
                  <a:t>上点</a:t>
                </a:r>
                <a:endParaRPr lang="zh-CN" altLang="en-US" dirty="0"/>
              </a:p>
            </p:txBody>
          </p:sp>
          <p:sp>
            <p:nvSpPr>
              <p:cNvPr id="62" name="Rectangle 10"/>
              <p:cNvSpPr>
                <a:spLocks noChangeArrowheads="1"/>
              </p:cNvSpPr>
              <p:nvPr/>
            </p:nvSpPr>
            <p:spPr bwMode="auto">
              <a:xfrm>
                <a:off x="7997" y="4062"/>
                <a:ext cx="627" cy="407"/>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上点</a:t>
                </a:r>
                <a:endParaRPr lang="zh-CN" altLang="en-US"/>
              </a:p>
            </p:txBody>
          </p:sp>
          <p:sp>
            <p:nvSpPr>
              <p:cNvPr id="63" name="Rectangle 9"/>
              <p:cNvSpPr>
                <a:spLocks noChangeArrowheads="1"/>
              </p:cNvSpPr>
              <p:nvPr/>
            </p:nvSpPr>
            <p:spPr bwMode="auto">
              <a:xfrm>
                <a:off x="4397" y="5420"/>
                <a:ext cx="627" cy="408"/>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上点</a:t>
                </a:r>
                <a:endParaRPr lang="zh-CN" altLang="en-US"/>
              </a:p>
            </p:txBody>
          </p:sp>
          <p:sp>
            <p:nvSpPr>
              <p:cNvPr id="64" name="Rectangle 8"/>
              <p:cNvSpPr>
                <a:spLocks noChangeArrowheads="1"/>
              </p:cNvSpPr>
              <p:nvPr/>
            </p:nvSpPr>
            <p:spPr bwMode="auto">
              <a:xfrm>
                <a:off x="7997" y="5692"/>
                <a:ext cx="627" cy="408"/>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上点</a:t>
                </a:r>
                <a:endParaRPr lang="zh-CN" altLang="en-US"/>
              </a:p>
            </p:txBody>
          </p:sp>
          <p:sp>
            <p:nvSpPr>
              <p:cNvPr id="65" name="Rectangle 7"/>
              <p:cNvSpPr>
                <a:spLocks noChangeArrowheads="1"/>
              </p:cNvSpPr>
              <p:nvPr/>
            </p:nvSpPr>
            <p:spPr bwMode="auto">
              <a:xfrm>
                <a:off x="4553" y="7051"/>
                <a:ext cx="627" cy="407"/>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上点</a:t>
                </a:r>
                <a:endParaRPr lang="zh-CN" altLang="en-US"/>
              </a:p>
            </p:txBody>
          </p:sp>
          <p:sp>
            <p:nvSpPr>
              <p:cNvPr id="66" name="Rectangle 6"/>
              <p:cNvSpPr>
                <a:spLocks noChangeArrowheads="1"/>
              </p:cNvSpPr>
              <p:nvPr/>
            </p:nvSpPr>
            <p:spPr bwMode="auto">
              <a:xfrm>
                <a:off x="8310" y="6915"/>
                <a:ext cx="627" cy="407"/>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上点</a:t>
                </a:r>
                <a:endParaRPr lang="zh-CN" altLang="en-US"/>
              </a:p>
            </p:txBody>
          </p:sp>
          <p:sp>
            <p:nvSpPr>
              <p:cNvPr id="67" name="Rectangle 5"/>
              <p:cNvSpPr>
                <a:spLocks noChangeArrowheads="1"/>
              </p:cNvSpPr>
              <p:nvPr/>
            </p:nvSpPr>
            <p:spPr bwMode="auto">
              <a:xfrm>
                <a:off x="5805" y="4198"/>
                <a:ext cx="627" cy="407"/>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内点</a:t>
                </a:r>
                <a:endParaRPr lang="zh-CN" altLang="en-US"/>
              </a:p>
            </p:txBody>
          </p:sp>
          <p:sp>
            <p:nvSpPr>
              <p:cNvPr id="68" name="Rectangle 4"/>
              <p:cNvSpPr>
                <a:spLocks noChangeArrowheads="1"/>
              </p:cNvSpPr>
              <p:nvPr/>
            </p:nvSpPr>
            <p:spPr bwMode="auto">
              <a:xfrm>
                <a:off x="6745" y="5828"/>
                <a:ext cx="627" cy="407"/>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内点</a:t>
                </a:r>
                <a:endParaRPr lang="zh-CN" altLang="en-US"/>
              </a:p>
            </p:txBody>
          </p:sp>
          <p:sp>
            <p:nvSpPr>
              <p:cNvPr id="69" name="Rectangle 3"/>
              <p:cNvSpPr>
                <a:spLocks noChangeArrowheads="1"/>
              </p:cNvSpPr>
              <p:nvPr/>
            </p:nvSpPr>
            <p:spPr bwMode="auto">
              <a:xfrm>
                <a:off x="6588" y="7322"/>
                <a:ext cx="628" cy="406"/>
              </a:xfrm>
              <a:prstGeom prst="rect">
                <a:avLst/>
              </a:prstGeom>
              <a:noFill/>
              <a:ln w="9525">
                <a:noFill/>
                <a:miter lim="800000"/>
                <a:headEnd/>
                <a:tailEnd/>
              </a:ln>
            </p:spPr>
            <p:txBody>
              <a:bodyPr/>
              <a:lstStyle/>
              <a:p>
                <a:r>
                  <a:rPr lang="zh-CN" altLang="en-US" sz="1000">
                    <a:latin typeface="Times New Roman" pitchFamily="18" charset="0"/>
                    <a:cs typeface="Times New Roman" pitchFamily="18" charset="0"/>
                  </a:rPr>
                  <a:t>内点</a:t>
                </a:r>
                <a:endParaRPr lang="zh-CN" altLang="en-US"/>
              </a:p>
            </p:txBody>
          </p:sp>
        </p:grpSp>
      </p:grpSp>
      <p:sp>
        <p:nvSpPr>
          <p:cNvPr id="70" name="TextBox 66"/>
          <p:cNvSpPr txBox="1"/>
          <p:nvPr/>
        </p:nvSpPr>
        <p:spPr>
          <a:xfrm>
            <a:off x="624840" y="2360516"/>
            <a:ext cx="5832648" cy="384721"/>
          </a:xfrm>
          <a:prstGeom prst="rect">
            <a:avLst/>
          </a:prstGeom>
          <a:noFill/>
        </p:spPr>
        <p:txBody>
          <a:bodyPr wrap="square" rtlCol="0">
            <a:spAutoFit/>
          </a:bodyPr>
          <a:lstStyle/>
          <a:p>
            <a:r>
              <a:rPr lang="zh-CN" altLang="en-US" b="1" dirty="0">
                <a:solidFill>
                  <a:srgbClr val="000000"/>
                </a:solidFill>
                <a:latin typeface="华文细黑" pitchFamily="2" charset="-122"/>
                <a:ea typeface="华文细黑" pitchFamily="2" charset="-122"/>
              </a:rPr>
              <a:t>边界点的定义：上点、离点、内点</a:t>
            </a:r>
          </a:p>
        </p:txBody>
      </p:sp>
      <p:sp>
        <p:nvSpPr>
          <p:cNvPr id="71" name="Rectangle 64"/>
          <p:cNvSpPr>
            <a:spLocks noChangeArrowheads="1"/>
          </p:cNvSpPr>
          <p:nvPr/>
        </p:nvSpPr>
        <p:spPr bwMode="auto">
          <a:xfrm>
            <a:off x="563555" y="1042195"/>
            <a:ext cx="8748712" cy="1200329"/>
          </a:xfrm>
          <a:prstGeom prst="rect">
            <a:avLst/>
          </a:prstGeom>
          <a:noFill/>
          <a:ln w="9525">
            <a:noFill/>
            <a:miter lim="800000"/>
            <a:headEnd/>
            <a:tailEnd/>
          </a:ln>
        </p:spPr>
        <p:txBody>
          <a:bodyPr anchor="ctr">
            <a:spAutoFit/>
          </a:bodyPr>
          <a:lstStyle/>
          <a:p>
            <a:pPr indent="276225"/>
            <a:r>
              <a:rPr lang="zh-CN" altLang="en-US" b="1" dirty="0">
                <a:solidFill>
                  <a:srgbClr val="000000"/>
                </a:solidFill>
                <a:latin typeface="华文细黑" pitchFamily="2" charset="-122"/>
                <a:ea typeface="华文细黑" pitchFamily="2" charset="-122"/>
                <a:cs typeface="Times New Roman" pitchFamily="18" charset="0"/>
              </a:rPr>
              <a:t>边界值分析法的由来：</a:t>
            </a:r>
            <a:endParaRPr lang="en-US" altLang="zh-CN" b="1" dirty="0">
              <a:solidFill>
                <a:srgbClr val="000000"/>
              </a:solidFill>
              <a:latin typeface="华文细黑" pitchFamily="2" charset="-122"/>
              <a:ea typeface="华文细黑" pitchFamily="2" charset="-122"/>
              <a:cs typeface="Times New Roman" pitchFamily="18" charset="0"/>
            </a:endParaRPr>
          </a:p>
          <a:p>
            <a:pPr indent="276225"/>
            <a:r>
              <a:rPr lang="zh-CN" altLang="en-US" dirty="0">
                <a:solidFill>
                  <a:srgbClr val="000000"/>
                </a:solidFill>
                <a:latin typeface="华文细黑" pitchFamily="2" charset="-122"/>
                <a:ea typeface="华文细黑" pitchFamily="2" charset="-122"/>
                <a:cs typeface="Times New Roman" pitchFamily="18" charset="0"/>
              </a:rPr>
              <a:t>测试经验丰富的前辈们告诉我们，大量的错误是发生在输入或输出范围的边界上，而不是发生在输入输出范围的内部。因此针对个中边界情况设计测试用例，可以查处更多的错误。</a:t>
            </a:r>
            <a:endParaRPr lang="zh-CN" altLang="en-US" dirty="0">
              <a:latin typeface="华文细黑" pitchFamily="2" charset="-122"/>
              <a:ea typeface="华文细黑" pitchFamily="2" charset="-122"/>
            </a:endParaRPr>
          </a:p>
        </p:txBody>
      </p:sp>
    </p:spTree>
    <p:extLst>
      <p:ext uri="{BB962C8B-B14F-4D97-AF65-F5344CB8AC3E}">
        <p14:creationId xmlns:p14="http://schemas.microsoft.com/office/powerpoint/2010/main" val="4112645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边界值分析</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TextBox 3"/>
          <p:cNvSpPr txBox="1"/>
          <p:nvPr/>
        </p:nvSpPr>
        <p:spPr>
          <a:xfrm>
            <a:off x="624840" y="1135284"/>
            <a:ext cx="6480720" cy="677108"/>
          </a:xfrm>
          <a:prstGeom prst="rect">
            <a:avLst/>
          </a:prstGeom>
          <a:noFill/>
        </p:spPr>
        <p:txBody>
          <a:bodyPr wrap="square" rtlCol="0">
            <a:spAutoFit/>
          </a:bodyPr>
          <a:lstStyle/>
          <a:p>
            <a:r>
              <a:rPr lang="zh-CN" altLang="en-US" dirty="0">
                <a:solidFill>
                  <a:srgbClr val="000000"/>
                </a:solidFill>
                <a:latin typeface="华文细黑" pitchFamily="2" charset="-122"/>
                <a:ea typeface="华文细黑" pitchFamily="2" charset="-122"/>
              </a:rPr>
              <a:t>举例</a:t>
            </a:r>
            <a:endParaRPr lang="en-US" altLang="zh-CN"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已</a:t>
            </a:r>
            <a:r>
              <a:rPr lang="en-US" altLang="zh-CN" dirty="0">
                <a:solidFill>
                  <a:srgbClr val="000000"/>
                </a:solidFill>
                <a:latin typeface="华文细黑" pitchFamily="2" charset="-122"/>
                <a:ea typeface="华文细黑" pitchFamily="2" charset="-122"/>
              </a:rPr>
              <a:t>1-10</a:t>
            </a:r>
            <a:r>
              <a:rPr lang="zh-CN" altLang="en-US" dirty="0">
                <a:solidFill>
                  <a:srgbClr val="000000"/>
                </a:solidFill>
                <a:latin typeface="华文细黑" pitchFamily="2" charset="-122"/>
                <a:ea typeface="华文细黑" pitchFamily="2" charset="-122"/>
              </a:rPr>
              <a:t>区间的闭区间、开区间和半开半闭区间为例</a:t>
            </a:r>
          </a:p>
        </p:txBody>
      </p:sp>
      <p:graphicFrame>
        <p:nvGraphicFramePr>
          <p:cNvPr id="6" name="表格 5"/>
          <p:cNvGraphicFramePr>
            <a:graphicFrameLocks noGrp="1"/>
          </p:cNvGraphicFramePr>
          <p:nvPr/>
        </p:nvGraphicFramePr>
        <p:xfrm>
          <a:off x="628328" y="2101272"/>
          <a:ext cx="8496944" cy="1854200"/>
        </p:xfrm>
        <a:graphic>
          <a:graphicData uri="http://schemas.openxmlformats.org/drawingml/2006/table">
            <a:tbl>
              <a:tblPr firstRow="1" bandRow="1">
                <a:tableStyleId>{5C22544A-7EE6-4342-B048-85BDC9FD1C3A}</a:tableStyleId>
              </a:tblPr>
              <a:tblGrid>
                <a:gridCol w="1535834">
                  <a:extLst>
                    <a:ext uri="{9D8B030D-6E8A-4147-A177-3AD203B41FA5}">
                      <a16:colId xmlns:a16="http://schemas.microsoft.com/office/drawing/2014/main" val="20000"/>
                    </a:ext>
                  </a:extLst>
                </a:gridCol>
                <a:gridCol w="1450510">
                  <a:extLst>
                    <a:ext uri="{9D8B030D-6E8A-4147-A177-3AD203B41FA5}">
                      <a16:colId xmlns:a16="http://schemas.microsoft.com/office/drawing/2014/main" val="20001"/>
                    </a:ext>
                  </a:extLst>
                </a:gridCol>
                <a:gridCol w="1194537">
                  <a:extLst>
                    <a:ext uri="{9D8B030D-6E8A-4147-A177-3AD203B41FA5}">
                      <a16:colId xmlns:a16="http://schemas.microsoft.com/office/drawing/2014/main" val="20002"/>
                    </a:ext>
                  </a:extLst>
                </a:gridCol>
                <a:gridCol w="1291727">
                  <a:extLst>
                    <a:ext uri="{9D8B030D-6E8A-4147-A177-3AD203B41FA5}">
                      <a16:colId xmlns:a16="http://schemas.microsoft.com/office/drawing/2014/main" val="20003"/>
                    </a:ext>
                  </a:extLst>
                </a:gridCol>
                <a:gridCol w="1368152">
                  <a:extLst>
                    <a:ext uri="{9D8B030D-6E8A-4147-A177-3AD203B41FA5}">
                      <a16:colId xmlns:a16="http://schemas.microsoft.com/office/drawing/2014/main" val="20004"/>
                    </a:ext>
                  </a:extLst>
                </a:gridCol>
                <a:gridCol w="1656184">
                  <a:extLst>
                    <a:ext uri="{9D8B030D-6E8A-4147-A177-3AD203B41FA5}">
                      <a16:colId xmlns:a16="http://schemas.microsoft.com/office/drawing/2014/main" val="20005"/>
                    </a:ext>
                  </a:extLst>
                </a:gridCol>
              </a:tblGrid>
              <a:tr h="370840">
                <a:tc>
                  <a:txBody>
                    <a:bodyPr/>
                    <a:lstStyle/>
                    <a:p>
                      <a:r>
                        <a:rPr lang="zh-CN" altLang="en-US" dirty="0">
                          <a:solidFill>
                            <a:srgbClr val="000000"/>
                          </a:solidFill>
                          <a:latin typeface="华文细黑" pitchFamily="2" charset="-122"/>
                          <a:ea typeface="华文细黑" pitchFamily="2" charset="-122"/>
                        </a:rPr>
                        <a:t>区间类型</a:t>
                      </a:r>
                    </a:p>
                  </a:txBody>
                  <a:tcPr/>
                </a:tc>
                <a:tc>
                  <a:txBody>
                    <a:bodyPr/>
                    <a:lstStyle/>
                    <a:p>
                      <a:r>
                        <a:rPr lang="zh-CN" altLang="en-US" dirty="0">
                          <a:solidFill>
                            <a:srgbClr val="000000"/>
                          </a:solidFill>
                          <a:latin typeface="华文细黑" pitchFamily="2" charset="-122"/>
                          <a:ea typeface="华文细黑" pitchFamily="2" charset="-122"/>
                        </a:rPr>
                        <a:t>区间</a:t>
                      </a:r>
                    </a:p>
                  </a:txBody>
                  <a:tcPr/>
                </a:tc>
                <a:tc>
                  <a:txBody>
                    <a:bodyPr/>
                    <a:lstStyle/>
                    <a:p>
                      <a:r>
                        <a:rPr lang="zh-CN" altLang="en-US" dirty="0">
                          <a:solidFill>
                            <a:srgbClr val="000000"/>
                          </a:solidFill>
                          <a:latin typeface="华文细黑" pitchFamily="2" charset="-122"/>
                          <a:ea typeface="华文细黑" pitchFamily="2" charset="-122"/>
                        </a:rPr>
                        <a:t>左上点</a:t>
                      </a:r>
                    </a:p>
                  </a:txBody>
                  <a:tcPr/>
                </a:tc>
                <a:tc>
                  <a:txBody>
                    <a:bodyPr/>
                    <a:lstStyle/>
                    <a:p>
                      <a:r>
                        <a:rPr lang="zh-CN" altLang="en-US" dirty="0">
                          <a:solidFill>
                            <a:srgbClr val="000000"/>
                          </a:solidFill>
                          <a:latin typeface="华文细黑" pitchFamily="2" charset="-122"/>
                          <a:ea typeface="华文细黑" pitchFamily="2" charset="-122"/>
                        </a:rPr>
                        <a:t>左离点</a:t>
                      </a:r>
                    </a:p>
                  </a:txBody>
                  <a:tcPr/>
                </a:tc>
                <a:tc>
                  <a:txBody>
                    <a:bodyPr/>
                    <a:lstStyle/>
                    <a:p>
                      <a:r>
                        <a:rPr lang="zh-CN" altLang="en-US" dirty="0">
                          <a:solidFill>
                            <a:srgbClr val="000000"/>
                          </a:solidFill>
                          <a:latin typeface="华文细黑" pitchFamily="2" charset="-122"/>
                          <a:ea typeface="华文细黑" pitchFamily="2" charset="-122"/>
                        </a:rPr>
                        <a:t>右上点</a:t>
                      </a:r>
                    </a:p>
                  </a:txBody>
                  <a:tcPr/>
                </a:tc>
                <a:tc>
                  <a:txBody>
                    <a:bodyPr/>
                    <a:lstStyle/>
                    <a:p>
                      <a:r>
                        <a:rPr lang="zh-CN" altLang="en-US" dirty="0">
                          <a:solidFill>
                            <a:srgbClr val="000000"/>
                          </a:solidFill>
                          <a:latin typeface="华文细黑" pitchFamily="2" charset="-122"/>
                          <a:ea typeface="华文细黑" pitchFamily="2" charset="-122"/>
                        </a:rPr>
                        <a:t>右离点</a:t>
                      </a:r>
                    </a:p>
                  </a:txBody>
                  <a:tcPr/>
                </a:tc>
                <a:extLst>
                  <a:ext uri="{0D108BD9-81ED-4DB2-BD59-A6C34878D82A}">
                    <a16:rowId xmlns:a16="http://schemas.microsoft.com/office/drawing/2014/main" val="10000"/>
                  </a:ext>
                </a:extLst>
              </a:tr>
              <a:tr h="370840">
                <a:tc>
                  <a:txBody>
                    <a:bodyPr/>
                    <a:lstStyle/>
                    <a:p>
                      <a:r>
                        <a:rPr lang="zh-CN" altLang="en-US" dirty="0">
                          <a:solidFill>
                            <a:srgbClr val="000000"/>
                          </a:solidFill>
                          <a:latin typeface="华文细黑" pitchFamily="2" charset="-122"/>
                          <a:ea typeface="华文细黑" pitchFamily="2" charset="-122"/>
                        </a:rPr>
                        <a:t>闭区间</a:t>
                      </a:r>
                    </a:p>
                  </a:txBody>
                  <a:tcPr/>
                </a:tc>
                <a:tc>
                  <a:txBody>
                    <a:bodyPr/>
                    <a:lstStyle/>
                    <a:p>
                      <a:r>
                        <a:rPr lang="en-US" altLang="zh-CN" dirty="0">
                          <a:solidFill>
                            <a:srgbClr val="000000"/>
                          </a:solidFill>
                          <a:latin typeface="华文细黑" pitchFamily="2" charset="-122"/>
                          <a:ea typeface="华文细黑" pitchFamily="2" charset="-122"/>
                        </a:rPr>
                        <a:t>【1,10】</a:t>
                      </a:r>
                      <a:endParaRPr lang="zh-CN" altLang="en-US" dirty="0">
                        <a:solidFill>
                          <a:srgbClr val="000000"/>
                        </a:solidFill>
                        <a:latin typeface="华文细黑" pitchFamily="2" charset="-122"/>
                        <a:ea typeface="华文细黑" pitchFamily="2" charset="-122"/>
                      </a:endParaRPr>
                    </a:p>
                  </a:txBody>
                  <a:tcPr/>
                </a:tc>
                <a:tc>
                  <a:txBody>
                    <a:bodyPr/>
                    <a:lstStyle/>
                    <a:p>
                      <a:r>
                        <a:rPr lang="en-US" altLang="zh-CN" dirty="0">
                          <a:solidFill>
                            <a:srgbClr val="000000"/>
                          </a:solidFill>
                          <a:latin typeface="华文细黑" pitchFamily="2" charset="-122"/>
                          <a:ea typeface="华文细黑" pitchFamily="2" charset="-122"/>
                        </a:rPr>
                        <a:t>1</a:t>
                      </a:r>
                      <a:r>
                        <a:rPr lang="zh-CN" altLang="en-US" dirty="0">
                          <a:solidFill>
                            <a:srgbClr val="000000"/>
                          </a:solidFill>
                          <a:latin typeface="华文细黑" pitchFamily="2" charset="-122"/>
                          <a:ea typeface="华文细黑" pitchFamily="2" charset="-122"/>
                        </a:rPr>
                        <a:t>（有效）</a:t>
                      </a:r>
                    </a:p>
                  </a:txBody>
                  <a:tcPr/>
                </a:tc>
                <a:tc>
                  <a:txBody>
                    <a:bodyPr/>
                    <a:lstStyle/>
                    <a:p>
                      <a:r>
                        <a:rPr lang="en-US" altLang="zh-CN" dirty="0">
                          <a:solidFill>
                            <a:srgbClr val="000000"/>
                          </a:solidFill>
                          <a:latin typeface="华文细黑" pitchFamily="2" charset="-122"/>
                          <a:ea typeface="华文细黑" pitchFamily="2" charset="-122"/>
                        </a:rPr>
                        <a:t>0</a:t>
                      </a:r>
                      <a:r>
                        <a:rPr lang="zh-CN" altLang="en-US" dirty="0">
                          <a:solidFill>
                            <a:srgbClr val="000000"/>
                          </a:solidFill>
                          <a:latin typeface="华文细黑" pitchFamily="2" charset="-122"/>
                          <a:ea typeface="华文细黑" pitchFamily="2" charset="-122"/>
                        </a:rPr>
                        <a:t>（无效）</a:t>
                      </a:r>
                    </a:p>
                  </a:txBody>
                  <a:tcPr/>
                </a:tc>
                <a:tc>
                  <a:txBody>
                    <a:bodyPr/>
                    <a:lstStyle/>
                    <a:p>
                      <a:r>
                        <a:rPr lang="en-US" altLang="zh-CN" dirty="0">
                          <a:solidFill>
                            <a:srgbClr val="000000"/>
                          </a:solidFill>
                          <a:latin typeface="华文细黑" pitchFamily="2" charset="-122"/>
                          <a:ea typeface="华文细黑" pitchFamily="2" charset="-122"/>
                        </a:rPr>
                        <a:t>10</a:t>
                      </a:r>
                      <a:r>
                        <a:rPr lang="zh-CN" altLang="en-US" dirty="0">
                          <a:solidFill>
                            <a:srgbClr val="000000"/>
                          </a:solidFill>
                          <a:latin typeface="华文细黑" pitchFamily="2" charset="-122"/>
                          <a:ea typeface="华文细黑" pitchFamily="2" charset="-122"/>
                        </a:rPr>
                        <a:t>（有效）</a:t>
                      </a:r>
                    </a:p>
                  </a:txBody>
                  <a:tcPr/>
                </a:tc>
                <a:tc>
                  <a:txBody>
                    <a:bodyPr/>
                    <a:lstStyle/>
                    <a:p>
                      <a:r>
                        <a:rPr lang="en-US" altLang="zh-CN" dirty="0">
                          <a:solidFill>
                            <a:srgbClr val="000000"/>
                          </a:solidFill>
                          <a:latin typeface="华文细黑" pitchFamily="2" charset="-122"/>
                          <a:ea typeface="华文细黑" pitchFamily="2" charset="-122"/>
                        </a:rPr>
                        <a:t>11</a:t>
                      </a:r>
                      <a:r>
                        <a:rPr lang="zh-CN" altLang="en-US" dirty="0">
                          <a:solidFill>
                            <a:srgbClr val="000000"/>
                          </a:solidFill>
                          <a:latin typeface="华文细黑" pitchFamily="2" charset="-122"/>
                          <a:ea typeface="华文细黑" pitchFamily="2" charset="-122"/>
                        </a:rPr>
                        <a:t>（无效）</a:t>
                      </a:r>
                    </a:p>
                  </a:txBody>
                  <a:tcPr/>
                </a:tc>
                <a:extLst>
                  <a:ext uri="{0D108BD9-81ED-4DB2-BD59-A6C34878D82A}">
                    <a16:rowId xmlns:a16="http://schemas.microsoft.com/office/drawing/2014/main" val="10001"/>
                  </a:ext>
                </a:extLst>
              </a:tr>
              <a:tr h="370840">
                <a:tc>
                  <a:txBody>
                    <a:bodyPr/>
                    <a:lstStyle/>
                    <a:p>
                      <a:r>
                        <a:rPr lang="zh-CN" altLang="en-US" dirty="0">
                          <a:solidFill>
                            <a:srgbClr val="000000"/>
                          </a:solidFill>
                          <a:latin typeface="华文细黑" pitchFamily="2" charset="-122"/>
                          <a:ea typeface="华文细黑" pitchFamily="2" charset="-122"/>
                        </a:rPr>
                        <a:t>开区间</a:t>
                      </a:r>
                    </a:p>
                  </a:txBody>
                  <a:tcPr/>
                </a:tc>
                <a:tc>
                  <a:txBody>
                    <a:bodyPr/>
                    <a:lstStyle/>
                    <a:p>
                      <a:r>
                        <a:rPr lang="zh-CN" altLang="en-US" dirty="0">
                          <a:solidFill>
                            <a:srgbClr val="000000"/>
                          </a:solidFill>
                          <a:latin typeface="华文细黑" pitchFamily="2" charset="-122"/>
                          <a:ea typeface="华文细黑" pitchFamily="2" charset="-122"/>
                        </a:rPr>
                        <a:t>（</a:t>
                      </a:r>
                      <a:r>
                        <a:rPr lang="en-US" altLang="zh-CN" dirty="0">
                          <a:solidFill>
                            <a:srgbClr val="000000"/>
                          </a:solidFill>
                          <a:latin typeface="华文细黑" pitchFamily="2" charset="-122"/>
                          <a:ea typeface="华文细黑" pitchFamily="2" charset="-122"/>
                        </a:rPr>
                        <a:t>1,10</a:t>
                      </a:r>
                      <a:r>
                        <a:rPr lang="zh-CN" altLang="en-US" dirty="0">
                          <a:solidFill>
                            <a:srgbClr val="000000"/>
                          </a:solidFill>
                          <a:latin typeface="华文细黑" pitchFamily="2" charset="-122"/>
                          <a:ea typeface="华文细黑" pitchFamily="2" charset="-122"/>
                        </a:rPr>
                        <a:t>）</a:t>
                      </a:r>
                    </a:p>
                  </a:txBody>
                  <a:tcPr/>
                </a:tc>
                <a:tc>
                  <a:txBody>
                    <a:bodyPr/>
                    <a:lstStyle/>
                    <a:p>
                      <a:r>
                        <a:rPr lang="en-US" altLang="zh-CN" dirty="0">
                          <a:solidFill>
                            <a:srgbClr val="000000"/>
                          </a:solidFill>
                          <a:latin typeface="华文细黑" pitchFamily="2" charset="-122"/>
                          <a:ea typeface="华文细黑" pitchFamily="2" charset="-122"/>
                        </a:rPr>
                        <a:t>1</a:t>
                      </a:r>
                      <a:r>
                        <a:rPr lang="zh-CN" altLang="en-US" dirty="0">
                          <a:solidFill>
                            <a:srgbClr val="000000"/>
                          </a:solidFill>
                          <a:latin typeface="华文细黑" pitchFamily="2" charset="-122"/>
                          <a:ea typeface="华文细黑" pitchFamily="2" charset="-122"/>
                        </a:rPr>
                        <a:t>（无效）</a:t>
                      </a:r>
                    </a:p>
                  </a:txBody>
                  <a:tcPr/>
                </a:tc>
                <a:tc>
                  <a:txBody>
                    <a:bodyPr/>
                    <a:lstStyle/>
                    <a:p>
                      <a:r>
                        <a:rPr lang="en-US" altLang="zh-CN" dirty="0">
                          <a:solidFill>
                            <a:srgbClr val="FF0000"/>
                          </a:solidFill>
                          <a:latin typeface="华文细黑" pitchFamily="2" charset="-122"/>
                          <a:ea typeface="华文细黑" pitchFamily="2" charset="-122"/>
                        </a:rPr>
                        <a:t>2</a:t>
                      </a:r>
                      <a:r>
                        <a:rPr lang="zh-CN" altLang="en-US" dirty="0">
                          <a:solidFill>
                            <a:srgbClr val="FF0000"/>
                          </a:solidFill>
                          <a:latin typeface="华文细黑" pitchFamily="2" charset="-122"/>
                          <a:ea typeface="华文细黑" pitchFamily="2" charset="-122"/>
                        </a:rPr>
                        <a:t>（有效</a:t>
                      </a:r>
                      <a:r>
                        <a:rPr lang="zh-CN" altLang="en-US" dirty="0">
                          <a:solidFill>
                            <a:srgbClr val="000000"/>
                          </a:solidFill>
                          <a:latin typeface="华文细黑" pitchFamily="2" charset="-122"/>
                          <a:ea typeface="华文细黑" pitchFamily="2" charset="-122"/>
                        </a:rPr>
                        <a:t>）</a:t>
                      </a:r>
                    </a:p>
                  </a:txBody>
                  <a:tcPr/>
                </a:tc>
                <a:tc>
                  <a:txBody>
                    <a:bodyPr/>
                    <a:lstStyle/>
                    <a:p>
                      <a:r>
                        <a:rPr lang="en-US" altLang="zh-CN" dirty="0">
                          <a:solidFill>
                            <a:srgbClr val="000000"/>
                          </a:solidFill>
                          <a:latin typeface="华文细黑" pitchFamily="2" charset="-122"/>
                          <a:ea typeface="华文细黑" pitchFamily="2" charset="-122"/>
                        </a:rPr>
                        <a:t>10</a:t>
                      </a:r>
                      <a:r>
                        <a:rPr lang="zh-CN" altLang="en-US" dirty="0">
                          <a:solidFill>
                            <a:srgbClr val="000000"/>
                          </a:solidFill>
                          <a:latin typeface="华文细黑" pitchFamily="2" charset="-122"/>
                          <a:ea typeface="华文细黑" pitchFamily="2" charset="-122"/>
                        </a:rPr>
                        <a:t>（无效）</a:t>
                      </a:r>
                    </a:p>
                  </a:txBody>
                  <a:tcPr/>
                </a:tc>
                <a:tc>
                  <a:txBody>
                    <a:bodyPr/>
                    <a:lstStyle/>
                    <a:p>
                      <a:r>
                        <a:rPr lang="en-US" altLang="zh-CN" dirty="0">
                          <a:solidFill>
                            <a:srgbClr val="FFC000"/>
                          </a:solidFill>
                          <a:latin typeface="华文细黑" pitchFamily="2" charset="-122"/>
                          <a:ea typeface="华文细黑" pitchFamily="2" charset="-122"/>
                        </a:rPr>
                        <a:t>9</a:t>
                      </a:r>
                      <a:r>
                        <a:rPr lang="zh-CN" altLang="en-US" dirty="0">
                          <a:solidFill>
                            <a:srgbClr val="FFC000"/>
                          </a:solidFill>
                          <a:latin typeface="华文细黑" pitchFamily="2" charset="-122"/>
                          <a:ea typeface="华文细黑" pitchFamily="2" charset="-122"/>
                        </a:rPr>
                        <a:t>（有效）</a:t>
                      </a:r>
                    </a:p>
                  </a:txBody>
                  <a:tcPr/>
                </a:tc>
                <a:extLst>
                  <a:ext uri="{0D108BD9-81ED-4DB2-BD59-A6C34878D82A}">
                    <a16:rowId xmlns:a16="http://schemas.microsoft.com/office/drawing/2014/main" val="10002"/>
                  </a:ext>
                </a:extLst>
              </a:tr>
              <a:tr h="370840">
                <a:tc>
                  <a:txBody>
                    <a:bodyPr/>
                    <a:lstStyle/>
                    <a:p>
                      <a:r>
                        <a:rPr lang="zh-CN" altLang="en-US" dirty="0">
                          <a:solidFill>
                            <a:srgbClr val="000000"/>
                          </a:solidFill>
                          <a:latin typeface="华文细黑" pitchFamily="2" charset="-122"/>
                          <a:ea typeface="华文细黑" pitchFamily="2" charset="-122"/>
                        </a:rPr>
                        <a:t>半开半闭</a:t>
                      </a:r>
                    </a:p>
                  </a:txBody>
                  <a:tcPr/>
                </a:tc>
                <a:tc>
                  <a:txBody>
                    <a:bodyPr/>
                    <a:lstStyle/>
                    <a:p>
                      <a:r>
                        <a:rPr lang="en-US" altLang="zh-CN" dirty="0">
                          <a:solidFill>
                            <a:srgbClr val="000000"/>
                          </a:solidFill>
                          <a:latin typeface="华文细黑" pitchFamily="2" charset="-122"/>
                          <a:ea typeface="华文细黑" pitchFamily="2" charset="-122"/>
                        </a:rPr>
                        <a:t>【1</a:t>
                      </a:r>
                      <a:r>
                        <a:rPr lang="zh-CN" altLang="en-US" dirty="0">
                          <a:solidFill>
                            <a:srgbClr val="000000"/>
                          </a:solidFill>
                          <a:latin typeface="华文细黑" pitchFamily="2" charset="-122"/>
                          <a:ea typeface="华文细黑" pitchFamily="2" charset="-122"/>
                        </a:rPr>
                        <a:t>，</a:t>
                      </a:r>
                      <a:r>
                        <a:rPr lang="en-US" altLang="zh-CN" dirty="0">
                          <a:solidFill>
                            <a:srgbClr val="000000"/>
                          </a:solidFill>
                          <a:latin typeface="华文细黑" pitchFamily="2" charset="-122"/>
                          <a:ea typeface="华文细黑" pitchFamily="2" charset="-122"/>
                        </a:rPr>
                        <a:t>10</a:t>
                      </a:r>
                      <a:r>
                        <a:rPr lang="zh-CN" altLang="en-US" dirty="0">
                          <a:solidFill>
                            <a:srgbClr val="000000"/>
                          </a:solidFill>
                          <a:latin typeface="华文细黑" pitchFamily="2" charset="-122"/>
                          <a:ea typeface="华文细黑" pitchFamily="2" charset="-122"/>
                        </a:rPr>
                        <a:t>）</a:t>
                      </a:r>
                    </a:p>
                  </a:txBody>
                  <a:tcPr/>
                </a:tc>
                <a:tc>
                  <a:txBody>
                    <a:bodyPr/>
                    <a:lstStyle/>
                    <a:p>
                      <a:r>
                        <a:rPr lang="en-US" altLang="zh-CN" dirty="0">
                          <a:solidFill>
                            <a:srgbClr val="000000"/>
                          </a:solidFill>
                          <a:latin typeface="华文细黑" pitchFamily="2" charset="-122"/>
                          <a:ea typeface="华文细黑" pitchFamily="2" charset="-122"/>
                        </a:rPr>
                        <a:t>1</a:t>
                      </a:r>
                      <a:r>
                        <a:rPr lang="zh-CN" altLang="en-US" dirty="0">
                          <a:solidFill>
                            <a:srgbClr val="000000"/>
                          </a:solidFill>
                          <a:latin typeface="华文细黑" pitchFamily="2" charset="-122"/>
                          <a:ea typeface="华文细黑" pitchFamily="2" charset="-122"/>
                        </a:rPr>
                        <a:t>（有效）</a:t>
                      </a:r>
                    </a:p>
                  </a:txBody>
                  <a:tcPr/>
                </a:tc>
                <a:tc>
                  <a:txBody>
                    <a:bodyPr/>
                    <a:lstStyle/>
                    <a:p>
                      <a:r>
                        <a:rPr lang="en-US" altLang="zh-CN" dirty="0">
                          <a:solidFill>
                            <a:srgbClr val="000000"/>
                          </a:solidFill>
                          <a:latin typeface="华文细黑" pitchFamily="2" charset="-122"/>
                          <a:ea typeface="华文细黑" pitchFamily="2" charset="-122"/>
                        </a:rPr>
                        <a:t>0</a:t>
                      </a:r>
                      <a:r>
                        <a:rPr lang="zh-CN" altLang="en-US" dirty="0">
                          <a:solidFill>
                            <a:srgbClr val="000000"/>
                          </a:solidFill>
                          <a:latin typeface="华文细黑" pitchFamily="2" charset="-122"/>
                          <a:ea typeface="华文细黑" pitchFamily="2" charset="-122"/>
                        </a:rPr>
                        <a:t>（无效）</a:t>
                      </a:r>
                    </a:p>
                  </a:txBody>
                  <a:tcPr/>
                </a:tc>
                <a:tc>
                  <a:txBody>
                    <a:bodyPr/>
                    <a:lstStyle/>
                    <a:p>
                      <a:r>
                        <a:rPr lang="en-US" altLang="zh-CN" dirty="0">
                          <a:solidFill>
                            <a:srgbClr val="000000"/>
                          </a:solidFill>
                          <a:latin typeface="华文细黑" pitchFamily="2" charset="-122"/>
                          <a:ea typeface="华文细黑" pitchFamily="2" charset="-122"/>
                        </a:rPr>
                        <a:t>10</a:t>
                      </a:r>
                      <a:r>
                        <a:rPr lang="zh-CN" altLang="en-US" dirty="0">
                          <a:solidFill>
                            <a:srgbClr val="000000"/>
                          </a:solidFill>
                          <a:latin typeface="华文细黑" pitchFamily="2" charset="-122"/>
                          <a:ea typeface="华文细黑" pitchFamily="2" charset="-122"/>
                        </a:rPr>
                        <a:t>（无效）</a:t>
                      </a:r>
                    </a:p>
                  </a:txBody>
                  <a:tcPr/>
                </a:tc>
                <a:tc>
                  <a:txBody>
                    <a:bodyPr/>
                    <a:lstStyle/>
                    <a:p>
                      <a:r>
                        <a:rPr lang="en-US" altLang="zh-CN" dirty="0">
                          <a:solidFill>
                            <a:srgbClr val="FFC000"/>
                          </a:solidFill>
                          <a:latin typeface="华文细黑" pitchFamily="2" charset="-122"/>
                          <a:ea typeface="华文细黑" pitchFamily="2" charset="-122"/>
                        </a:rPr>
                        <a:t>9</a:t>
                      </a:r>
                      <a:r>
                        <a:rPr lang="zh-CN" altLang="en-US" dirty="0">
                          <a:solidFill>
                            <a:srgbClr val="FFC000"/>
                          </a:solidFill>
                          <a:latin typeface="华文细黑" pitchFamily="2" charset="-122"/>
                          <a:ea typeface="华文细黑" pitchFamily="2" charset="-122"/>
                        </a:rPr>
                        <a:t>（有效）</a:t>
                      </a:r>
                    </a:p>
                  </a:txBody>
                  <a:tcPr/>
                </a:tc>
                <a:extLst>
                  <a:ext uri="{0D108BD9-81ED-4DB2-BD59-A6C34878D82A}">
                    <a16:rowId xmlns:a16="http://schemas.microsoft.com/office/drawing/2014/main" val="10003"/>
                  </a:ext>
                </a:extLst>
              </a:tr>
              <a:tr h="370840">
                <a:tc>
                  <a:txBody>
                    <a:bodyPr/>
                    <a:lstStyle/>
                    <a:p>
                      <a:r>
                        <a:rPr lang="zh-CN" altLang="en-US" dirty="0">
                          <a:solidFill>
                            <a:srgbClr val="000000"/>
                          </a:solidFill>
                          <a:latin typeface="华文细黑" pitchFamily="2" charset="-122"/>
                          <a:ea typeface="华文细黑" pitchFamily="2" charset="-122"/>
                        </a:rPr>
                        <a:t>半开半闭</a:t>
                      </a:r>
                    </a:p>
                  </a:txBody>
                  <a:tcPr/>
                </a:tc>
                <a:tc>
                  <a:txBody>
                    <a:bodyPr/>
                    <a:lstStyle/>
                    <a:p>
                      <a:r>
                        <a:rPr lang="zh-CN" altLang="en-US" dirty="0">
                          <a:solidFill>
                            <a:srgbClr val="000000"/>
                          </a:solidFill>
                          <a:latin typeface="华文细黑" pitchFamily="2" charset="-122"/>
                          <a:ea typeface="华文细黑" pitchFamily="2" charset="-122"/>
                        </a:rPr>
                        <a:t>（</a:t>
                      </a:r>
                      <a:r>
                        <a:rPr lang="en-US" altLang="zh-CN" dirty="0">
                          <a:solidFill>
                            <a:srgbClr val="000000"/>
                          </a:solidFill>
                          <a:latin typeface="华文细黑" pitchFamily="2" charset="-122"/>
                          <a:ea typeface="华文细黑" pitchFamily="2" charset="-122"/>
                        </a:rPr>
                        <a:t>1</a:t>
                      </a:r>
                      <a:r>
                        <a:rPr lang="zh-CN" altLang="en-US" dirty="0">
                          <a:solidFill>
                            <a:srgbClr val="000000"/>
                          </a:solidFill>
                          <a:latin typeface="华文细黑" pitchFamily="2" charset="-122"/>
                          <a:ea typeface="华文细黑" pitchFamily="2" charset="-122"/>
                        </a:rPr>
                        <a:t>，</a:t>
                      </a:r>
                      <a:r>
                        <a:rPr lang="en-US" altLang="zh-CN" dirty="0">
                          <a:solidFill>
                            <a:srgbClr val="000000"/>
                          </a:solidFill>
                          <a:latin typeface="华文细黑" pitchFamily="2" charset="-122"/>
                          <a:ea typeface="华文细黑" pitchFamily="2" charset="-122"/>
                        </a:rPr>
                        <a:t>10】</a:t>
                      </a:r>
                      <a:endParaRPr lang="zh-CN" altLang="en-US" dirty="0">
                        <a:solidFill>
                          <a:srgbClr val="000000"/>
                        </a:solidFill>
                        <a:latin typeface="华文细黑" pitchFamily="2" charset="-122"/>
                        <a:ea typeface="华文细黑" pitchFamily="2" charset="-122"/>
                      </a:endParaRPr>
                    </a:p>
                  </a:txBody>
                  <a:tcPr/>
                </a:tc>
                <a:tc>
                  <a:txBody>
                    <a:bodyPr/>
                    <a:lstStyle/>
                    <a:p>
                      <a:r>
                        <a:rPr lang="en-US" altLang="zh-CN" dirty="0">
                          <a:solidFill>
                            <a:srgbClr val="000000"/>
                          </a:solidFill>
                          <a:latin typeface="华文细黑" pitchFamily="2" charset="-122"/>
                          <a:ea typeface="华文细黑" pitchFamily="2" charset="-122"/>
                        </a:rPr>
                        <a:t>1</a:t>
                      </a:r>
                      <a:r>
                        <a:rPr lang="zh-CN" altLang="en-US" dirty="0">
                          <a:solidFill>
                            <a:srgbClr val="000000"/>
                          </a:solidFill>
                          <a:latin typeface="华文细黑" pitchFamily="2" charset="-122"/>
                          <a:ea typeface="华文细黑" pitchFamily="2" charset="-122"/>
                        </a:rPr>
                        <a:t>（无效）</a:t>
                      </a:r>
                    </a:p>
                  </a:txBody>
                  <a:tcPr/>
                </a:tc>
                <a:tc>
                  <a:txBody>
                    <a:bodyPr/>
                    <a:lstStyle/>
                    <a:p>
                      <a:r>
                        <a:rPr lang="en-US" altLang="zh-CN" dirty="0">
                          <a:solidFill>
                            <a:srgbClr val="FF0000"/>
                          </a:solidFill>
                          <a:latin typeface="华文细黑" pitchFamily="2" charset="-122"/>
                          <a:ea typeface="华文细黑" pitchFamily="2" charset="-122"/>
                        </a:rPr>
                        <a:t>2</a:t>
                      </a:r>
                      <a:r>
                        <a:rPr lang="zh-CN" altLang="en-US" dirty="0">
                          <a:solidFill>
                            <a:srgbClr val="FF0000"/>
                          </a:solidFill>
                          <a:latin typeface="华文细黑" pitchFamily="2" charset="-122"/>
                          <a:ea typeface="华文细黑" pitchFamily="2" charset="-122"/>
                        </a:rPr>
                        <a:t>（有效</a:t>
                      </a:r>
                      <a:r>
                        <a:rPr lang="zh-CN" altLang="en-US" dirty="0">
                          <a:solidFill>
                            <a:srgbClr val="000000"/>
                          </a:solidFill>
                          <a:latin typeface="华文细黑" pitchFamily="2" charset="-122"/>
                          <a:ea typeface="华文细黑" pitchFamily="2" charset="-122"/>
                        </a:rPr>
                        <a:t>）</a:t>
                      </a:r>
                    </a:p>
                  </a:txBody>
                  <a:tcPr/>
                </a:tc>
                <a:tc>
                  <a:txBody>
                    <a:bodyPr/>
                    <a:lstStyle/>
                    <a:p>
                      <a:r>
                        <a:rPr lang="en-US" altLang="zh-CN" dirty="0">
                          <a:solidFill>
                            <a:srgbClr val="000000"/>
                          </a:solidFill>
                          <a:latin typeface="华文细黑" pitchFamily="2" charset="-122"/>
                          <a:ea typeface="华文细黑" pitchFamily="2" charset="-122"/>
                        </a:rPr>
                        <a:t>10</a:t>
                      </a:r>
                      <a:r>
                        <a:rPr lang="zh-CN" altLang="en-US" dirty="0">
                          <a:solidFill>
                            <a:srgbClr val="000000"/>
                          </a:solidFill>
                          <a:latin typeface="华文细黑" pitchFamily="2" charset="-122"/>
                          <a:ea typeface="华文细黑" pitchFamily="2" charset="-122"/>
                        </a:rPr>
                        <a:t>（有效）</a:t>
                      </a:r>
                    </a:p>
                  </a:txBody>
                  <a:tcPr/>
                </a:tc>
                <a:tc>
                  <a:txBody>
                    <a:bodyPr/>
                    <a:lstStyle/>
                    <a:p>
                      <a:r>
                        <a:rPr lang="en-US" altLang="zh-CN" dirty="0">
                          <a:solidFill>
                            <a:srgbClr val="000000"/>
                          </a:solidFill>
                          <a:latin typeface="华文细黑" pitchFamily="2" charset="-122"/>
                          <a:ea typeface="华文细黑" pitchFamily="2" charset="-122"/>
                        </a:rPr>
                        <a:t>11</a:t>
                      </a:r>
                      <a:r>
                        <a:rPr lang="zh-CN" altLang="en-US" dirty="0">
                          <a:solidFill>
                            <a:srgbClr val="000000"/>
                          </a:solidFill>
                          <a:latin typeface="华文细黑" pitchFamily="2" charset="-122"/>
                          <a:ea typeface="华文细黑" pitchFamily="2" charset="-122"/>
                        </a:rPr>
                        <a:t>（无效）</a:t>
                      </a:r>
                    </a:p>
                  </a:txBody>
                  <a:tcPr/>
                </a:tc>
                <a:extLst>
                  <a:ext uri="{0D108BD9-81ED-4DB2-BD59-A6C34878D82A}">
                    <a16:rowId xmlns:a16="http://schemas.microsoft.com/office/drawing/2014/main" val="10004"/>
                  </a:ext>
                </a:extLst>
              </a:tr>
            </a:tbl>
          </a:graphicData>
        </a:graphic>
      </p:graphicFrame>
      <p:sp>
        <p:nvSpPr>
          <p:cNvPr id="7" name="TextBox 5"/>
          <p:cNvSpPr txBox="1"/>
          <p:nvPr/>
        </p:nvSpPr>
        <p:spPr>
          <a:xfrm>
            <a:off x="624840" y="4233664"/>
            <a:ext cx="8640960" cy="677108"/>
          </a:xfrm>
          <a:prstGeom prst="rect">
            <a:avLst/>
          </a:prstGeom>
          <a:noFill/>
        </p:spPr>
        <p:txBody>
          <a:bodyPr wrap="square" rtlCol="0">
            <a:spAutoFit/>
          </a:bodyPr>
          <a:lstStyle/>
          <a:p>
            <a:r>
              <a:rPr lang="zh-CN" altLang="en-US" dirty="0">
                <a:solidFill>
                  <a:srgbClr val="000000"/>
                </a:solidFill>
                <a:latin typeface="华文细黑" pitchFamily="2" charset="-122"/>
                <a:ea typeface="华文细黑" pitchFamily="2" charset="-122"/>
              </a:rPr>
              <a:t>备注：设计中没有必要去关注上点、离点。边界值是必须选的，再选一个离边界值最近的另一个等价类的值</a:t>
            </a:r>
          </a:p>
        </p:txBody>
      </p:sp>
    </p:spTree>
    <p:extLst>
      <p:ext uri="{BB962C8B-B14F-4D97-AF65-F5344CB8AC3E}">
        <p14:creationId xmlns:p14="http://schemas.microsoft.com/office/powerpoint/2010/main" val="1385134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正交分析</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内容占位符 1"/>
          <p:cNvSpPr txBox="1">
            <a:spLocks/>
          </p:cNvSpPr>
          <p:nvPr/>
        </p:nvSpPr>
        <p:spPr>
          <a:xfrm>
            <a:off x="624840" y="1922091"/>
            <a:ext cx="7170194" cy="1454852"/>
          </a:xfrm>
          <a:prstGeom prst="rect">
            <a:avLst/>
          </a:prstGeom>
          <a:ln>
            <a:noFill/>
          </a:ln>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buFont typeface="Wingdings" panose="05000000000000000000" pitchFamily="2" charset="2"/>
              <a:buChar char="Ø"/>
            </a:pPr>
            <a:r>
              <a:rPr kumimoji="1" lang="zh-CN" altLang="en-US" sz="2000" dirty="0"/>
              <a:t>组合覆盖的初衷都是为了最大可能性的减少正交的次数。</a:t>
            </a:r>
            <a:endParaRPr kumimoji="1" lang="en-US" altLang="zh-CN" sz="2000" dirty="0"/>
          </a:p>
          <a:p>
            <a:pPr>
              <a:buFont typeface="Wingdings" panose="05000000000000000000" pitchFamily="2" charset="2"/>
              <a:buChar char="Ø"/>
            </a:pPr>
            <a:endParaRPr kumimoji="1" lang="en-US" altLang="zh-CN" sz="2000" dirty="0"/>
          </a:p>
          <a:p>
            <a:pPr>
              <a:buFont typeface="Wingdings" panose="05000000000000000000" pitchFamily="2" charset="2"/>
              <a:buChar char="Ø"/>
            </a:pPr>
            <a:r>
              <a:rPr lang="zh-CN" altLang="en-US" sz="2000" dirty="0">
                <a:solidFill>
                  <a:srgbClr val="000000"/>
                </a:solidFill>
                <a:latin typeface="华文细黑" pitchFamily="2" charset="-122"/>
                <a:ea typeface="华文细黑" pitchFamily="2" charset="-122"/>
              </a:rPr>
              <a:t>每个数据的取值可以根据等价类和边界值的方法进行选取。</a:t>
            </a:r>
            <a:endParaRPr lang="en-US" altLang="zh-CN" sz="2000" dirty="0">
              <a:solidFill>
                <a:srgbClr val="000000"/>
              </a:solidFill>
              <a:latin typeface="华文细黑" pitchFamily="2" charset="-122"/>
              <a:ea typeface="华文细黑" pitchFamily="2" charset="-122"/>
            </a:endParaRPr>
          </a:p>
          <a:p>
            <a:endParaRPr kumimoji="1" lang="en-US" altLang="en-US" sz="2000" dirty="0"/>
          </a:p>
          <a:p>
            <a:endParaRPr kumimoji="1" lang="zh-CN" altLang="en-US" sz="2000" dirty="0"/>
          </a:p>
        </p:txBody>
      </p:sp>
      <p:pic>
        <p:nvPicPr>
          <p:cNvPr id="11" name="图片 10" descr="Redocn_2012032605560041.jpg"/>
          <p:cNvPicPr>
            <a:picLocks noChangeAspect="1"/>
          </p:cNvPicPr>
          <p:nvPr/>
        </p:nvPicPr>
        <p:blipFill>
          <a:blip r:embed="rId2" cstate="print">
            <a:clrChange>
              <a:clrFrom>
                <a:srgbClr val="FFFFFF"/>
              </a:clrFrom>
              <a:clrTo>
                <a:srgbClr val="FFFFFF">
                  <a:alpha val="0"/>
                </a:srgbClr>
              </a:clrTo>
            </a:clrChange>
          </a:blip>
          <a:stretch>
            <a:fillRect/>
          </a:stretch>
        </p:blipFill>
        <p:spPr>
          <a:xfrm flipH="1">
            <a:off x="5897215" y="3182715"/>
            <a:ext cx="3264891" cy="3014658"/>
          </a:xfrm>
          <a:prstGeom prst="rect">
            <a:avLst/>
          </a:prstGeom>
        </p:spPr>
      </p:pic>
    </p:spTree>
    <p:extLst>
      <p:ext uri="{BB962C8B-B14F-4D97-AF65-F5344CB8AC3E}">
        <p14:creationId xmlns:p14="http://schemas.microsoft.com/office/powerpoint/2010/main" val="4009376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正交分析</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24840" y="1836980"/>
            <a:ext cx="9514378" cy="1200329"/>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一元覆盖法：</a:t>
            </a:r>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开始于先确认一个基本测试用例，然后以基本测试用例为基础，通过更改一个参数的取值创建新的测试用例（同一时间变化一个参数的值，其他参数的取值不变）</a:t>
            </a:r>
          </a:p>
        </p:txBody>
      </p:sp>
      <p:graphicFrame>
        <p:nvGraphicFramePr>
          <p:cNvPr id="9" name="表格 8"/>
          <p:cNvGraphicFramePr>
            <a:graphicFrameLocks noGrp="1"/>
          </p:cNvGraphicFramePr>
          <p:nvPr>
            <p:extLst>
              <p:ext uri="{D42A27DB-BD31-4B8C-83A1-F6EECF244321}">
                <p14:modId xmlns:p14="http://schemas.microsoft.com/office/powerpoint/2010/main" val="485322150"/>
              </p:ext>
            </p:extLst>
          </p:nvPr>
        </p:nvGraphicFramePr>
        <p:xfrm>
          <a:off x="1258431" y="3376936"/>
          <a:ext cx="3134740" cy="2116120"/>
        </p:xfrm>
        <a:graphic>
          <a:graphicData uri="http://schemas.openxmlformats.org/drawingml/2006/table">
            <a:tbl>
              <a:tblPr/>
              <a:tblGrid>
                <a:gridCol w="783685">
                  <a:extLst>
                    <a:ext uri="{9D8B030D-6E8A-4147-A177-3AD203B41FA5}">
                      <a16:colId xmlns:a16="http://schemas.microsoft.com/office/drawing/2014/main" val="2612902342"/>
                    </a:ext>
                  </a:extLst>
                </a:gridCol>
                <a:gridCol w="783685">
                  <a:extLst>
                    <a:ext uri="{9D8B030D-6E8A-4147-A177-3AD203B41FA5}">
                      <a16:colId xmlns:a16="http://schemas.microsoft.com/office/drawing/2014/main" val="4124432100"/>
                    </a:ext>
                  </a:extLst>
                </a:gridCol>
                <a:gridCol w="783685">
                  <a:extLst>
                    <a:ext uri="{9D8B030D-6E8A-4147-A177-3AD203B41FA5}">
                      <a16:colId xmlns:a16="http://schemas.microsoft.com/office/drawing/2014/main" val="2578231198"/>
                    </a:ext>
                  </a:extLst>
                </a:gridCol>
                <a:gridCol w="783685">
                  <a:extLst>
                    <a:ext uri="{9D8B030D-6E8A-4147-A177-3AD203B41FA5}">
                      <a16:colId xmlns:a16="http://schemas.microsoft.com/office/drawing/2014/main" val="693491075"/>
                    </a:ext>
                  </a:extLst>
                </a:gridCol>
              </a:tblGrid>
              <a:tr h="529030">
                <a:tc>
                  <a:txBody>
                    <a:bodyPr/>
                    <a:lstStyle/>
                    <a:p>
                      <a:pPr algn="ctr" fontAlgn="ctr"/>
                      <a:r>
                        <a:rPr lang="zh-CN" altLang="en-US" sz="1400" b="1" i="0" u="none" strike="noStrike" dirty="0">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Value1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Value2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Value3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7011471"/>
                  </a:ext>
                </a:extLst>
              </a:tr>
              <a:tr h="529030">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para1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3222086"/>
                  </a:ext>
                </a:extLst>
              </a:tr>
              <a:tr h="529030">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para2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1255555"/>
                  </a:ext>
                </a:extLst>
              </a:tr>
              <a:tr h="529030">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para3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0878345"/>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598314568"/>
              </p:ext>
            </p:extLst>
          </p:nvPr>
        </p:nvGraphicFramePr>
        <p:xfrm>
          <a:off x="5884752" y="3023851"/>
          <a:ext cx="3521800" cy="2923935"/>
        </p:xfrm>
        <a:graphic>
          <a:graphicData uri="http://schemas.openxmlformats.org/drawingml/2006/table">
            <a:tbl>
              <a:tblPr/>
              <a:tblGrid>
                <a:gridCol w="880450">
                  <a:extLst>
                    <a:ext uri="{9D8B030D-6E8A-4147-A177-3AD203B41FA5}">
                      <a16:colId xmlns:a16="http://schemas.microsoft.com/office/drawing/2014/main" val="826927385"/>
                    </a:ext>
                  </a:extLst>
                </a:gridCol>
                <a:gridCol w="880450">
                  <a:extLst>
                    <a:ext uri="{9D8B030D-6E8A-4147-A177-3AD203B41FA5}">
                      <a16:colId xmlns:a16="http://schemas.microsoft.com/office/drawing/2014/main" val="3713700061"/>
                    </a:ext>
                  </a:extLst>
                </a:gridCol>
                <a:gridCol w="880450">
                  <a:extLst>
                    <a:ext uri="{9D8B030D-6E8A-4147-A177-3AD203B41FA5}">
                      <a16:colId xmlns:a16="http://schemas.microsoft.com/office/drawing/2014/main" val="206980377"/>
                    </a:ext>
                  </a:extLst>
                </a:gridCol>
                <a:gridCol w="880450">
                  <a:extLst>
                    <a:ext uri="{9D8B030D-6E8A-4147-A177-3AD203B41FA5}">
                      <a16:colId xmlns:a16="http://schemas.microsoft.com/office/drawing/2014/main" val="833233820"/>
                    </a:ext>
                  </a:extLst>
                </a:gridCol>
              </a:tblGrid>
              <a:tr h="417705">
                <a:tc>
                  <a:txBody>
                    <a:bodyPr/>
                    <a:lstStyle/>
                    <a:p>
                      <a:pPr algn="ctr" fontAlgn="ctr"/>
                      <a:r>
                        <a:rPr lang="zh-CN" altLang="en-US" sz="1400" b="1" i="0" u="none" strike="noStrike" dirty="0">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para1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para2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para3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1442083"/>
                  </a:ext>
                </a:extLst>
              </a:tr>
              <a:tr h="417705">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case1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75000"/>
                      </a:schemeClr>
                    </a:solidFill>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3762041839"/>
                  </a:ext>
                </a:extLst>
              </a:tr>
              <a:tr h="417705">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case2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9015935"/>
                  </a:ext>
                </a:extLst>
              </a:tr>
              <a:tr h="417705">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case3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5330245"/>
                  </a:ext>
                </a:extLst>
              </a:tr>
              <a:tr h="417705">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case4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8380516"/>
                  </a:ext>
                </a:extLst>
              </a:tr>
              <a:tr h="417705">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case5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1405704"/>
                  </a:ext>
                </a:extLst>
              </a:tr>
              <a:tr h="417705">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case6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841519"/>
                  </a:ext>
                </a:extLst>
              </a:tr>
            </a:tbl>
          </a:graphicData>
        </a:graphic>
      </p:graphicFrame>
      <p:sp>
        <p:nvSpPr>
          <p:cNvPr id="10" name="右箭头 9"/>
          <p:cNvSpPr/>
          <p:nvPr/>
        </p:nvSpPr>
        <p:spPr>
          <a:xfrm>
            <a:off x="5003788" y="4292549"/>
            <a:ext cx="438837" cy="4074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43374" y="1113169"/>
            <a:ext cx="10429425" cy="369332"/>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作用：用于验证多个输入数据的组合策略，用尽量少的用例达到最大的覆盖率。</a:t>
            </a:r>
            <a:endParaRPr lang="en-US" altLang="zh-CN"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1826372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正交分析</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24840" y="1099874"/>
            <a:ext cx="9514378" cy="1200329"/>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二元</a:t>
            </a:r>
            <a:r>
              <a:rPr lang="en-US" altLang="zh-CN" dirty="0">
                <a:solidFill>
                  <a:srgbClr val="000000"/>
                </a:solidFill>
                <a:latin typeface="华文细黑" pitchFamily="2" charset="-122"/>
                <a:ea typeface="华文细黑" pitchFamily="2" charset="-122"/>
              </a:rPr>
              <a:t>/</a:t>
            </a:r>
            <a:r>
              <a:rPr lang="zh-CN" altLang="en-US" dirty="0">
                <a:solidFill>
                  <a:srgbClr val="000000"/>
                </a:solidFill>
                <a:latin typeface="华文细黑" pitchFamily="2" charset="-122"/>
                <a:ea typeface="华文细黑" pitchFamily="2" charset="-122"/>
              </a:rPr>
              <a:t>多元覆盖法：</a:t>
            </a:r>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又叫</a:t>
            </a:r>
            <a:r>
              <a:rPr kumimoji="1" lang="en-US" altLang="zh-CN" dirty="0"/>
              <a:t>Pairwise</a:t>
            </a:r>
            <a:r>
              <a:rPr kumimoji="1" lang="zh-CN" altLang="en-US" dirty="0"/>
              <a:t>，两两正交组合法，至少保证每两个参数的值覆盖一次。</a:t>
            </a:r>
            <a:endParaRPr kumimoji="1" lang="en-US" altLang="zh-CN" dirty="0"/>
          </a:p>
          <a:p>
            <a:r>
              <a:rPr kumimoji="1" lang="zh-CN" altLang="en-US" dirty="0">
                <a:solidFill>
                  <a:srgbClr val="000000"/>
                </a:solidFill>
                <a:latin typeface="华文细黑" pitchFamily="2" charset="-122"/>
                <a:ea typeface="华文细黑" pitchFamily="2" charset="-122"/>
              </a:rPr>
              <a:t>业界开源工具很多，使用很普遍的叫</a:t>
            </a:r>
            <a:r>
              <a:rPr kumimoji="1" lang="en-US" altLang="zh-CN" dirty="0">
                <a:solidFill>
                  <a:srgbClr val="000000"/>
                </a:solidFill>
                <a:latin typeface="华文细黑" pitchFamily="2" charset="-122"/>
                <a:ea typeface="华文细黑" pitchFamily="2" charset="-122"/>
              </a:rPr>
              <a:t>PICT</a:t>
            </a:r>
            <a:r>
              <a:rPr kumimoji="1" lang="zh-CN" altLang="en-US" dirty="0">
                <a:solidFill>
                  <a:srgbClr val="000000"/>
                </a:solidFill>
                <a:latin typeface="华文细黑" pitchFamily="2" charset="-122"/>
                <a:ea typeface="华文细黑" pitchFamily="2" charset="-122"/>
              </a:rPr>
              <a:t>。</a:t>
            </a:r>
            <a:endParaRPr lang="zh-CN" altLang="en-US" dirty="0">
              <a:solidFill>
                <a:srgbClr val="000000"/>
              </a:solidFill>
              <a:latin typeface="华文细黑" pitchFamily="2" charset="-122"/>
              <a:ea typeface="华文细黑" pitchFamily="2" charset="-122"/>
            </a:endParaRPr>
          </a:p>
        </p:txBody>
      </p:sp>
      <p:sp>
        <p:nvSpPr>
          <p:cNvPr id="10" name="右箭头 9"/>
          <p:cNvSpPr/>
          <p:nvPr/>
        </p:nvSpPr>
        <p:spPr>
          <a:xfrm>
            <a:off x="5003788" y="3912309"/>
            <a:ext cx="438837" cy="4074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表格 10"/>
          <p:cNvGraphicFramePr>
            <a:graphicFrameLocks noGrp="1"/>
          </p:cNvGraphicFramePr>
          <p:nvPr>
            <p:extLst>
              <p:ext uri="{D42A27DB-BD31-4B8C-83A1-F6EECF244321}">
                <p14:modId xmlns:p14="http://schemas.microsoft.com/office/powerpoint/2010/main" val="3009315464"/>
              </p:ext>
            </p:extLst>
          </p:nvPr>
        </p:nvGraphicFramePr>
        <p:xfrm>
          <a:off x="1258431" y="2996696"/>
          <a:ext cx="3134740" cy="2116120"/>
        </p:xfrm>
        <a:graphic>
          <a:graphicData uri="http://schemas.openxmlformats.org/drawingml/2006/table">
            <a:tbl>
              <a:tblPr/>
              <a:tblGrid>
                <a:gridCol w="783685">
                  <a:extLst>
                    <a:ext uri="{9D8B030D-6E8A-4147-A177-3AD203B41FA5}">
                      <a16:colId xmlns:a16="http://schemas.microsoft.com/office/drawing/2014/main" val="2612902342"/>
                    </a:ext>
                  </a:extLst>
                </a:gridCol>
                <a:gridCol w="783685">
                  <a:extLst>
                    <a:ext uri="{9D8B030D-6E8A-4147-A177-3AD203B41FA5}">
                      <a16:colId xmlns:a16="http://schemas.microsoft.com/office/drawing/2014/main" val="4124432100"/>
                    </a:ext>
                  </a:extLst>
                </a:gridCol>
                <a:gridCol w="783685">
                  <a:extLst>
                    <a:ext uri="{9D8B030D-6E8A-4147-A177-3AD203B41FA5}">
                      <a16:colId xmlns:a16="http://schemas.microsoft.com/office/drawing/2014/main" val="2578231198"/>
                    </a:ext>
                  </a:extLst>
                </a:gridCol>
                <a:gridCol w="783685">
                  <a:extLst>
                    <a:ext uri="{9D8B030D-6E8A-4147-A177-3AD203B41FA5}">
                      <a16:colId xmlns:a16="http://schemas.microsoft.com/office/drawing/2014/main" val="693491075"/>
                    </a:ext>
                  </a:extLst>
                </a:gridCol>
              </a:tblGrid>
              <a:tr h="529030">
                <a:tc>
                  <a:txBody>
                    <a:bodyPr/>
                    <a:lstStyle/>
                    <a:p>
                      <a:pPr algn="ctr" fontAlgn="ctr"/>
                      <a:r>
                        <a:rPr lang="zh-CN" altLang="en-US" sz="1400" b="1" i="0" u="none" strike="noStrike" dirty="0">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Value1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Value2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Value3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7011471"/>
                  </a:ext>
                </a:extLst>
              </a:tr>
              <a:tr h="529030">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para1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3222086"/>
                  </a:ext>
                </a:extLst>
              </a:tr>
              <a:tr h="529030">
                <a:tc>
                  <a:txBody>
                    <a:bodyPr/>
                    <a:lstStyle/>
                    <a:p>
                      <a:pPr algn="ctr" fontAlgn="ctr"/>
                      <a:r>
                        <a:rPr lang="en-US" sz="1400" b="1" i="0" u="none" strike="noStrike">
                          <a:solidFill>
                            <a:srgbClr val="000000"/>
                          </a:solidFill>
                          <a:effectLst/>
                          <a:latin typeface="Arial" panose="020B0604020202020204" pitchFamily="34" charset="0"/>
                          <a:ea typeface="等线" panose="02010600030101010101" pitchFamily="2" charset="-122"/>
                        </a:rPr>
                        <a:t>para2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1255555"/>
                  </a:ext>
                </a:extLst>
              </a:tr>
              <a:tr h="529030">
                <a:tc>
                  <a:txBody>
                    <a:bodyPr/>
                    <a:lstStyle/>
                    <a:p>
                      <a:pPr algn="ctr" fontAlgn="ctr"/>
                      <a:r>
                        <a:rPr lang="en-US" sz="1400" b="1" i="0" u="none" strike="noStrike" dirty="0">
                          <a:solidFill>
                            <a:srgbClr val="000000"/>
                          </a:solidFill>
                          <a:effectLst/>
                          <a:latin typeface="Arial" panose="020B0604020202020204" pitchFamily="34" charset="0"/>
                          <a:ea typeface="等线" panose="02010600030101010101" pitchFamily="2" charset="-122"/>
                        </a:rPr>
                        <a:t>para3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0878345"/>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99594442"/>
              </p:ext>
            </p:extLst>
          </p:nvPr>
        </p:nvGraphicFramePr>
        <p:xfrm>
          <a:off x="5881232" y="2300203"/>
          <a:ext cx="2946400" cy="3810000"/>
        </p:xfrm>
        <a:graphic>
          <a:graphicData uri="http://schemas.openxmlformats.org/drawingml/2006/table">
            <a:tbl>
              <a:tblPr/>
              <a:tblGrid>
                <a:gridCol w="736600">
                  <a:extLst>
                    <a:ext uri="{9D8B030D-6E8A-4147-A177-3AD203B41FA5}">
                      <a16:colId xmlns:a16="http://schemas.microsoft.com/office/drawing/2014/main" val="2124202050"/>
                    </a:ext>
                  </a:extLst>
                </a:gridCol>
                <a:gridCol w="736600">
                  <a:extLst>
                    <a:ext uri="{9D8B030D-6E8A-4147-A177-3AD203B41FA5}">
                      <a16:colId xmlns:a16="http://schemas.microsoft.com/office/drawing/2014/main" val="3297335661"/>
                    </a:ext>
                  </a:extLst>
                </a:gridCol>
                <a:gridCol w="736600">
                  <a:extLst>
                    <a:ext uri="{9D8B030D-6E8A-4147-A177-3AD203B41FA5}">
                      <a16:colId xmlns:a16="http://schemas.microsoft.com/office/drawing/2014/main" val="404893951"/>
                    </a:ext>
                  </a:extLst>
                </a:gridCol>
                <a:gridCol w="736600">
                  <a:extLst>
                    <a:ext uri="{9D8B030D-6E8A-4147-A177-3AD203B41FA5}">
                      <a16:colId xmlns:a16="http://schemas.microsoft.com/office/drawing/2014/main" val="1893765649"/>
                    </a:ext>
                  </a:extLst>
                </a:gridCol>
              </a:tblGrid>
              <a:tr h="381000">
                <a:tc>
                  <a:txBody>
                    <a:bodyPr/>
                    <a:lstStyle/>
                    <a:p>
                      <a:pPr algn="ctr" fontAlgn="ctr"/>
                      <a:r>
                        <a:rPr lang="zh-CN" altLang="en-US" sz="1200" b="1" i="0" u="none" strike="noStrike">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para1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para2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para3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5959635"/>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05773"/>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5441089"/>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0920600"/>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8808844"/>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597052"/>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2745715"/>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6886070"/>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105449"/>
                  </a:ext>
                </a:extLst>
              </a:tr>
              <a:tr h="381000">
                <a:tc>
                  <a:txBody>
                    <a:bodyPr/>
                    <a:lstStyle/>
                    <a:p>
                      <a:pPr algn="ctr" fontAlgn="ctr"/>
                      <a:r>
                        <a:rPr lang="en-US" sz="1200" b="1" i="0" u="none" strike="noStrike" dirty="0">
                          <a:solidFill>
                            <a:srgbClr val="000000"/>
                          </a:solidFill>
                          <a:effectLst/>
                          <a:latin typeface="Arial" panose="020B0604020202020204" pitchFamily="34" charset="0"/>
                          <a:ea typeface="等线" panose="02010600030101010101" pitchFamily="2" charset="-122"/>
                        </a:rPr>
                        <a:t>case9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3830363"/>
                  </a:ext>
                </a:extLst>
              </a:tr>
            </a:tbl>
          </a:graphicData>
        </a:graphic>
      </p:graphicFrame>
    </p:spTree>
    <p:extLst>
      <p:ext uri="{BB962C8B-B14F-4D97-AF65-F5344CB8AC3E}">
        <p14:creationId xmlns:p14="http://schemas.microsoft.com/office/powerpoint/2010/main" val="1503466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正交分析</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24840" y="1099874"/>
            <a:ext cx="9514378" cy="1200329"/>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另外一种多元覆盖法：</a:t>
            </a:r>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r>
              <a:rPr kumimoji="1" lang="zh-CN" altLang="en-US" dirty="0">
                <a:solidFill>
                  <a:srgbClr val="000000"/>
                </a:solidFill>
                <a:latin typeface="华文细黑" pitchFamily="2" charset="-122"/>
                <a:ea typeface="华文细黑" pitchFamily="2" charset="-122"/>
              </a:rPr>
              <a:t>可以借用前面</a:t>
            </a:r>
            <a:r>
              <a:rPr kumimoji="1" lang="en-US" altLang="zh-CN" dirty="0">
                <a:solidFill>
                  <a:srgbClr val="000000"/>
                </a:solidFill>
                <a:latin typeface="华文细黑" pitchFamily="2" charset="-122"/>
                <a:ea typeface="华文细黑" pitchFamily="2" charset="-122"/>
              </a:rPr>
              <a:t>pairwise</a:t>
            </a:r>
            <a:r>
              <a:rPr kumimoji="1" lang="zh-CN" altLang="en-US" dirty="0">
                <a:solidFill>
                  <a:srgbClr val="000000"/>
                </a:solidFill>
                <a:latin typeface="华文细黑" pitchFamily="2" charset="-122"/>
                <a:ea typeface="华文细黑" pitchFamily="2" charset="-122"/>
              </a:rPr>
              <a:t>的方法，核心点就是抓“强”放“弱”。</a:t>
            </a:r>
            <a:endParaRPr kumimoji="1" lang="en-US" altLang="zh-CN"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只对强关联的参数进行正交，对弱关联的参数进行策略覆盖，并不进行正交。</a:t>
            </a:r>
          </a:p>
        </p:txBody>
      </p:sp>
      <p:graphicFrame>
        <p:nvGraphicFramePr>
          <p:cNvPr id="8" name="表格 7"/>
          <p:cNvGraphicFramePr>
            <a:graphicFrameLocks noGrp="1"/>
          </p:cNvGraphicFramePr>
          <p:nvPr>
            <p:extLst>
              <p:ext uri="{D42A27DB-BD31-4B8C-83A1-F6EECF244321}">
                <p14:modId xmlns:p14="http://schemas.microsoft.com/office/powerpoint/2010/main" val="1539561719"/>
              </p:ext>
            </p:extLst>
          </p:nvPr>
        </p:nvGraphicFramePr>
        <p:xfrm>
          <a:off x="724276" y="3223034"/>
          <a:ext cx="2492096" cy="1609124"/>
        </p:xfrm>
        <a:graphic>
          <a:graphicData uri="http://schemas.openxmlformats.org/drawingml/2006/table">
            <a:tbl>
              <a:tblPr/>
              <a:tblGrid>
                <a:gridCol w="623024">
                  <a:extLst>
                    <a:ext uri="{9D8B030D-6E8A-4147-A177-3AD203B41FA5}">
                      <a16:colId xmlns:a16="http://schemas.microsoft.com/office/drawing/2014/main" val="2612902342"/>
                    </a:ext>
                  </a:extLst>
                </a:gridCol>
                <a:gridCol w="623024">
                  <a:extLst>
                    <a:ext uri="{9D8B030D-6E8A-4147-A177-3AD203B41FA5}">
                      <a16:colId xmlns:a16="http://schemas.microsoft.com/office/drawing/2014/main" val="4124432100"/>
                    </a:ext>
                  </a:extLst>
                </a:gridCol>
                <a:gridCol w="623024">
                  <a:extLst>
                    <a:ext uri="{9D8B030D-6E8A-4147-A177-3AD203B41FA5}">
                      <a16:colId xmlns:a16="http://schemas.microsoft.com/office/drawing/2014/main" val="2578231198"/>
                    </a:ext>
                  </a:extLst>
                </a:gridCol>
                <a:gridCol w="623024">
                  <a:extLst>
                    <a:ext uri="{9D8B030D-6E8A-4147-A177-3AD203B41FA5}">
                      <a16:colId xmlns:a16="http://schemas.microsoft.com/office/drawing/2014/main" val="693491075"/>
                    </a:ext>
                  </a:extLst>
                </a:gridCol>
              </a:tblGrid>
              <a:tr h="402281">
                <a:tc>
                  <a:txBody>
                    <a:bodyPr/>
                    <a:lstStyle/>
                    <a:p>
                      <a:pPr algn="ctr" fontAlgn="ctr"/>
                      <a:r>
                        <a:rPr lang="zh-CN" altLang="en-US" sz="1200" b="1" i="0" u="none" strike="noStrike" dirty="0">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Arial" panose="020B0604020202020204" pitchFamily="34" charset="0"/>
                          <a:ea typeface="等线" panose="02010600030101010101" pitchFamily="2" charset="-122"/>
                        </a:rPr>
                        <a:t>Value1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Value2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Value3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7011471"/>
                  </a:ext>
                </a:extLst>
              </a:tr>
              <a:tr h="402281">
                <a:tc>
                  <a:txBody>
                    <a:bodyPr/>
                    <a:lstStyle/>
                    <a:p>
                      <a:pPr algn="ctr" fontAlgn="ctr"/>
                      <a:r>
                        <a:rPr lang="en-US" sz="1200" b="1" i="0" u="none" strike="noStrike" dirty="0">
                          <a:solidFill>
                            <a:srgbClr val="000000"/>
                          </a:solidFill>
                          <a:effectLst/>
                          <a:latin typeface="Arial" panose="020B0604020202020204" pitchFamily="34" charset="0"/>
                          <a:ea typeface="等线" panose="02010600030101010101" pitchFamily="2" charset="-122"/>
                        </a:rPr>
                        <a:t>para1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3222086"/>
                  </a:ext>
                </a:extLst>
              </a:tr>
              <a:tr h="402281">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para2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1255555"/>
                  </a:ext>
                </a:extLst>
              </a:tr>
              <a:tr h="402281">
                <a:tc>
                  <a:txBody>
                    <a:bodyPr/>
                    <a:lstStyle/>
                    <a:p>
                      <a:pPr algn="ctr" fontAlgn="ctr"/>
                      <a:r>
                        <a:rPr lang="en-US" sz="1200" b="1" i="0" u="none" strike="noStrike" dirty="0">
                          <a:solidFill>
                            <a:srgbClr val="000000"/>
                          </a:solidFill>
                          <a:effectLst/>
                          <a:latin typeface="Arial" panose="020B0604020202020204" pitchFamily="34" charset="0"/>
                          <a:ea typeface="等线" panose="02010600030101010101" pitchFamily="2" charset="-122"/>
                        </a:rPr>
                        <a:t>para3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Arial" panose="020B0604020202020204" pitchFamily="34" charset="0"/>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0878345"/>
                  </a:ext>
                </a:extLst>
              </a:tr>
            </a:tbl>
          </a:graphicData>
        </a:graphic>
      </p:graphicFrame>
      <p:sp>
        <p:nvSpPr>
          <p:cNvPr id="11" name="右箭头 10"/>
          <p:cNvSpPr/>
          <p:nvPr/>
        </p:nvSpPr>
        <p:spPr>
          <a:xfrm>
            <a:off x="3394875" y="3823893"/>
            <a:ext cx="438837" cy="4074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val="961539049"/>
              </p:ext>
            </p:extLst>
          </p:nvPr>
        </p:nvGraphicFramePr>
        <p:xfrm>
          <a:off x="4014454" y="2706186"/>
          <a:ext cx="2559062" cy="2661674"/>
        </p:xfrm>
        <a:graphic>
          <a:graphicData uri="http://schemas.openxmlformats.org/drawingml/2006/table">
            <a:tbl>
              <a:tblPr/>
              <a:tblGrid>
                <a:gridCol w="1056626">
                  <a:extLst>
                    <a:ext uri="{9D8B030D-6E8A-4147-A177-3AD203B41FA5}">
                      <a16:colId xmlns:a16="http://schemas.microsoft.com/office/drawing/2014/main" val="2933615164"/>
                    </a:ext>
                  </a:extLst>
                </a:gridCol>
                <a:gridCol w="1502436">
                  <a:extLst>
                    <a:ext uri="{9D8B030D-6E8A-4147-A177-3AD203B41FA5}">
                      <a16:colId xmlns:a16="http://schemas.microsoft.com/office/drawing/2014/main" val="1566494017"/>
                    </a:ext>
                  </a:extLst>
                </a:gridCol>
              </a:tblGrid>
              <a:tr h="375674">
                <a:tc>
                  <a:txBody>
                    <a:bodyPr/>
                    <a:lstStyle/>
                    <a:p>
                      <a:pPr algn="l" fontAlgn="b"/>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等线" panose="02010600030101010101" pitchFamily="2" charset="-122"/>
                          <a:ea typeface="等线" panose="02010600030101010101" pitchFamily="2" charset="-122"/>
                        </a:rPr>
                        <a:t>Value1</a:t>
                      </a:r>
                      <a:r>
                        <a:rPr lang="en-US" altLang="zh-CN" sz="1200" b="1" i="0" u="none" strike="noStrike" dirty="0">
                          <a:solidFill>
                            <a:srgbClr val="000000"/>
                          </a:solidFill>
                          <a:effectLst/>
                          <a:latin typeface="等线" panose="02010600030101010101" pitchFamily="2" charset="-122"/>
                          <a:ea typeface="等线" panose="02010600030101010101" pitchFamily="2" charset="-122"/>
                        </a:rPr>
                        <a:t>&amp;</a:t>
                      </a:r>
                      <a:r>
                        <a:rPr lang="en-US" sz="1200" b="1" i="0" u="none" strike="noStrike" dirty="0">
                          <a:solidFill>
                            <a:srgbClr val="000000"/>
                          </a:solidFill>
                          <a:effectLst/>
                          <a:latin typeface="等线" panose="02010600030101010101" pitchFamily="2" charset="-122"/>
                          <a:ea typeface="等线" panose="02010600030101010101" pitchFamily="2" charset="-122"/>
                        </a:rPr>
                        <a:t>3</a:t>
                      </a:r>
                      <a:r>
                        <a:rPr lang="zh-CN" altLang="en-US" sz="1200" b="1" i="0" u="none" strike="noStrike" dirty="0">
                          <a:solidFill>
                            <a:srgbClr val="000000"/>
                          </a:solidFill>
                          <a:effectLst/>
                          <a:latin typeface="等线" panose="02010600030101010101" pitchFamily="2" charset="-122"/>
                          <a:ea typeface="等线" panose="02010600030101010101" pitchFamily="2" charset="-122"/>
                        </a:rPr>
                        <a:t>强关联组合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4392790"/>
                  </a:ext>
                </a:extLst>
              </a:tr>
              <a:tr h="381000">
                <a:tc>
                  <a:txBody>
                    <a:bodyPr/>
                    <a:lstStyle/>
                    <a:p>
                      <a:pPr algn="ctr" fontAlgn="ctr"/>
                      <a:r>
                        <a:rPr lang="zh-CN" altLang="en-US" sz="1200" b="1" i="0" u="none" strike="noStrike" dirty="0">
                          <a:solidFill>
                            <a:srgbClr val="000000"/>
                          </a:solidFill>
                          <a:effectLst/>
                          <a:latin typeface="Arial" panose="020B0604020202020204" pitchFamily="34" charset="0"/>
                          <a:ea typeface="等线" panose="02010600030101010101" pitchFamily="2" charset="-122"/>
                        </a:rPr>
                        <a:t>编号</a:t>
                      </a:r>
                      <a:r>
                        <a:rPr lang="en-US" altLang="zh-CN" sz="1200" b="1" i="0" u="none" strike="noStrike" dirty="0">
                          <a:solidFill>
                            <a:srgbClr val="000000"/>
                          </a:solidFill>
                          <a:effectLst/>
                          <a:latin typeface="Arial" panose="020B0604020202020204" pitchFamily="34"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1&amp;7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8583801"/>
                  </a:ext>
                </a:extLst>
              </a:tr>
              <a:tr h="381000">
                <a:tc>
                  <a:txBody>
                    <a:bodyPr/>
                    <a:lstStyle/>
                    <a:p>
                      <a:pPr algn="ctr" fontAlgn="ctr"/>
                      <a:r>
                        <a:rPr lang="zh-CN" altLang="en-US" sz="1200" b="1" i="0" u="none" strike="noStrike">
                          <a:solidFill>
                            <a:srgbClr val="000000"/>
                          </a:solidFill>
                          <a:effectLst/>
                          <a:latin typeface="Arial" panose="020B0604020202020204" pitchFamily="34" charset="0"/>
                          <a:ea typeface="等线" panose="02010600030101010101" pitchFamily="2" charset="-122"/>
                        </a:rPr>
                        <a:t>编号</a:t>
                      </a:r>
                      <a:r>
                        <a:rPr lang="en-US" altLang="zh-CN" sz="1200" b="1"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1&amp;8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149895"/>
                  </a:ext>
                </a:extLst>
              </a:tr>
              <a:tr h="381000">
                <a:tc>
                  <a:txBody>
                    <a:bodyPr/>
                    <a:lstStyle/>
                    <a:p>
                      <a:pPr algn="ctr" fontAlgn="ctr"/>
                      <a:r>
                        <a:rPr lang="zh-CN" altLang="en-US" sz="1200" b="1" i="0" u="none" strike="noStrike">
                          <a:solidFill>
                            <a:srgbClr val="000000"/>
                          </a:solidFill>
                          <a:effectLst/>
                          <a:latin typeface="Arial" panose="020B0604020202020204" pitchFamily="34" charset="0"/>
                          <a:ea typeface="等线" panose="02010600030101010101" pitchFamily="2" charset="-122"/>
                        </a:rPr>
                        <a:t>编号</a:t>
                      </a:r>
                      <a:r>
                        <a:rPr lang="en-US" altLang="zh-CN" sz="1200" b="1"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2&amp;7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661349"/>
                  </a:ext>
                </a:extLst>
              </a:tr>
              <a:tr h="381000">
                <a:tc>
                  <a:txBody>
                    <a:bodyPr/>
                    <a:lstStyle/>
                    <a:p>
                      <a:pPr algn="ctr" fontAlgn="ctr"/>
                      <a:r>
                        <a:rPr lang="zh-CN" altLang="en-US" sz="1200" b="1" i="0" u="none" strike="noStrike">
                          <a:solidFill>
                            <a:srgbClr val="000000"/>
                          </a:solidFill>
                          <a:effectLst/>
                          <a:latin typeface="Arial" panose="020B0604020202020204" pitchFamily="34" charset="0"/>
                          <a:ea typeface="等线" panose="02010600030101010101" pitchFamily="2" charset="-122"/>
                        </a:rPr>
                        <a:t>编号</a:t>
                      </a:r>
                      <a:r>
                        <a:rPr lang="en-US" altLang="zh-CN" sz="1200" b="1"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2&amp;8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9075124"/>
                  </a:ext>
                </a:extLst>
              </a:tr>
              <a:tr h="381000">
                <a:tc>
                  <a:txBody>
                    <a:bodyPr/>
                    <a:lstStyle/>
                    <a:p>
                      <a:pPr algn="ctr" fontAlgn="ctr"/>
                      <a:r>
                        <a:rPr lang="zh-CN" altLang="en-US" sz="1200" b="1" i="0" u="none" strike="noStrike">
                          <a:solidFill>
                            <a:srgbClr val="000000"/>
                          </a:solidFill>
                          <a:effectLst/>
                          <a:latin typeface="Arial" panose="020B0604020202020204" pitchFamily="34" charset="0"/>
                          <a:ea typeface="等线" panose="02010600030101010101" pitchFamily="2" charset="-122"/>
                        </a:rPr>
                        <a:t>编号</a:t>
                      </a:r>
                      <a:r>
                        <a:rPr lang="en-US" altLang="zh-CN" sz="1200" b="1"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3&amp;7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486413"/>
                  </a:ext>
                </a:extLst>
              </a:tr>
              <a:tr h="381000">
                <a:tc>
                  <a:txBody>
                    <a:bodyPr/>
                    <a:lstStyle/>
                    <a:p>
                      <a:pPr algn="ctr" fontAlgn="ctr"/>
                      <a:r>
                        <a:rPr lang="zh-CN" altLang="en-US" sz="1200" b="1" i="0" u="none" strike="noStrike">
                          <a:solidFill>
                            <a:srgbClr val="000000"/>
                          </a:solidFill>
                          <a:effectLst/>
                          <a:latin typeface="Arial" panose="020B0604020202020204" pitchFamily="34" charset="0"/>
                          <a:ea typeface="等线" panose="02010600030101010101" pitchFamily="2" charset="-122"/>
                        </a:rPr>
                        <a:t>编号</a:t>
                      </a:r>
                      <a:r>
                        <a:rPr lang="en-US" altLang="zh-CN" sz="1200" b="1" i="0" u="none" strike="noStrike">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3&amp;8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844092"/>
                  </a:ext>
                </a:extLst>
              </a:tr>
            </a:tbl>
          </a:graphicData>
        </a:graphic>
      </p:graphicFrame>
      <p:sp>
        <p:nvSpPr>
          <p:cNvPr id="12" name="右箭头 11"/>
          <p:cNvSpPr/>
          <p:nvPr/>
        </p:nvSpPr>
        <p:spPr>
          <a:xfrm>
            <a:off x="6777303" y="3830657"/>
            <a:ext cx="438837" cy="4074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 name="表格 13"/>
          <p:cNvGraphicFramePr>
            <a:graphicFrameLocks noGrp="1"/>
          </p:cNvGraphicFramePr>
          <p:nvPr>
            <p:extLst>
              <p:ext uri="{D42A27DB-BD31-4B8C-83A1-F6EECF244321}">
                <p14:modId xmlns:p14="http://schemas.microsoft.com/office/powerpoint/2010/main" val="2033103416"/>
              </p:ext>
            </p:extLst>
          </p:nvPr>
        </p:nvGraphicFramePr>
        <p:xfrm>
          <a:off x="7419926" y="2700860"/>
          <a:ext cx="3154521" cy="2667000"/>
        </p:xfrm>
        <a:graphic>
          <a:graphicData uri="http://schemas.openxmlformats.org/drawingml/2006/table">
            <a:tbl>
              <a:tblPr/>
              <a:tblGrid>
                <a:gridCol w="744674">
                  <a:extLst>
                    <a:ext uri="{9D8B030D-6E8A-4147-A177-3AD203B41FA5}">
                      <a16:colId xmlns:a16="http://schemas.microsoft.com/office/drawing/2014/main" val="1909471592"/>
                    </a:ext>
                  </a:extLst>
                </a:gridCol>
                <a:gridCol w="1160836">
                  <a:extLst>
                    <a:ext uri="{9D8B030D-6E8A-4147-A177-3AD203B41FA5}">
                      <a16:colId xmlns:a16="http://schemas.microsoft.com/office/drawing/2014/main" val="2957329526"/>
                    </a:ext>
                  </a:extLst>
                </a:gridCol>
                <a:gridCol w="1249011">
                  <a:extLst>
                    <a:ext uri="{9D8B030D-6E8A-4147-A177-3AD203B41FA5}">
                      <a16:colId xmlns:a16="http://schemas.microsoft.com/office/drawing/2014/main" val="3118617839"/>
                    </a:ext>
                  </a:extLst>
                </a:gridCol>
              </a:tblGrid>
              <a:tr h="381000">
                <a:tc>
                  <a:txBody>
                    <a:bodyPr/>
                    <a:lstStyle/>
                    <a:p>
                      <a:pPr algn="l" fontAlgn="b"/>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等线" panose="02010600030101010101" pitchFamily="2" charset="-122"/>
                          <a:ea typeface="等线" panose="02010600030101010101" pitchFamily="2" charset="-122"/>
                        </a:rPr>
                        <a:t>Value1&amp;3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Arial" panose="020B0604020202020204" pitchFamily="34" charset="0"/>
                          <a:ea typeface="等线" panose="02010600030101010101" pitchFamily="2" charset="-122"/>
                        </a:rPr>
                        <a:t>Value2</a:t>
                      </a:r>
                      <a:r>
                        <a:rPr lang="zh-CN" altLang="en-US" sz="1200" b="1" i="0" u="none" strike="noStrike" dirty="0">
                          <a:solidFill>
                            <a:srgbClr val="000000"/>
                          </a:solidFill>
                          <a:effectLst/>
                          <a:latin typeface="Arial" panose="020B0604020202020204" pitchFamily="34" charset="0"/>
                          <a:ea typeface="等线" panose="02010600030101010101" pitchFamily="2" charset="-122"/>
                        </a:rPr>
                        <a:t>（弱关联）</a:t>
                      </a:r>
                      <a:endParaRPr lang="en-US" sz="1200" b="1" i="0" u="none" strike="noStrike" dirty="0">
                        <a:solidFill>
                          <a:srgbClr val="000000"/>
                        </a:solidFill>
                        <a:effectLst/>
                        <a:latin typeface="Arial" panose="020B0604020202020204" pitchFamily="34" charset="0"/>
                        <a:ea typeface="等线" panose="02010600030101010101" pitchFamily="2"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3022494"/>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1&amp;7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3342004"/>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1&amp;8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0043159"/>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2&amp;7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4033924"/>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等线" panose="02010600030101010101" pitchFamily="2" charset="-122"/>
                          <a:ea typeface="等线" panose="02010600030101010101" pitchFamily="2" charset="-122"/>
                        </a:rPr>
                        <a:t>2&amp;8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6208205"/>
                  </a:ext>
                </a:extLst>
              </a:tr>
              <a:tr h="381000">
                <a:tc>
                  <a:txBody>
                    <a:bodyPr/>
                    <a:lstStyle/>
                    <a:p>
                      <a:pPr algn="ctr" fontAlgn="ctr"/>
                      <a:r>
                        <a:rPr lang="en-US" sz="1200" b="1" i="0" u="none" strike="noStrike">
                          <a:solidFill>
                            <a:srgbClr val="000000"/>
                          </a:solidFill>
                          <a:effectLst/>
                          <a:latin typeface="Arial" panose="020B0604020202020204" pitchFamily="34" charset="0"/>
                          <a:ea typeface="等线" panose="02010600030101010101" pitchFamily="2" charset="-122"/>
                        </a:rPr>
                        <a:t>case5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3&amp;7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1791000"/>
                  </a:ext>
                </a:extLst>
              </a:tr>
              <a:tr h="381000">
                <a:tc>
                  <a:txBody>
                    <a:bodyPr/>
                    <a:lstStyle/>
                    <a:p>
                      <a:pPr algn="ctr" fontAlgn="ctr"/>
                      <a:r>
                        <a:rPr lang="en-US" sz="1200" b="1" i="0" u="none" strike="noStrike" dirty="0">
                          <a:solidFill>
                            <a:srgbClr val="000000"/>
                          </a:solidFill>
                          <a:effectLst/>
                          <a:latin typeface="Arial" panose="020B0604020202020204" pitchFamily="34" charset="0"/>
                          <a:ea typeface="等线" panose="02010600030101010101" pitchFamily="2" charset="-122"/>
                        </a:rPr>
                        <a:t>case6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等线" panose="02010600030101010101" pitchFamily="2" charset="-122"/>
                          <a:ea typeface="等线" panose="02010600030101010101" pitchFamily="2" charset="-122"/>
                        </a:rPr>
                        <a:t>3&amp;8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Arial" panose="020B0604020202020204" pitchFamily="34"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7424573"/>
                  </a:ext>
                </a:extLst>
              </a:tr>
            </a:tbl>
          </a:graphicData>
        </a:graphic>
      </p:graphicFrame>
    </p:spTree>
    <p:extLst>
      <p:ext uri="{BB962C8B-B14F-4D97-AF65-F5344CB8AC3E}">
        <p14:creationId xmlns:p14="http://schemas.microsoft.com/office/powerpoint/2010/main" val="889018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判定表</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24840" y="1188044"/>
            <a:ext cx="9234384" cy="923330"/>
          </a:xfrm>
          <a:prstGeom prst="rect">
            <a:avLst/>
          </a:prstGeom>
        </p:spPr>
        <p:txBody>
          <a:bodyPr wrap="square">
            <a:spAutoFit/>
          </a:bodyPr>
          <a:lstStyle/>
          <a:p>
            <a:r>
              <a:rPr lang="zh-CN" altLang="en-US" dirty="0"/>
              <a:t>判定表也称为决策表，能表示输入条件的组合，以及与每一输入组合对应的动作组合。</a:t>
            </a:r>
            <a:r>
              <a:rPr lang="zh-CN" altLang="en-US" dirty="0">
                <a:latin typeface="宋体" panose="02010600030101010101" pitchFamily="2" charset="-122"/>
              </a:rPr>
              <a:t>决策表是分析和表达多逻辑条件下执行不同操作的情况的工具。</a:t>
            </a:r>
          </a:p>
          <a:p>
            <a:endParaRPr lang="zh-CN" altLang="en-US" dirty="0"/>
          </a:p>
        </p:txBody>
      </p:sp>
      <p:sp>
        <p:nvSpPr>
          <p:cNvPr id="3" name="矩形 2"/>
          <p:cNvSpPr/>
          <p:nvPr/>
        </p:nvSpPr>
        <p:spPr>
          <a:xfrm>
            <a:off x="624840" y="1909673"/>
            <a:ext cx="7668134" cy="1323439"/>
          </a:xfrm>
          <a:prstGeom prst="rect">
            <a:avLst/>
          </a:prstGeom>
        </p:spPr>
        <p:txBody>
          <a:bodyPr wrap="square">
            <a:spAutoFit/>
          </a:bodyPr>
          <a:lstStyle/>
          <a:p>
            <a:pPr marL="342900" indent="-342900">
              <a:buFont typeface="Wingdings" panose="05000000000000000000" pitchFamily="2" charset="2"/>
              <a:buChar char="Ø"/>
            </a:pPr>
            <a:r>
              <a:rPr lang="zh-CN" altLang="en-US" sz="1600" dirty="0">
                <a:solidFill>
                  <a:srgbClr val="000000"/>
                </a:solidFill>
                <a:latin typeface="PingFang SC"/>
              </a:rPr>
              <a:t>判定表主要包含以下几部分：</a:t>
            </a:r>
            <a:endParaRPr lang="en-US" altLang="zh-CN" sz="1600" dirty="0">
              <a:solidFill>
                <a:srgbClr val="000000"/>
              </a:solidFill>
              <a:latin typeface="PingFang SC"/>
            </a:endParaRPr>
          </a:p>
          <a:p>
            <a:r>
              <a:rPr lang="zh-CN" altLang="en-US" sz="1600" dirty="0">
                <a:solidFill>
                  <a:srgbClr val="000000"/>
                </a:solidFill>
                <a:latin typeface="PingFang SC"/>
              </a:rPr>
              <a:t>条件桩：列出所有可能的条件</a:t>
            </a:r>
          </a:p>
          <a:p>
            <a:r>
              <a:rPr lang="zh-CN" altLang="en-US" sz="1600" dirty="0">
                <a:solidFill>
                  <a:srgbClr val="000000"/>
                </a:solidFill>
                <a:latin typeface="PingFang SC"/>
              </a:rPr>
              <a:t>条件项：列出所有的条件取值组合</a:t>
            </a:r>
          </a:p>
          <a:p>
            <a:r>
              <a:rPr lang="zh-CN" altLang="en-US" sz="1600" dirty="0">
                <a:solidFill>
                  <a:srgbClr val="000000"/>
                </a:solidFill>
                <a:latin typeface="PingFang SC"/>
              </a:rPr>
              <a:t>动作桩：列出所有可能的操作</a:t>
            </a:r>
          </a:p>
          <a:p>
            <a:r>
              <a:rPr lang="zh-CN" altLang="en-US" sz="1600" dirty="0">
                <a:solidFill>
                  <a:srgbClr val="000000"/>
                </a:solidFill>
                <a:latin typeface="PingFang SC"/>
              </a:rPr>
              <a:t>条件项：列出在每一种条件取值组合的情况下，执行动作桩中的哪些动作。</a:t>
            </a:r>
          </a:p>
        </p:txBody>
      </p:sp>
      <p:pic>
        <p:nvPicPr>
          <p:cNvPr id="7172" name="Picture 4" descr="https://imgconvert.csdnimg.cn/aHR0cDovL2Jicy5pdGhlaW1hLmNvbS9kYXRhL2F0dGFjaG1lbnQvZm9ydW0vMjAxOTA4LzE1LzE0MzYwMGNhbmJibjhiNXpocmJjeTUucG5nLnRodW1iLmpwZw?x-oss-process=image/forma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2649" y="2126957"/>
            <a:ext cx="5200650" cy="647700"/>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p:nvSpPr>
        <p:spPr>
          <a:xfrm>
            <a:off x="713012" y="3585409"/>
            <a:ext cx="7668134" cy="1815882"/>
          </a:xfrm>
          <a:prstGeom prst="rect">
            <a:avLst/>
          </a:prstGeom>
        </p:spPr>
        <p:txBody>
          <a:bodyPr wrap="square">
            <a:spAutoFit/>
          </a:bodyPr>
          <a:lstStyle/>
          <a:p>
            <a:pPr marL="285750" indent="-285750">
              <a:buFont typeface="Wingdings" panose="05000000000000000000" pitchFamily="2" charset="2"/>
              <a:buChar char="Ø"/>
            </a:pPr>
            <a:r>
              <a:rPr lang="zh-CN" altLang="en-US" sz="1600" dirty="0">
                <a:solidFill>
                  <a:srgbClr val="000000"/>
                </a:solidFill>
                <a:latin typeface="PingFang SC"/>
              </a:rPr>
              <a:t>判定表主要设计步骤如下：</a:t>
            </a:r>
            <a:endParaRPr lang="en-US" altLang="zh-CN" sz="1600" dirty="0">
              <a:solidFill>
                <a:srgbClr val="000000"/>
              </a:solidFill>
              <a:latin typeface="PingFang SC"/>
            </a:endParaRPr>
          </a:p>
          <a:p>
            <a:endParaRPr lang="en-US" altLang="zh-CN" sz="1600" dirty="0">
              <a:solidFill>
                <a:srgbClr val="000000"/>
              </a:solidFill>
              <a:latin typeface="PingFang SC"/>
            </a:endParaRPr>
          </a:p>
          <a:p>
            <a:r>
              <a:rPr lang="en-US" altLang="zh-CN" sz="1600" dirty="0"/>
              <a:t>1</a:t>
            </a:r>
            <a:r>
              <a:rPr lang="zh-CN" altLang="en-US" sz="1600" dirty="0"/>
              <a:t>、明确条件桩</a:t>
            </a:r>
            <a:br>
              <a:rPr lang="zh-CN" altLang="en-US" sz="1600" dirty="0"/>
            </a:br>
            <a:r>
              <a:rPr lang="en-US" altLang="zh-CN" sz="1600" dirty="0"/>
              <a:t>2</a:t>
            </a:r>
            <a:r>
              <a:rPr lang="zh-CN" altLang="en-US" sz="1600" dirty="0"/>
              <a:t>、明确动作桩</a:t>
            </a:r>
            <a:br>
              <a:rPr lang="zh-CN" altLang="en-US" sz="1600" dirty="0"/>
            </a:br>
            <a:r>
              <a:rPr lang="en-US" altLang="zh-CN" sz="1600" dirty="0"/>
              <a:t>3</a:t>
            </a:r>
            <a:r>
              <a:rPr lang="zh-CN" altLang="en-US" sz="1600" dirty="0"/>
              <a:t>、对条件桩进行全组合</a:t>
            </a:r>
            <a:br>
              <a:rPr lang="zh-CN" altLang="en-US" sz="1600" dirty="0"/>
            </a:br>
            <a:r>
              <a:rPr lang="en-US" altLang="zh-CN" sz="1600" dirty="0"/>
              <a:t>4</a:t>
            </a:r>
            <a:r>
              <a:rPr lang="zh-CN" altLang="en-US" sz="1600" dirty="0"/>
              <a:t>、明确每个组合对应的动作桩</a:t>
            </a:r>
            <a:br>
              <a:rPr lang="zh-CN" altLang="en-US" sz="1600" dirty="0"/>
            </a:br>
            <a:r>
              <a:rPr lang="en-US" altLang="zh-CN" sz="1600" dirty="0"/>
              <a:t>5</a:t>
            </a:r>
            <a:r>
              <a:rPr lang="zh-CN" altLang="en-US" sz="1600" dirty="0"/>
              <a:t>、设计测试用例，每列数据对应一条测试用例</a:t>
            </a:r>
          </a:p>
        </p:txBody>
      </p:sp>
    </p:spTree>
    <p:extLst>
      <p:ext uri="{BB962C8B-B14F-4D97-AF65-F5344CB8AC3E}">
        <p14:creationId xmlns:p14="http://schemas.microsoft.com/office/powerpoint/2010/main" val="737837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判定表</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Rectangle 1"/>
          <p:cNvSpPr>
            <a:spLocks noChangeArrowheads="1"/>
          </p:cNvSpPr>
          <p:nvPr/>
        </p:nvSpPr>
        <p:spPr bwMode="auto">
          <a:xfrm>
            <a:off x="624840" y="1127978"/>
            <a:ext cx="9632736" cy="1477328"/>
          </a:xfrm>
          <a:prstGeom prst="rect">
            <a:avLst/>
          </a:prstGeom>
          <a:noFill/>
          <a:ln w="9525">
            <a:noFill/>
            <a:miter lim="800000"/>
            <a:headEnd/>
            <a:tailEnd/>
          </a:ln>
        </p:spPr>
        <p:txBody>
          <a:bodyPr wrap="square" anchor="ctr">
            <a:spAutoFit/>
          </a:bodyPr>
          <a:lstStyle/>
          <a:p>
            <a:pPr indent="266700"/>
            <a:r>
              <a:rPr lang="zh-CN" altLang="en-US" b="1" dirty="0">
                <a:solidFill>
                  <a:srgbClr val="000000"/>
                </a:solidFill>
                <a:latin typeface="华文细黑" pitchFamily="2" charset="-122"/>
                <a:ea typeface="华文细黑" pitchFamily="2" charset="-122"/>
                <a:cs typeface="Times New Roman" pitchFamily="18" charset="0"/>
              </a:rPr>
              <a:t>举例：</a:t>
            </a:r>
            <a:endParaRPr lang="zh-CN" altLang="en-US" dirty="0">
              <a:solidFill>
                <a:srgbClr val="000000"/>
              </a:solidFill>
              <a:latin typeface="华文细黑" pitchFamily="2" charset="-122"/>
              <a:ea typeface="华文细黑" pitchFamily="2" charset="-122"/>
            </a:endParaRPr>
          </a:p>
          <a:p>
            <a:pPr indent="266700" eaLnBrk="0" hangingPunct="0"/>
            <a:r>
              <a:rPr lang="zh-CN" altLang="en-US" dirty="0">
                <a:solidFill>
                  <a:srgbClr val="000000"/>
                </a:solidFill>
                <a:latin typeface="华文细黑" pitchFamily="2" charset="-122"/>
                <a:ea typeface="华文细黑" pitchFamily="2" charset="-122"/>
                <a:cs typeface="Times New Roman" pitchFamily="18" charset="0"/>
              </a:rPr>
              <a:t>订购单的检查。如果金额超过</a:t>
            </a:r>
            <a:r>
              <a:rPr lang="en-US" altLang="zh-CN" dirty="0">
                <a:solidFill>
                  <a:srgbClr val="000000"/>
                </a:solidFill>
                <a:latin typeface="华文细黑" pitchFamily="2" charset="-122"/>
                <a:ea typeface="华文细黑" pitchFamily="2" charset="-122"/>
                <a:cs typeface="Times New Roman" pitchFamily="18" charset="0"/>
              </a:rPr>
              <a:t>500</a:t>
            </a:r>
            <a:r>
              <a:rPr lang="zh-CN" altLang="en-US" dirty="0">
                <a:solidFill>
                  <a:srgbClr val="000000"/>
                </a:solidFill>
                <a:latin typeface="华文细黑" pitchFamily="2" charset="-122"/>
                <a:ea typeface="华文细黑" pitchFamily="2" charset="-122"/>
                <a:cs typeface="Times New Roman" pitchFamily="18" charset="0"/>
              </a:rPr>
              <a:t>元，又未过期，则发出批准单和提货单；如果金额超过</a:t>
            </a:r>
            <a:r>
              <a:rPr lang="en-US" altLang="zh-CN" dirty="0">
                <a:solidFill>
                  <a:srgbClr val="000000"/>
                </a:solidFill>
                <a:latin typeface="华文细黑" pitchFamily="2" charset="-122"/>
                <a:ea typeface="华文细黑" pitchFamily="2" charset="-122"/>
                <a:cs typeface="Times New Roman" pitchFamily="18" charset="0"/>
              </a:rPr>
              <a:t>500</a:t>
            </a:r>
            <a:r>
              <a:rPr lang="zh-CN" altLang="en-US" dirty="0">
                <a:solidFill>
                  <a:srgbClr val="000000"/>
                </a:solidFill>
                <a:latin typeface="华文细黑" pitchFamily="2" charset="-122"/>
                <a:ea typeface="华文细黑" pitchFamily="2" charset="-122"/>
                <a:cs typeface="Times New Roman" pitchFamily="18" charset="0"/>
              </a:rPr>
              <a:t>元，但过期了，则不发批准单；如果金额低于</a:t>
            </a:r>
            <a:r>
              <a:rPr lang="en-US" altLang="zh-CN" dirty="0">
                <a:solidFill>
                  <a:srgbClr val="000000"/>
                </a:solidFill>
                <a:latin typeface="华文细黑" pitchFamily="2" charset="-122"/>
                <a:ea typeface="华文细黑" pitchFamily="2" charset="-122"/>
                <a:cs typeface="Times New Roman" pitchFamily="18" charset="0"/>
              </a:rPr>
              <a:t>500</a:t>
            </a:r>
            <a:r>
              <a:rPr lang="zh-CN" altLang="en-US" dirty="0">
                <a:solidFill>
                  <a:srgbClr val="000000"/>
                </a:solidFill>
                <a:latin typeface="华文细黑" pitchFamily="2" charset="-122"/>
                <a:ea typeface="华文细黑" pitchFamily="2" charset="-122"/>
                <a:cs typeface="Times New Roman" pitchFamily="18" charset="0"/>
              </a:rPr>
              <a:t>元，则不论是否过期都发出批准单和提货单，在过期的情况下还需要发出通知单。</a:t>
            </a:r>
            <a:endParaRPr lang="zh-CN" altLang="en-US" dirty="0">
              <a:solidFill>
                <a:srgbClr val="000000"/>
              </a:solidFill>
              <a:latin typeface="华文细黑" pitchFamily="2" charset="-122"/>
              <a:ea typeface="华文细黑" pitchFamily="2" charset="-122"/>
            </a:endParaRPr>
          </a:p>
          <a:p>
            <a:pPr indent="266700" eaLnBrk="0" hangingPunct="0"/>
            <a:r>
              <a:rPr lang="zh-CN" altLang="en-US" dirty="0">
                <a:solidFill>
                  <a:srgbClr val="000000"/>
                </a:solidFill>
                <a:latin typeface="华文细黑" pitchFamily="2" charset="-122"/>
                <a:ea typeface="华文细黑" pitchFamily="2" charset="-122"/>
                <a:cs typeface="Times New Roman" pitchFamily="18" charset="0"/>
              </a:rPr>
              <a:t>将这段需求进行判定表分析，可以得到如下判定表。</a:t>
            </a:r>
            <a:endParaRPr lang="zh-CN" altLang="en-US" dirty="0">
              <a:solidFill>
                <a:srgbClr val="000000"/>
              </a:solidFill>
              <a:latin typeface="华文细黑" pitchFamily="2" charset="-122"/>
              <a:ea typeface="华文细黑" pitchFamily="2"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3958714986"/>
              </p:ext>
            </p:extLst>
          </p:nvPr>
        </p:nvGraphicFramePr>
        <p:xfrm>
          <a:off x="1087862" y="2711987"/>
          <a:ext cx="6768753" cy="1656184"/>
        </p:xfrm>
        <a:graphic>
          <a:graphicData uri="http://schemas.openxmlformats.org/drawingml/2006/table">
            <a:tbl>
              <a:tblPr/>
              <a:tblGrid>
                <a:gridCol w="1353433">
                  <a:extLst>
                    <a:ext uri="{9D8B030D-6E8A-4147-A177-3AD203B41FA5}">
                      <a16:colId xmlns:a16="http://schemas.microsoft.com/office/drawing/2014/main" val="20000"/>
                    </a:ext>
                  </a:extLst>
                </a:gridCol>
                <a:gridCol w="1353433">
                  <a:extLst>
                    <a:ext uri="{9D8B030D-6E8A-4147-A177-3AD203B41FA5}">
                      <a16:colId xmlns:a16="http://schemas.microsoft.com/office/drawing/2014/main" val="20001"/>
                    </a:ext>
                  </a:extLst>
                </a:gridCol>
                <a:gridCol w="1353433">
                  <a:extLst>
                    <a:ext uri="{9D8B030D-6E8A-4147-A177-3AD203B41FA5}">
                      <a16:colId xmlns:a16="http://schemas.microsoft.com/office/drawing/2014/main" val="20002"/>
                    </a:ext>
                  </a:extLst>
                </a:gridCol>
                <a:gridCol w="1354227">
                  <a:extLst>
                    <a:ext uri="{9D8B030D-6E8A-4147-A177-3AD203B41FA5}">
                      <a16:colId xmlns:a16="http://schemas.microsoft.com/office/drawing/2014/main" val="20003"/>
                    </a:ext>
                  </a:extLst>
                </a:gridCol>
                <a:gridCol w="1354227">
                  <a:extLst>
                    <a:ext uri="{9D8B030D-6E8A-4147-A177-3AD203B41FA5}">
                      <a16:colId xmlns:a16="http://schemas.microsoft.com/office/drawing/2014/main" val="20004"/>
                    </a:ext>
                  </a:extLst>
                </a:gridCol>
              </a:tblGrid>
              <a:tr h="288430">
                <a:tc>
                  <a:txBody>
                    <a:bodyPr/>
                    <a:lstStyle/>
                    <a:p>
                      <a:pPr algn="ctr">
                        <a:spcAft>
                          <a:spcPts val="0"/>
                        </a:spcAft>
                      </a:pPr>
                      <a:r>
                        <a:rPr lang="zh-CN" sz="1050" kern="100" dirty="0">
                          <a:latin typeface="Times New Roman"/>
                          <a:ea typeface="宋体"/>
                        </a:rPr>
                        <a:t>金额</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latin typeface="Times New Roman"/>
                          <a:ea typeface="宋体"/>
                        </a:rPr>
                        <a:t>&gt;500</a:t>
                      </a:r>
                      <a:endParaRPr lang="zh-CN" sz="105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a:latin typeface="Times New Roman"/>
                          <a:ea typeface="宋体"/>
                        </a:rPr>
                        <a:t>&gt;500</a:t>
                      </a:r>
                      <a:endParaRPr lang="zh-CN"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a:latin typeface="Times New Roman"/>
                          <a:ea typeface="宋体"/>
                        </a:rPr>
                        <a:t>&lt;=500</a:t>
                      </a:r>
                      <a:endParaRPr lang="zh-CN"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a:latin typeface="Times New Roman"/>
                          <a:ea typeface="宋体"/>
                        </a:rPr>
                        <a:t>&lt;=500</a:t>
                      </a:r>
                      <a:endParaRPr lang="zh-CN"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8430">
                <a:tc>
                  <a:txBody>
                    <a:bodyPr/>
                    <a:lstStyle/>
                    <a:p>
                      <a:pPr algn="ctr">
                        <a:spcAft>
                          <a:spcPts val="0"/>
                        </a:spcAft>
                      </a:pPr>
                      <a:r>
                        <a:rPr lang="zh-CN" sz="1050" kern="100" dirty="0">
                          <a:latin typeface="Times New Roman"/>
                          <a:ea typeface="宋体"/>
                        </a:rPr>
                        <a:t>状态</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50" kern="100" dirty="0">
                          <a:latin typeface="Times New Roman"/>
                          <a:ea typeface="宋体"/>
                        </a:rPr>
                        <a:t>未过期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50" kern="100" dirty="0">
                          <a:latin typeface="Times New Roman"/>
                          <a:ea typeface="宋体"/>
                        </a:rPr>
                        <a:t>已过期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50" kern="100">
                          <a:latin typeface="Times New Roman"/>
                          <a:ea typeface="宋体"/>
                        </a:rPr>
                        <a:t>未过期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50" kern="100">
                          <a:latin typeface="Times New Roman"/>
                          <a:ea typeface="宋体"/>
                        </a:rPr>
                        <a:t>已过期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2464">
                <a:tc>
                  <a:txBody>
                    <a:bodyPr/>
                    <a:lstStyle/>
                    <a:p>
                      <a:pPr algn="ctr">
                        <a:spcAft>
                          <a:spcPts val="0"/>
                        </a:spcAft>
                      </a:pPr>
                      <a:r>
                        <a:rPr lang="zh-CN" sz="1050" kern="100" dirty="0">
                          <a:latin typeface="Times New Roman"/>
                          <a:ea typeface="宋体"/>
                        </a:rPr>
                        <a:t>发出批准单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a:latin typeface="Times New Roman"/>
                          <a:ea typeface="宋体"/>
                        </a:rPr>
                        <a:t>O</a:t>
                      </a:r>
                      <a:endParaRPr lang="zh-CN"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05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latin typeface="Times New Roman"/>
                          <a:ea typeface="宋体"/>
                        </a:rPr>
                        <a:t>O</a:t>
                      </a:r>
                      <a:endParaRPr lang="zh-CN" sz="105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a:latin typeface="Times New Roman"/>
                          <a:ea typeface="宋体"/>
                        </a:rPr>
                        <a:t>O</a:t>
                      </a:r>
                      <a:endParaRPr lang="zh-CN"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8430">
                <a:tc>
                  <a:txBody>
                    <a:bodyPr/>
                    <a:lstStyle/>
                    <a:p>
                      <a:pPr algn="ctr">
                        <a:spcAft>
                          <a:spcPts val="0"/>
                        </a:spcAft>
                      </a:pPr>
                      <a:r>
                        <a:rPr lang="zh-CN" sz="1050" kern="100">
                          <a:latin typeface="Times New Roman"/>
                          <a:ea typeface="宋体"/>
                        </a:rPr>
                        <a:t>发出提货单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a:latin typeface="Times New Roman"/>
                          <a:ea typeface="宋体"/>
                        </a:rPr>
                        <a:t>O</a:t>
                      </a:r>
                      <a:endParaRPr lang="zh-CN"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05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latin typeface="Times New Roman"/>
                          <a:ea typeface="宋体"/>
                        </a:rPr>
                        <a:t>O</a:t>
                      </a:r>
                      <a:endParaRPr lang="zh-CN" sz="105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latin typeface="Times New Roman"/>
                          <a:ea typeface="宋体"/>
                        </a:rPr>
                        <a:t>O</a:t>
                      </a:r>
                      <a:endParaRPr lang="zh-CN" sz="105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8430">
                <a:tc>
                  <a:txBody>
                    <a:bodyPr/>
                    <a:lstStyle/>
                    <a:p>
                      <a:pPr algn="ctr">
                        <a:spcAft>
                          <a:spcPts val="0"/>
                        </a:spcAft>
                      </a:pPr>
                      <a:r>
                        <a:rPr lang="zh-CN" sz="1050" kern="100" dirty="0">
                          <a:latin typeface="Times New Roman"/>
                          <a:ea typeface="宋体"/>
                        </a:rPr>
                        <a:t>发出通知单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050" kern="1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50" kern="100" dirty="0">
                          <a:latin typeface="Times New Roman"/>
                          <a:ea typeface="宋体"/>
                        </a:rPr>
                        <a:t>O</a:t>
                      </a:r>
                      <a:endParaRPr lang="zh-CN" sz="105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矩形 7"/>
          <p:cNvSpPr>
            <a:spLocks noChangeArrowheads="1"/>
          </p:cNvSpPr>
          <p:nvPr/>
        </p:nvSpPr>
        <p:spPr bwMode="auto">
          <a:xfrm>
            <a:off x="624840" y="4778015"/>
            <a:ext cx="9696110" cy="646331"/>
          </a:xfrm>
          <a:prstGeom prst="rect">
            <a:avLst/>
          </a:prstGeom>
          <a:noFill/>
          <a:ln w="9525">
            <a:noFill/>
            <a:miter lim="800000"/>
            <a:headEnd/>
            <a:tailEnd/>
          </a:ln>
        </p:spPr>
        <p:txBody>
          <a:bodyPr wrap="square">
            <a:spAutoFit/>
          </a:bodyPr>
          <a:lstStyle/>
          <a:p>
            <a:r>
              <a:rPr lang="zh-CN" altLang="zh-CN" dirty="0">
                <a:solidFill>
                  <a:srgbClr val="000000"/>
                </a:solidFill>
                <a:latin typeface="华文细黑" pitchFamily="2" charset="-122"/>
                <a:ea typeface="华文细黑" pitchFamily="2" charset="-122"/>
              </a:rPr>
              <a:t>在很多情况下，一个判定表写出来以后，是很复杂的，我们需要对其进行简化。如果表中有两条或多条规则具有相同的动作，并且其条件项之间存在极为相似的关系，我们就可以将其合并。</a:t>
            </a:r>
          </a:p>
        </p:txBody>
      </p:sp>
    </p:spTree>
    <p:extLst>
      <p:ext uri="{BB962C8B-B14F-4D97-AF65-F5344CB8AC3E}">
        <p14:creationId xmlns:p14="http://schemas.microsoft.com/office/powerpoint/2010/main" val="135827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判定表</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矩形 3"/>
          <p:cNvSpPr>
            <a:spLocks noChangeArrowheads="1"/>
          </p:cNvSpPr>
          <p:nvPr/>
        </p:nvSpPr>
        <p:spPr bwMode="auto">
          <a:xfrm>
            <a:off x="872652" y="1283951"/>
            <a:ext cx="8841715" cy="646331"/>
          </a:xfrm>
          <a:prstGeom prst="rect">
            <a:avLst/>
          </a:prstGeom>
          <a:noFill/>
          <a:ln w="9525">
            <a:noFill/>
            <a:miter lim="800000"/>
            <a:headEnd/>
            <a:tailEnd/>
          </a:ln>
        </p:spPr>
        <p:txBody>
          <a:bodyPr wrap="square">
            <a:spAutoFit/>
          </a:bodyPr>
          <a:lstStyle/>
          <a:p>
            <a:r>
              <a:rPr lang="zh-CN" altLang="zh-CN" dirty="0">
                <a:solidFill>
                  <a:srgbClr val="000000"/>
                </a:solidFill>
                <a:latin typeface="华文细黑" pitchFamily="2" charset="-122"/>
                <a:ea typeface="华文细黑" pitchFamily="2" charset="-122"/>
                <a:cs typeface="Times New Roman" pitchFamily="18" charset="0"/>
              </a:rPr>
              <a:t>比如表中，条件：</a:t>
            </a:r>
            <a:r>
              <a:rPr lang="en-US" altLang="zh-CN" dirty="0">
                <a:solidFill>
                  <a:srgbClr val="000000"/>
                </a:solidFill>
                <a:latin typeface="华文细黑" pitchFamily="2" charset="-122"/>
                <a:ea typeface="华文细黑" pitchFamily="2" charset="-122"/>
                <a:cs typeface="Times New Roman" pitchFamily="18" charset="0"/>
              </a:rPr>
              <a:t>&gt;500</a:t>
            </a:r>
            <a:r>
              <a:rPr lang="zh-CN" altLang="zh-CN" dirty="0">
                <a:solidFill>
                  <a:srgbClr val="000000"/>
                </a:solidFill>
                <a:latin typeface="华文细黑" pitchFamily="2" charset="-122"/>
                <a:ea typeface="华文细黑" pitchFamily="2" charset="-122"/>
                <a:cs typeface="Times New Roman" pitchFamily="18" charset="0"/>
              </a:rPr>
              <a:t>、未过期；</a:t>
            </a:r>
            <a:r>
              <a:rPr lang="en-US" altLang="zh-CN" dirty="0">
                <a:solidFill>
                  <a:srgbClr val="000000"/>
                </a:solidFill>
                <a:latin typeface="华文细黑" pitchFamily="2" charset="-122"/>
                <a:ea typeface="华文细黑" pitchFamily="2" charset="-122"/>
                <a:cs typeface="Times New Roman" pitchFamily="18" charset="0"/>
              </a:rPr>
              <a:t>&lt;=500</a:t>
            </a:r>
            <a:r>
              <a:rPr lang="zh-CN" altLang="zh-CN" dirty="0">
                <a:solidFill>
                  <a:srgbClr val="000000"/>
                </a:solidFill>
                <a:latin typeface="华文细黑" pitchFamily="2" charset="-122"/>
                <a:ea typeface="华文细黑" pitchFamily="2" charset="-122"/>
                <a:cs typeface="Times New Roman" pitchFamily="18" charset="0"/>
              </a:rPr>
              <a:t>、未过期。这两个条件项导致的结果是一样的，并且条件项之间很相似，我们就可以将它们合并。结果如下：</a:t>
            </a:r>
          </a:p>
        </p:txBody>
      </p:sp>
      <p:graphicFrame>
        <p:nvGraphicFramePr>
          <p:cNvPr id="6" name="Group 38"/>
          <p:cNvGraphicFramePr>
            <a:graphicFrameLocks noGrp="1"/>
          </p:cNvGraphicFramePr>
          <p:nvPr>
            <p:extLst>
              <p:ext uri="{D42A27DB-BD31-4B8C-83A1-F6EECF244321}">
                <p14:modId xmlns:p14="http://schemas.microsoft.com/office/powerpoint/2010/main" val="490016402"/>
              </p:ext>
            </p:extLst>
          </p:nvPr>
        </p:nvGraphicFramePr>
        <p:xfrm>
          <a:off x="1234760" y="2299407"/>
          <a:ext cx="6624637" cy="2014540"/>
        </p:xfrm>
        <a:graphic>
          <a:graphicData uri="http://schemas.openxmlformats.org/drawingml/2006/table">
            <a:tbl>
              <a:tblPr/>
              <a:tblGrid>
                <a:gridCol w="1346200">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1706562">
                  <a:extLst>
                    <a:ext uri="{9D8B030D-6E8A-4147-A177-3AD203B41FA5}">
                      <a16:colId xmlns:a16="http://schemas.microsoft.com/office/drawing/2014/main" val="20002"/>
                    </a:ext>
                  </a:extLst>
                </a:gridCol>
                <a:gridCol w="1847850">
                  <a:extLst>
                    <a:ext uri="{9D8B030D-6E8A-4147-A177-3AD203B41FA5}">
                      <a16:colId xmlns:a16="http://schemas.microsoft.com/office/drawing/2014/main" val="20003"/>
                    </a:ext>
                  </a:extLst>
                </a:gridCol>
              </a:tblGrid>
              <a:tr h="350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dirty="0">
                          <a:ln>
                            <a:noFill/>
                          </a:ln>
                          <a:solidFill>
                            <a:schemeClr val="tx1"/>
                          </a:solidFill>
                          <a:effectLst/>
                          <a:latin typeface="Times New Roman" pitchFamily="18" charset="0"/>
                          <a:ea typeface="宋体" pitchFamily="2" charset="-122"/>
                        </a:rPr>
                        <a:t>金额</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zh-CN" sz="1000" b="0"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itchFamily="18" charset="0"/>
                          <a:ea typeface="宋体" pitchFamily="2" charset="-122"/>
                        </a:rPr>
                        <a:t>&gt;500</a:t>
                      </a:r>
                      <a:endParaRPr kumimoji="0" lang="zh-CN" altLang="zh-CN" sz="1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rPr>
                        <a:t>&lt;=500</a:t>
                      </a:r>
                      <a:endParaRPr kumimoji="0" lang="zh-CN" altLang="zh-CN" sz="10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0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dirty="0">
                          <a:ln>
                            <a:noFill/>
                          </a:ln>
                          <a:solidFill>
                            <a:schemeClr val="tx1"/>
                          </a:solidFill>
                          <a:effectLst/>
                          <a:latin typeface="Times New Roman" pitchFamily="18" charset="0"/>
                          <a:ea typeface="宋体" pitchFamily="2" charset="-122"/>
                        </a:rPr>
                        <a:t>状态</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dirty="0">
                          <a:ln>
                            <a:noFill/>
                          </a:ln>
                          <a:solidFill>
                            <a:schemeClr val="tx1"/>
                          </a:solidFill>
                          <a:effectLst/>
                          <a:latin typeface="Times New Roman" pitchFamily="18" charset="0"/>
                          <a:ea typeface="宋体" pitchFamily="2" charset="-122"/>
                        </a:rPr>
                        <a:t>未过期</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chemeClr val="tx1"/>
                          </a:solidFill>
                          <a:effectLst/>
                          <a:latin typeface="Times New Roman" pitchFamily="18" charset="0"/>
                          <a:ea typeface="宋体" pitchFamily="2" charset="-122"/>
                        </a:rPr>
                        <a:t>已过期</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chemeClr val="tx1"/>
                          </a:solidFill>
                          <a:effectLst/>
                          <a:latin typeface="Times New Roman" pitchFamily="18" charset="0"/>
                          <a:ea typeface="宋体" pitchFamily="2" charset="-122"/>
                        </a:rPr>
                        <a:t>已过期</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1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chemeClr val="tx1"/>
                          </a:solidFill>
                          <a:effectLst/>
                          <a:latin typeface="Times New Roman" pitchFamily="18" charset="0"/>
                          <a:ea typeface="宋体" pitchFamily="2" charset="-122"/>
                        </a:rPr>
                        <a:t>发出批准单</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itchFamily="18" charset="0"/>
                          <a:ea typeface="宋体" pitchFamily="2" charset="-122"/>
                        </a:rPr>
                        <a:t>O</a:t>
                      </a:r>
                      <a:endParaRPr kumimoji="0" lang="zh-CN" altLang="zh-CN" sz="1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rPr>
                        <a:t>O</a:t>
                      </a:r>
                      <a:endParaRPr kumimoji="0" lang="zh-CN" altLang="zh-CN" sz="10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chemeClr val="tx1"/>
                          </a:solidFill>
                          <a:effectLst/>
                          <a:latin typeface="Times New Roman" pitchFamily="18" charset="0"/>
                          <a:ea typeface="宋体" pitchFamily="2" charset="-122"/>
                        </a:rPr>
                        <a:t>发出提货单</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rPr>
                        <a:t>O</a:t>
                      </a:r>
                      <a:endParaRPr kumimoji="0" lang="zh-CN" altLang="zh-CN" sz="10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itchFamily="18" charset="0"/>
                          <a:ea typeface="宋体" pitchFamily="2" charset="-122"/>
                        </a:rPr>
                        <a:t>O</a:t>
                      </a:r>
                      <a:endParaRPr kumimoji="0" lang="zh-CN" altLang="zh-CN" sz="1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a:ln>
                            <a:noFill/>
                          </a:ln>
                          <a:solidFill>
                            <a:schemeClr val="tx1"/>
                          </a:solidFill>
                          <a:effectLst/>
                          <a:latin typeface="Times New Roman" pitchFamily="18" charset="0"/>
                          <a:ea typeface="宋体" pitchFamily="2" charset="-122"/>
                        </a:rPr>
                        <a:t>发出通知单</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0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itchFamily="18" charset="0"/>
                          <a:ea typeface="宋体" pitchFamily="2" charset="-122"/>
                        </a:rPr>
                        <a:t>O</a:t>
                      </a:r>
                      <a:endParaRPr kumimoji="0" lang="zh-CN" altLang="zh-CN" sz="10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ectangle 3"/>
          <p:cNvSpPr>
            <a:spLocks noChangeArrowheads="1"/>
          </p:cNvSpPr>
          <p:nvPr/>
        </p:nvSpPr>
        <p:spPr bwMode="auto">
          <a:xfrm>
            <a:off x="872653" y="4652295"/>
            <a:ext cx="8841714" cy="646331"/>
          </a:xfrm>
          <a:prstGeom prst="rect">
            <a:avLst/>
          </a:prstGeom>
          <a:noFill/>
          <a:ln w="9525">
            <a:noFill/>
            <a:miter lim="800000"/>
            <a:headEnd/>
            <a:tailEnd/>
          </a:ln>
        </p:spPr>
        <p:txBody>
          <a:bodyPr wrap="square" anchor="ctr">
            <a:spAutoFit/>
          </a:bodyPr>
          <a:lstStyle/>
          <a:p>
            <a:pPr indent="266700"/>
            <a:r>
              <a:rPr lang="zh-CN" altLang="en-US" dirty="0">
                <a:solidFill>
                  <a:srgbClr val="000000"/>
                </a:solidFill>
                <a:latin typeface="华文细黑" pitchFamily="2" charset="-122"/>
                <a:ea typeface="华文细黑" pitchFamily="2" charset="-122"/>
                <a:cs typeface="Times New Roman" pitchFamily="18" charset="0"/>
              </a:rPr>
              <a:t>这里在引入一个概念，规则，以上判定表里，右部的每一列（条件项和对应的动作项）都是一条规则。以上判定表里每一条规则都可以转化为测试用例。</a:t>
            </a:r>
          </a:p>
        </p:txBody>
      </p:sp>
    </p:spTree>
    <p:extLst>
      <p:ext uri="{BB962C8B-B14F-4D97-AF65-F5344CB8AC3E}">
        <p14:creationId xmlns:p14="http://schemas.microsoft.com/office/powerpoint/2010/main" val="2379756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Part03</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综合用例设计方法</a:t>
            </a:r>
          </a:p>
        </p:txBody>
      </p:sp>
    </p:spTree>
    <p:extLst>
      <p:ext uri="{BB962C8B-B14F-4D97-AF65-F5344CB8AC3E}">
        <p14:creationId xmlns:p14="http://schemas.microsoft.com/office/powerpoint/2010/main" val="714819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测试用例的定义和特征</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11318139" cy="2668588"/>
          </a:xfrm>
          <a:prstGeom prst="rect">
            <a:avLst/>
          </a:prstGeom>
        </p:spPr>
        <p:txBody>
          <a:bodyPr vert="horz" lIns="91440" tIns="45720" rIns="91440" bIns="45720" rtlCol="0">
            <a:normAutofit/>
          </a:bodyPr>
          <a:lstStyle/>
          <a:p>
            <a:pPr lvl="1" defTabSz="914400">
              <a:spcBef>
                <a:spcPct val="20000"/>
              </a:spcBef>
              <a:defRPr/>
            </a:pPr>
            <a:endParaRPr lang="zh-CN" altLang="en-US"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用例设计流程</a:t>
            </a:r>
            <a:endParaRPr lang="en-US" altLang="zh-CN"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等价类分析法：</a:t>
            </a:r>
            <a:endParaRPr lang="en-US" altLang="zh-CN"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流程图分析法：</a:t>
            </a:r>
            <a:endParaRPr lang="en-US" altLang="zh-CN" sz="2400" dirty="0">
              <a:latin typeface="华文细黑" pitchFamily="2" charset="-122"/>
              <a:ea typeface="华文细黑" pitchFamily="2" charset="-122"/>
            </a:endParaRPr>
          </a:p>
          <a:p>
            <a:pPr marL="342900" indent="-342900" defTabSz="914400">
              <a:spcBef>
                <a:spcPct val="20000"/>
              </a:spcBef>
              <a:buFont typeface="Wingdings" panose="05000000000000000000" pitchFamily="2" charset="2"/>
              <a:buChar char="l"/>
              <a:defRPr/>
            </a:pPr>
            <a:r>
              <a:rPr lang="zh-CN" altLang="en-US" sz="2400" dirty="0">
                <a:latin typeface="华文细黑" pitchFamily="2" charset="-122"/>
                <a:ea typeface="华文细黑" pitchFamily="2" charset="-122"/>
              </a:rPr>
              <a:t>状态图分析法：</a:t>
            </a:r>
            <a:endParaRPr lang="en-US" altLang="zh-CN" sz="24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zh-CN" altLang="en-US" sz="2400" dirty="0">
              <a:latin typeface="华文细黑" pitchFamily="2" charset="-122"/>
              <a:ea typeface="华文细黑" pitchFamily="2" charset="-122"/>
            </a:endParaRPr>
          </a:p>
        </p:txBody>
      </p:sp>
    </p:spTree>
    <p:extLst>
      <p:ext uri="{BB962C8B-B14F-4D97-AF65-F5344CB8AC3E}">
        <p14:creationId xmlns:p14="http://schemas.microsoft.com/office/powerpoint/2010/main" val="2139808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测试用例设计流程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spect="1" noChangeArrowheads="1"/>
          </p:cNvSpPr>
          <p:nvPr/>
        </p:nvSpPr>
        <p:spPr>
          <a:xfrm>
            <a:off x="481976" y="1147979"/>
            <a:ext cx="6683756" cy="4964795"/>
          </a:xfrm>
          <a:prstGeom prst="rect">
            <a:avLst/>
          </a:prstGeom>
        </p:spPr>
        <p:txBody>
          <a:bodyPr vert="horz" lIns="91440" tIns="45720" rIns="91440" bIns="45720" rtlCol="0">
            <a:normAutofit fontScale="70000" lnSpcReduction="20000"/>
          </a:bodyPr>
          <a:lstStyle/>
          <a:p>
            <a:pPr lvl="1" defTabSz="914400">
              <a:spcBef>
                <a:spcPct val="20000"/>
              </a:spcBef>
              <a:defRPr/>
            </a:pPr>
            <a:endParaRPr lang="zh-CN" altLang="en-US"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a:latin typeface="华文细黑" pitchFamily="2" charset="-122"/>
                <a:ea typeface="华文细黑" pitchFamily="2" charset="-122"/>
              </a:rPr>
              <a:t>第一步：对测试点进行分类：对测试点进行分类，然后为不同的类型选择最合适的测试设计方法</a:t>
            </a:r>
            <a:endParaRPr lang="en-US" altLang="zh-CN" sz="23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endParaRPr lang="en-US" altLang="zh-CN" sz="23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a:latin typeface="华文细黑" pitchFamily="2" charset="-122"/>
                <a:ea typeface="华文细黑" pitchFamily="2" charset="-122"/>
              </a:rPr>
              <a:t>第二步：建模</a:t>
            </a:r>
            <a:endParaRPr lang="en-US" altLang="zh-CN" sz="2300" dirty="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r>
              <a:rPr lang="zh-CN" altLang="en-US" sz="2300" dirty="0">
                <a:latin typeface="华文细黑" pitchFamily="2" charset="-122"/>
                <a:ea typeface="华文细黑" pitchFamily="2" charset="-122"/>
              </a:rPr>
              <a:t>对“参数和数据”类，可以通过“等价类分析表”来建立测试模型</a:t>
            </a:r>
            <a:endParaRPr lang="en-US" altLang="zh-CN" sz="2300" dirty="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r>
              <a:rPr lang="zh-CN" altLang="en-US" sz="2300" dirty="0">
                <a:latin typeface="华文细黑" pitchFamily="2" charset="-122"/>
                <a:ea typeface="华文细黑" pitchFamily="2" charset="-122"/>
              </a:rPr>
              <a:t>对“流程”类，可以通过“流程图”来建立测试模型</a:t>
            </a:r>
            <a:endParaRPr lang="en-US" altLang="zh-CN" sz="2300" dirty="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r>
              <a:rPr lang="zh-CN" altLang="en-US" sz="2300" dirty="0">
                <a:latin typeface="华文细黑" pitchFamily="2" charset="-122"/>
                <a:ea typeface="华文细黑" pitchFamily="2" charset="-122"/>
              </a:rPr>
              <a:t>对“状态迁移”类，可以通过“状态机”来建立测试模型</a:t>
            </a:r>
            <a:endParaRPr lang="en-US" altLang="zh-CN" sz="2300" dirty="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endParaRPr lang="en-US" altLang="zh-CN" sz="23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a:latin typeface="华文细黑" pitchFamily="2" charset="-122"/>
                <a:ea typeface="华文细黑" pitchFamily="2" charset="-122"/>
              </a:rPr>
              <a:t>第三步：确定测试条件和测试数据：测试模型建好后，我们需要设计一些测试条件和测试数据，以覆盖这个测试模型。例如我们对某些测试点已经建好了模型（绘制出了和这几个测试点相关的流程图），接下来我们就需要确定通过怎样的条件和输入，能够覆盖这个流程图的各个分支。</a:t>
            </a:r>
            <a:endParaRPr lang="en-US" altLang="zh-CN" sz="23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endParaRPr lang="en-US" altLang="zh-CN" sz="23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a:latin typeface="华文细黑" pitchFamily="2" charset="-122"/>
                <a:ea typeface="华文细黑" pitchFamily="2" charset="-122"/>
              </a:rPr>
              <a:t>第四步：根据经验扩展、补充测试用例：我们通过测试建模和覆盖测试模型得到的测试用例也只能基于概率进行覆盖。因此我们还需要根据经验，根据系统的失效规律白补充一些测试用例，以进一步加强测试的覆盖度和有效性。</a:t>
            </a:r>
            <a:endParaRPr lang="en-US" altLang="zh-CN" sz="2300" dirty="0">
              <a:latin typeface="华文细黑" pitchFamily="2" charset="-122"/>
              <a:ea typeface="华文细黑" pitchFamily="2" charset="-122"/>
            </a:endParaRPr>
          </a:p>
          <a:p>
            <a:pPr lvl="0" defTabSz="914400">
              <a:spcBef>
                <a:spcPct val="20000"/>
              </a:spcBef>
              <a:defRPr/>
            </a:pPr>
            <a:endParaRPr lang="en-US" altLang="zh-CN" sz="24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zh-CN" altLang="en-US" sz="2400" dirty="0">
              <a:latin typeface="华文细黑" pitchFamily="2" charset="-122"/>
              <a:ea typeface="华文细黑" pitchFamily="2" charset="-122"/>
            </a:endParaRPr>
          </a:p>
        </p:txBody>
      </p:sp>
      <p:pic>
        <p:nvPicPr>
          <p:cNvPr id="5" name="图片 4"/>
          <p:cNvPicPr>
            <a:picLocks noChangeAspect="1"/>
          </p:cNvPicPr>
          <p:nvPr/>
        </p:nvPicPr>
        <p:blipFill>
          <a:blip r:embed="rId3"/>
          <a:stretch>
            <a:fillRect/>
          </a:stretch>
        </p:blipFill>
        <p:spPr>
          <a:xfrm>
            <a:off x="8016736" y="1257884"/>
            <a:ext cx="2022462" cy="4760452"/>
          </a:xfrm>
          <a:prstGeom prst="rect">
            <a:avLst/>
          </a:prstGeom>
        </p:spPr>
      </p:pic>
    </p:spTree>
    <p:extLst>
      <p:ext uri="{BB962C8B-B14F-4D97-AF65-F5344CB8AC3E}">
        <p14:creationId xmlns:p14="http://schemas.microsoft.com/office/powerpoint/2010/main" val="956254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测试用例设计过程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stretch>
            <a:fillRect/>
          </a:stretch>
        </p:blipFill>
        <p:spPr>
          <a:xfrm>
            <a:off x="683295" y="2331836"/>
            <a:ext cx="3401695" cy="1816316"/>
          </a:xfrm>
          <a:prstGeom prst="rect">
            <a:avLst/>
          </a:prstGeom>
        </p:spPr>
      </p:pic>
      <p:pic>
        <p:nvPicPr>
          <p:cNvPr id="9" name="图片 8"/>
          <p:cNvPicPr>
            <a:picLocks noChangeAspect="1"/>
          </p:cNvPicPr>
          <p:nvPr/>
        </p:nvPicPr>
        <p:blipFill>
          <a:blip r:embed="rId4"/>
          <a:stretch>
            <a:fillRect/>
          </a:stretch>
        </p:blipFill>
        <p:spPr>
          <a:xfrm>
            <a:off x="7286275" y="1500306"/>
            <a:ext cx="3677066" cy="1386810"/>
          </a:xfrm>
          <a:prstGeom prst="rect">
            <a:avLst/>
          </a:prstGeom>
        </p:spPr>
      </p:pic>
      <p:sp>
        <p:nvSpPr>
          <p:cNvPr id="10" name="文本框 9"/>
          <p:cNvSpPr txBox="1"/>
          <p:nvPr/>
        </p:nvSpPr>
        <p:spPr>
          <a:xfrm>
            <a:off x="7175076" y="1104244"/>
            <a:ext cx="2954655" cy="369332"/>
          </a:xfrm>
          <a:prstGeom prst="rect">
            <a:avLst/>
          </a:prstGeom>
          <a:noFill/>
        </p:spPr>
        <p:txBody>
          <a:bodyPr wrap="none" rtlCol="0">
            <a:spAutoFit/>
          </a:bodyPr>
          <a:lstStyle/>
          <a:p>
            <a:r>
              <a:rPr lang="zh-CN" altLang="en-US" dirty="0"/>
              <a:t>第一步：</a:t>
            </a:r>
            <a:r>
              <a:rPr lang="zh-CN" altLang="en-US" dirty="0">
                <a:latin typeface="华文细黑" pitchFamily="2" charset="-122"/>
                <a:ea typeface="华文细黑" pitchFamily="2" charset="-122"/>
              </a:rPr>
              <a:t>对测试点进行分类</a:t>
            </a:r>
            <a:endParaRPr lang="zh-CN" altLang="en-US" dirty="0"/>
          </a:p>
        </p:txBody>
      </p:sp>
      <p:sp>
        <p:nvSpPr>
          <p:cNvPr id="11" name="文本框 10"/>
          <p:cNvSpPr txBox="1"/>
          <p:nvPr/>
        </p:nvSpPr>
        <p:spPr>
          <a:xfrm>
            <a:off x="683295" y="1917297"/>
            <a:ext cx="1569660" cy="369332"/>
          </a:xfrm>
          <a:prstGeom prst="rect">
            <a:avLst/>
          </a:prstGeom>
          <a:noFill/>
        </p:spPr>
        <p:txBody>
          <a:bodyPr wrap="none" rtlCol="0">
            <a:spAutoFit/>
          </a:bodyPr>
          <a:lstStyle/>
          <a:p>
            <a:r>
              <a:rPr lang="zh-CN" altLang="en-US" dirty="0"/>
              <a:t>第二步：</a:t>
            </a:r>
            <a:r>
              <a:rPr lang="zh-CN" altLang="en-US" dirty="0">
                <a:latin typeface="华文细黑" pitchFamily="2" charset="-122"/>
                <a:ea typeface="华文细黑" pitchFamily="2" charset="-122"/>
              </a:rPr>
              <a:t>建模</a:t>
            </a:r>
            <a:endParaRPr lang="zh-CN" altLang="en-US" dirty="0"/>
          </a:p>
        </p:txBody>
      </p:sp>
      <p:pic>
        <p:nvPicPr>
          <p:cNvPr id="12" name="图片 11"/>
          <p:cNvPicPr>
            <a:picLocks noChangeAspect="1"/>
          </p:cNvPicPr>
          <p:nvPr/>
        </p:nvPicPr>
        <p:blipFill>
          <a:blip r:embed="rId5"/>
          <a:stretch>
            <a:fillRect/>
          </a:stretch>
        </p:blipFill>
        <p:spPr>
          <a:xfrm>
            <a:off x="7286275" y="4082139"/>
            <a:ext cx="3808757" cy="1391696"/>
          </a:xfrm>
          <a:prstGeom prst="rect">
            <a:avLst/>
          </a:prstGeom>
        </p:spPr>
      </p:pic>
      <p:sp>
        <p:nvSpPr>
          <p:cNvPr id="13" name="文本框 12"/>
          <p:cNvSpPr txBox="1"/>
          <p:nvPr/>
        </p:nvSpPr>
        <p:spPr>
          <a:xfrm>
            <a:off x="7175076" y="3696530"/>
            <a:ext cx="3647152" cy="369332"/>
          </a:xfrm>
          <a:prstGeom prst="rect">
            <a:avLst/>
          </a:prstGeom>
          <a:noFill/>
        </p:spPr>
        <p:txBody>
          <a:bodyPr wrap="none" rtlCol="0">
            <a:spAutoFit/>
          </a:bodyPr>
          <a:lstStyle/>
          <a:p>
            <a:r>
              <a:rPr lang="zh-CN" altLang="en-US" dirty="0"/>
              <a:t>第三步：</a:t>
            </a:r>
            <a:r>
              <a:rPr lang="zh-CN" altLang="en-US" dirty="0">
                <a:latin typeface="华文细黑" pitchFamily="2" charset="-122"/>
                <a:ea typeface="华文细黑" pitchFamily="2" charset="-122"/>
              </a:rPr>
              <a:t>确定测试条件和测试数据</a:t>
            </a:r>
            <a:endParaRPr lang="zh-CN" altLang="en-US" dirty="0"/>
          </a:p>
        </p:txBody>
      </p:sp>
      <p:sp>
        <p:nvSpPr>
          <p:cNvPr id="14" name="文本框 13"/>
          <p:cNvSpPr txBox="1"/>
          <p:nvPr/>
        </p:nvSpPr>
        <p:spPr>
          <a:xfrm>
            <a:off x="565523" y="4369473"/>
            <a:ext cx="4108817" cy="369332"/>
          </a:xfrm>
          <a:prstGeom prst="rect">
            <a:avLst/>
          </a:prstGeom>
          <a:noFill/>
        </p:spPr>
        <p:txBody>
          <a:bodyPr wrap="none" rtlCol="0">
            <a:spAutoFit/>
          </a:bodyPr>
          <a:lstStyle/>
          <a:p>
            <a:r>
              <a:rPr lang="zh-CN" altLang="en-US" dirty="0"/>
              <a:t>第四步：</a:t>
            </a:r>
            <a:r>
              <a:rPr lang="zh-CN" altLang="en-US" dirty="0">
                <a:latin typeface="华文细黑" pitchFamily="2" charset="-122"/>
                <a:ea typeface="华文细黑" pitchFamily="2" charset="-122"/>
              </a:rPr>
              <a:t>根据经验扩展、补充测试用例</a:t>
            </a:r>
            <a:endParaRPr lang="zh-CN" altLang="en-US" dirty="0"/>
          </a:p>
        </p:txBody>
      </p:sp>
      <p:pic>
        <p:nvPicPr>
          <p:cNvPr id="15" name="图片 14"/>
          <p:cNvPicPr>
            <a:picLocks noChangeAspect="1"/>
          </p:cNvPicPr>
          <p:nvPr/>
        </p:nvPicPr>
        <p:blipFill>
          <a:blip r:embed="rId6"/>
          <a:stretch>
            <a:fillRect/>
          </a:stretch>
        </p:blipFill>
        <p:spPr>
          <a:xfrm>
            <a:off x="701193" y="4777987"/>
            <a:ext cx="3973147" cy="1152425"/>
          </a:xfrm>
          <a:prstGeom prst="rect">
            <a:avLst/>
          </a:prstGeom>
        </p:spPr>
      </p:pic>
      <p:sp>
        <p:nvSpPr>
          <p:cNvPr id="18" name="任意多边形 17"/>
          <p:cNvSpPr/>
          <p:nvPr/>
        </p:nvSpPr>
        <p:spPr>
          <a:xfrm flipH="1">
            <a:off x="4866886" y="3190037"/>
            <a:ext cx="1725282" cy="1035170"/>
          </a:xfrm>
          <a:custGeom>
            <a:avLst/>
            <a:gdLst>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725282"/>
              <a:gd name="connsiteY0" fmla="*/ 43132 h 1035170"/>
              <a:gd name="connsiteX1" fmla="*/ 0 w 1725282"/>
              <a:gd name="connsiteY1" fmla="*/ 586596 h 1035170"/>
              <a:gd name="connsiteX2" fmla="*/ 733245 w 1725282"/>
              <a:gd name="connsiteY2" fmla="*/ 1035170 h 1035170"/>
              <a:gd name="connsiteX3" fmla="*/ 1725282 w 1725282"/>
              <a:gd name="connsiteY3" fmla="*/ 336430 h 1035170"/>
              <a:gd name="connsiteX4" fmla="*/ 914400 w 1725282"/>
              <a:gd name="connsiteY4" fmla="*/ 0 h 1035170"/>
              <a:gd name="connsiteX5" fmla="*/ 586596 w 1725282"/>
              <a:gd name="connsiteY5" fmla="*/ 43132 h 1035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5282" h="1035170">
                <a:moveTo>
                  <a:pt x="586596" y="43132"/>
                </a:moveTo>
                <a:cubicBezTo>
                  <a:pt x="425569" y="293299"/>
                  <a:pt x="273169" y="465826"/>
                  <a:pt x="0" y="586596"/>
                </a:cubicBezTo>
                <a:lnTo>
                  <a:pt x="733245" y="1035170"/>
                </a:lnTo>
                <a:cubicBezTo>
                  <a:pt x="877018" y="736121"/>
                  <a:pt x="1296837" y="488830"/>
                  <a:pt x="1725282" y="336430"/>
                </a:cubicBezTo>
                <a:lnTo>
                  <a:pt x="914400" y="0"/>
                </a:lnTo>
                <a:lnTo>
                  <a:pt x="586596" y="43132"/>
                </a:lnTo>
                <a:close/>
              </a:path>
            </a:pathLst>
          </a:custGeom>
          <a:solidFill>
            <a:schemeClr val="bg1">
              <a:lumMod val="85000"/>
            </a:schemeClr>
          </a:solidFill>
          <a:ln w="12700">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p:cNvSpPr/>
          <p:nvPr/>
        </p:nvSpPr>
        <p:spPr>
          <a:xfrm>
            <a:off x="5181600" y="4646763"/>
            <a:ext cx="1725282" cy="1035170"/>
          </a:xfrm>
          <a:custGeom>
            <a:avLst/>
            <a:gdLst>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725282"/>
              <a:gd name="connsiteY0" fmla="*/ 43132 h 1035170"/>
              <a:gd name="connsiteX1" fmla="*/ 0 w 1725282"/>
              <a:gd name="connsiteY1" fmla="*/ 586596 h 1035170"/>
              <a:gd name="connsiteX2" fmla="*/ 733245 w 1725282"/>
              <a:gd name="connsiteY2" fmla="*/ 1035170 h 1035170"/>
              <a:gd name="connsiteX3" fmla="*/ 1725282 w 1725282"/>
              <a:gd name="connsiteY3" fmla="*/ 336430 h 1035170"/>
              <a:gd name="connsiteX4" fmla="*/ 914400 w 1725282"/>
              <a:gd name="connsiteY4" fmla="*/ 0 h 1035170"/>
              <a:gd name="connsiteX5" fmla="*/ 586596 w 1725282"/>
              <a:gd name="connsiteY5" fmla="*/ 43132 h 1035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5282" h="1035170">
                <a:moveTo>
                  <a:pt x="586596" y="43132"/>
                </a:moveTo>
                <a:cubicBezTo>
                  <a:pt x="425569" y="293299"/>
                  <a:pt x="273169" y="465826"/>
                  <a:pt x="0" y="586596"/>
                </a:cubicBezTo>
                <a:lnTo>
                  <a:pt x="733245" y="1035170"/>
                </a:lnTo>
                <a:cubicBezTo>
                  <a:pt x="877018" y="736121"/>
                  <a:pt x="1296837" y="488830"/>
                  <a:pt x="1725282" y="336430"/>
                </a:cubicBezTo>
                <a:lnTo>
                  <a:pt x="914400" y="0"/>
                </a:lnTo>
                <a:lnTo>
                  <a:pt x="586596" y="43132"/>
                </a:lnTo>
                <a:close/>
              </a:path>
            </a:pathLst>
          </a:custGeom>
          <a:solidFill>
            <a:schemeClr val="bg1">
              <a:lumMod val="85000"/>
            </a:schemeClr>
          </a:solidFill>
          <a:ln w="12700">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p:cNvSpPr/>
          <p:nvPr/>
        </p:nvSpPr>
        <p:spPr>
          <a:xfrm>
            <a:off x="5236234" y="1992702"/>
            <a:ext cx="1725282" cy="1035170"/>
          </a:xfrm>
          <a:custGeom>
            <a:avLst/>
            <a:gdLst>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630392"/>
              <a:gd name="connsiteY0" fmla="*/ 43132 h 1035170"/>
              <a:gd name="connsiteX1" fmla="*/ 0 w 1630392"/>
              <a:gd name="connsiteY1" fmla="*/ 586596 h 1035170"/>
              <a:gd name="connsiteX2" fmla="*/ 733245 w 1630392"/>
              <a:gd name="connsiteY2" fmla="*/ 1035170 h 1035170"/>
              <a:gd name="connsiteX3" fmla="*/ 1630392 w 1630392"/>
              <a:gd name="connsiteY3" fmla="*/ 319177 h 1035170"/>
              <a:gd name="connsiteX4" fmla="*/ 914400 w 1630392"/>
              <a:gd name="connsiteY4" fmla="*/ 0 h 1035170"/>
              <a:gd name="connsiteX5" fmla="*/ 586596 w 1630392"/>
              <a:gd name="connsiteY5" fmla="*/ 43132 h 1035170"/>
              <a:gd name="connsiteX0" fmla="*/ 586596 w 1725282"/>
              <a:gd name="connsiteY0" fmla="*/ 43132 h 1035170"/>
              <a:gd name="connsiteX1" fmla="*/ 0 w 1725282"/>
              <a:gd name="connsiteY1" fmla="*/ 586596 h 1035170"/>
              <a:gd name="connsiteX2" fmla="*/ 733245 w 1725282"/>
              <a:gd name="connsiteY2" fmla="*/ 1035170 h 1035170"/>
              <a:gd name="connsiteX3" fmla="*/ 1725282 w 1725282"/>
              <a:gd name="connsiteY3" fmla="*/ 336430 h 1035170"/>
              <a:gd name="connsiteX4" fmla="*/ 914400 w 1725282"/>
              <a:gd name="connsiteY4" fmla="*/ 0 h 1035170"/>
              <a:gd name="connsiteX5" fmla="*/ 586596 w 1725282"/>
              <a:gd name="connsiteY5" fmla="*/ 43132 h 1035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5282" h="1035170">
                <a:moveTo>
                  <a:pt x="586596" y="43132"/>
                </a:moveTo>
                <a:cubicBezTo>
                  <a:pt x="425569" y="293299"/>
                  <a:pt x="273169" y="465826"/>
                  <a:pt x="0" y="586596"/>
                </a:cubicBezTo>
                <a:lnTo>
                  <a:pt x="733245" y="1035170"/>
                </a:lnTo>
                <a:cubicBezTo>
                  <a:pt x="877018" y="736121"/>
                  <a:pt x="1296837" y="488830"/>
                  <a:pt x="1725282" y="336430"/>
                </a:cubicBezTo>
                <a:lnTo>
                  <a:pt x="914400" y="0"/>
                </a:lnTo>
                <a:lnTo>
                  <a:pt x="586596" y="43132"/>
                </a:lnTo>
                <a:close/>
              </a:path>
            </a:pathLst>
          </a:custGeom>
          <a:solidFill>
            <a:schemeClr val="bg1">
              <a:lumMod val="85000"/>
            </a:schemeClr>
          </a:solidFill>
          <a:ln w="12700">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椭圆 21"/>
          <p:cNvSpPr/>
          <p:nvPr/>
        </p:nvSpPr>
        <p:spPr>
          <a:xfrm>
            <a:off x="4761781" y="5274314"/>
            <a:ext cx="871268" cy="892518"/>
          </a:xfrm>
          <a:prstGeom prst="ellipse">
            <a:avLst/>
          </a:prstGeom>
          <a:solidFill>
            <a:srgbClr val="27ACAD"/>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rPr>
              <a:t>第四步</a:t>
            </a:r>
          </a:p>
        </p:txBody>
      </p:sp>
      <p:sp>
        <p:nvSpPr>
          <p:cNvPr id="23" name="椭圆 22"/>
          <p:cNvSpPr/>
          <p:nvPr/>
        </p:nvSpPr>
        <p:spPr>
          <a:xfrm>
            <a:off x="4741652" y="2666261"/>
            <a:ext cx="871268" cy="892518"/>
          </a:xfrm>
          <a:prstGeom prst="ellipse">
            <a:avLst/>
          </a:prstGeom>
          <a:solidFill>
            <a:srgbClr val="4D6070"/>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rPr>
              <a:t>第二步</a:t>
            </a:r>
          </a:p>
        </p:txBody>
      </p:sp>
      <p:sp>
        <p:nvSpPr>
          <p:cNvPr id="24" name="椭圆 23"/>
          <p:cNvSpPr/>
          <p:nvPr/>
        </p:nvSpPr>
        <p:spPr>
          <a:xfrm>
            <a:off x="6032739" y="3940095"/>
            <a:ext cx="871268" cy="892518"/>
          </a:xfrm>
          <a:prstGeom prst="ellipse">
            <a:avLst/>
          </a:prstGeom>
          <a:solidFill>
            <a:srgbClr val="F4AC42"/>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rPr>
              <a:t>第三步</a:t>
            </a:r>
          </a:p>
        </p:txBody>
      </p:sp>
      <p:sp>
        <p:nvSpPr>
          <p:cNvPr id="25" name="椭圆 24"/>
          <p:cNvSpPr/>
          <p:nvPr/>
        </p:nvSpPr>
        <p:spPr>
          <a:xfrm>
            <a:off x="6038490" y="1288910"/>
            <a:ext cx="871268" cy="892518"/>
          </a:xfrm>
          <a:prstGeom prst="ellipse">
            <a:avLst/>
          </a:prstGeom>
          <a:solidFill>
            <a:srgbClr val="E05B3E"/>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rPr>
              <a:t>第一步</a:t>
            </a:r>
          </a:p>
        </p:txBody>
      </p:sp>
    </p:spTree>
    <p:extLst>
      <p:ext uri="{BB962C8B-B14F-4D97-AF65-F5344CB8AC3E}">
        <p14:creationId xmlns:p14="http://schemas.microsoft.com/office/powerpoint/2010/main" val="2993159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643771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等价类分析</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&amp;</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数据组合法</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24840" y="1007819"/>
            <a:ext cx="6096000" cy="369332"/>
          </a:xfrm>
          <a:prstGeom prst="rect">
            <a:avLst/>
          </a:prstGeom>
        </p:spPr>
        <p:txBody>
          <a:bodyPr>
            <a:spAutoFit/>
          </a:bodyPr>
          <a:lstStyle/>
          <a:p>
            <a:r>
              <a:rPr lang="zh-CN" altLang="en-US" dirty="0">
                <a:solidFill>
                  <a:srgbClr val="000000"/>
                </a:solidFill>
                <a:latin typeface="华文细黑" pitchFamily="2" charset="-122"/>
                <a:ea typeface="华文细黑" pitchFamily="2" charset="-122"/>
              </a:rPr>
              <a:t>等价类分析法和数据组合法，可以适用与参数以及数据</a:t>
            </a:r>
            <a:endParaRPr lang="en-US" altLang="zh-CN"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627935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643771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等价类分析法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物理接口配置用例设计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24839" y="1245210"/>
            <a:ext cx="10405111" cy="923330"/>
          </a:xfrm>
          <a:prstGeom prst="rect">
            <a:avLst/>
          </a:prstGeom>
        </p:spPr>
        <p:txBody>
          <a:bodyPr wrap="square">
            <a:spAutoFit/>
          </a:bodyPr>
          <a:lstStyle/>
          <a:p>
            <a:r>
              <a:rPr lang="zh-CN" altLang="en-US" b="1" dirty="0">
                <a:solidFill>
                  <a:srgbClr val="000000"/>
                </a:solidFill>
                <a:latin typeface="华文细黑" pitchFamily="2" charset="-122"/>
                <a:ea typeface="华文细黑" pitchFamily="2" charset="-122"/>
              </a:rPr>
              <a:t>功能介绍</a:t>
            </a:r>
            <a:endParaRPr lang="en-US" altLang="zh-CN" b="1" dirty="0">
              <a:solidFill>
                <a:srgbClr val="000000"/>
              </a:solidFill>
              <a:latin typeface="华文细黑" pitchFamily="2" charset="-122"/>
              <a:ea typeface="华文细黑" pitchFamily="2" charset="-122"/>
            </a:endParaRPr>
          </a:p>
          <a:p>
            <a:pPr lvl="1"/>
            <a:r>
              <a:rPr lang="zh-CN" altLang="en-US" dirty="0">
                <a:solidFill>
                  <a:srgbClr val="000000"/>
                </a:solidFill>
                <a:latin typeface="华文细黑" pitchFamily="2" charset="-122"/>
                <a:ea typeface="华文细黑" pitchFamily="2" charset="-122"/>
              </a:rPr>
              <a:t>配置物理接口属性，物理接口包括路由、交换和接口对三种模式。每种模式下的配置方式不同，详情见下图</a:t>
            </a:r>
            <a:endParaRPr lang="en-US" altLang="zh-CN" dirty="0">
              <a:solidFill>
                <a:srgbClr val="000000"/>
              </a:solidFill>
              <a:latin typeface="华文细黑" pitchFamily="2" charset="-122"/>
              <a:ea typeface="华文细黑" pitchFamily="2" charset="-122"/>
            </a:endParaRPr>
          </a:p>
        </p:txBody>
      </p:sp>
      <p:pic>
        <p:nvPicPr>
          <p:cNvPr id="5" name="图片 4"/>
          <p:cNvPicPr>
            <a:picLocks noChangeAspect="1"/>
          </p:cNvPicPr>
          <p:nvPr/>
        </p:nvPicPr>
        <p:blipFill>
          <a:blip r:embed="rId2"/>
          <a:stretch>
            <a:fillRect/>
          </a:stretch>
        </p:blipFill>
        <p:spPr>
          <a:xfrm>
            <a:off x="703421" y="2675603"/>
            <a:ext cx="3642350" cy="2397558"/>
          </a:xfrm>
          <a:prstGeom prst="rect">
            <a:avLst/>
          </a:prstGeom>
          <a:effectLst>
            <a:glow rad="63500">
              <a:schemeClr val="accent1">
                <a:satMod val="175000"/>
                <a:alpha val="40000"/>
              </a:schemeClr>
            </a:glow>
            <a:reflection blurRad="50800" stA="45000" endPos="65000" dist="12700" dir="5400000" sy="-100000" algn="bl" rotWithShape="0"/>
          </a:effectLst>
        </p:spPr>
      </p:pic>
      <p:pic>
        <p:nvPicPr>
          <p:cNvPr id="6" name="图片 5"/>
          <p:cNvPicPr>
            <a:picLocks noChangeAspect="1"/>
          </p:cNvPicPr>
          <p:nvPr/>
        </p:nvPicPr>
        <p:blipFill>
          <a:blip r:embed="rId3"/>
          <a:stretch>
            <a:fillRect/>
          </a:stretch>
        </p:blipFill>
        <p:spPr>
          <a:xfrm>
            <a:off x="4400550" y="2675602"/>
            <a:ext cx="3626827" cy="2395303"/>
          </a:xfrm>
          <a:prstGeom prst="rect">
            <a:avLst/>
          </a:prstGeom>
          <a:effectLst>
            <a:glow rad="63500">
              <a:schemeClr val="accent1">
                <a:satMod val="175000"/>
                <a:alpha val="40000"/>
              </a:schemeClr>
            </a:glow>
            <a:reflection blurRad="50800" stA="45000" endPos="65000" dist="12700" dir="5400000" sy="-100000" algn="bl" rotWithShape="0"/>
          </a:effectLst>
        </p:spPr>
      </p:pic>
      <p:pic>
        <p:nvPicPr>
          <p:cNvPr id="8" name="图片 7"/>
          <p:cNvPicPr>
            <a:picLocks noChangeAspect="1"/>
          </p:cNvPicPr>
          <p:nvPr/>
        </p:nvPicPr>
        <p:blipFill>
          <a:blip r:embed="rId4"/>
          <a:stretch>
            <a:fillRect/>
          </a:stretch>
        </p:blipFill>
        <p:spPr>
          <a:xfrm>
            <a:off x="8082156" y="2675602"/>
            <a:ext cx="3590550" cy="2395303"/>
          </a:xfrm>
          <a:prstGeom prst="rect">
            <a:avLst/>
          </a:prstGeom>
          <a:effectLst>
            <a:glow rad="63500">
              <a:schemeClr val="accent1">
                <a:satMod val="175000"/>
                <a:alpha val="40000"/>
              </a:schemeClr>
            </a:glow>
            <a:reflection blurRad="50800" stA="45000" endPos="65000" dist="12700" dir="5400000" sy="-100000" algn="bl" rotWithShape="0"/>
          </a:effectLst>
        </p:spPr>
      </p:pic>
    </p:spTree>
    <p:extLst>
      <p:ext uri="{BB962C8B-B14F-4D97-AF65-F5344CB8AC3E}">
        <p14:creationId xmlns:p14="http://schemas.microsoft.com/office/powerpoint/2010/main" val="11374032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643771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等价类分析法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物理接口配置用例设计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24840" y="1007819"/>
            <a:ext cx="8971964" cy="4247317"/>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第一步：</a:t>
            </a:r>
            <a:r>
              <a:rPr lang="zh-CN" altLang="en-US" dirty="0">
                <a:latin typeface="华文细黑" pitchFamily="2" charset="-122"/>
                <a:ea typeface="华文细黑" pitchFamily="2" charset="-122"/>
              </a:rPr>
              <a:t>对测试点进行分类</a:t>
            </a:r>
            <a:endParaRPr lang="en-US" altLang="zh-CN" dirty="0">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接口属性分为两种属性，公共属性、不同接口模式下的属性</a:t>
            </a:r>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a:p>
            <a:r>
              <a:rPr lang="zh-CN" altLang="en-US" dirty="0">
                <a:solidFill>
                  <a:srgbClr val="000000"/>
                </a:solidFill>
                <a:latin typeface="华文细黑" pitchFamily="2" charset="-122"/>
                <a:ea typeface="华文细黑" pitchFamily="2" charset="-122"/>
              </a:rPr>
              <a:t>测试点分类参考：</a:t>
            </a:r>
            <a:endParaRPr lang="en-US" altLang="zh-CN" dirty="0">
              <a:solidFill>
                <a:srgbClr val="000000"/>
              </a:solidFill>
              <a:latin typeface="华文细黑" pitchFamily="2" charset="-122"/>
              <a:ea typeface="华文细黑" pitchFamily="2" charset="-122"/>
            </a:endParaRPr>
          </a:p>
        </p:txBody>
      </p:sp>
      <p:pic>
        <p:nvPicPr>
          <p:cNvPr id="8" name="图片 7"/>
          <p:cNvPicPr>
            <a:picLocks noChangeAspect="1"/>
          </p:cNvPicPr>
          <p:nvPr/>
        </p:nvPicPr>
        <p:blipFill>
          <a:blip r:embed="rId2"/>
          <a:stretch>
            <a:fillRect/>
          </a:stretch>
        </p:blipFill>
        <p:spPr>
          <a:xfrm>
            <a:off x="723900" y="5303555"/>
            <a:ext cx="9630508" cy="1111718"/>
          </a:xfrm>
          <a:prstGeom prst="rect">
            <a:avLst/>
          </a:prstGeom>
        </p:spPr>
      </p:pic>
      <p:pic>
        <p:nvPicPr>
          <p:cNvPr id="10" name="图片 9"/>
          <p:cNvPicPr>
            <a:picLocks noChangeAspect="1"/>
          </p:cNvPicPr>
          <p:nvPr/>
        </p:nvPicPr>
        <p:blipFill>
          <a:blip r:embed="rId3"/>
          <a:stretch>
            <a:fillRect/>
          </a:stretch>
        </p:blipFill>
        <p:spPr>
          <a:xfrm>
            <a:off x="5490795" y="1938053"/>
            <a:ext cx="5556284" cy="1000666"/>
          </a:xfrm>
          <a:prstGeom prst="rect">
            <a:avLst/>
          </a:prstGeom>
        </p:spPr>
      </p:pic>
      <p:pic>
        <p:nvPicPr>
          <p:cNvPr id="11" name="图片 10"/>
          <p:cNvPicPr>
            <a:picLocks noChangeAspect="1"/>
          </p:cNvPicPr>
          <p:nvPr/>
        </p:nvPicPr>
        <p:blipFill>
          <a:blip r:embed="rId4"/>
          <a:stretch>
            <a:fillRect/>
          </a:stretch>
        </p:blipFill>
        <p:spPr>
          <a:xfrm>
            <a:off x="772847" y="1938053"/>
            <a:ext cx="4624987" cy="2924093"/>
          </a:xfrm>
          <a:prstGeom prst="rect">
            <a:avLst/>
          </a:prstGeom>
        </p:spPr>
      </p:pic>
      <p:pic>
        <p:nvPicPr>
          <p:cNvPr id="12" name="图片 11"/>
          <p:cNvPicPr>
            <a:picLocks noChangeAspect="1"/>
          </p:cNvPicPr>
          <p:nvPr/>
        </p:nvPicPr>
        <p:blipFill>
          <a:blip r:embed="rId5"/>
          <a:stretch>
            <a:fillRect/>
          </a:stretch>
        </p:blipFill>
        <p:spPr>
          <a:xfrm>
            <a:off x="5539154" y="3027279"/>
            <a:ext cx="5895242" cy="1034770"/>
          </a:xfrm>
          <a:prstGeom prst="rect">
            <a:avLst/>
          </a:prstGeom>
        </p:spPr>
      </p:pic>
      <p:pic>
        <p:nvPicPr>
          <p:cNvPr id="13" name="图片 12"/>
          <p:cNvPicPr>
            <a:picLocks noChangeAspect="1"/>
          </p:cNvPicPr>
          <p:nvPr/>
        </p:nvPicPr>
        <p:blipFill>
          <a:blip r:embed="rId6"/>
          <a:stretch>
            <a:fillRect/>
          </a:stretch>
        </p:blipFill>
        <p:spPr>
          <a:xfrm>
            <a:off x="5588101" y="4032225"/>
            <a:ext cx="5692430" cy="841988"/>
          </a:xfrm>
          <a:prstGeom prst="rect">
            <a:avLst/>
          </a:prstGeom>
        </p:spPr>
      </p:pic>
    </p:spTree>
    <p:extLst>
      <p:ext uri="{BB962C8B-B14F-4D97-AF65-F5344CB8AC3E}">
        <p14:creationId xmlns:p14="http://schemas.microsoft.com/office/powerpoint/2010/main" val="372470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643771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等价类分析法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物理接口配置用例设计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584688" y="1007819"/>
            <a:ext cx="4633547" cy="5355312"/>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第二步：</a:t>
            </a:r>
            <a:r>
              <a:rPr lang="zh-CN" altLang="en-US" dirty="0">
                <a:latin typeface="华文细黑" pitchFamily="2" charset="-122"/>
                <a:ea typeface="华文细黑" pitchFamily="2" charset="-122"/>
              </a:rPr>
              <a:t>建模</a:t>
            </a:r>
            <a:endParaRPr lang="en-US" altLang="zh-CN" dirty="0">
              <a:latin typeface="华文细黑" pitchFamily="2" charset="-122"/>
              <a:ea typeface="华文细黑" pitchFamily="2" charset="-122"/>
            </a:endParaRPr>
          </a:p>
          <a:p>
            <a:r>
              <a:rPr lang="zh-CN" altLang="en-US" dirty="0">
                <a:latin typeface="华文细黑" pitchFamily="2" charset="-122"/>
                <a:ea typeface="华文细黑" pitchFamily="2" charset="-122"/>
              </a:rPr>
              <a:t>等价类分析法建模使用等价类分析表</a:t>
            </a:r>
            <a:r>
              <a:rPr lang="en-US" altLang="zh-CN" dirty="0">
                <a:latin typeface="华文细黑" pitchFamily="2" charset="-122"/>
                <a:ea typeface="华文细黑" pitchFamily="2" charset="-122"/>
              </a:rPr>
              <a:t>&amp;</a:t>
            </a:r>
            <a:r>
              <a:rPr lang="zh-CN" altLang="en-US" dirty="0">
                <a:latin typeface="华文细黑" pitchFamily="2" charset="-122"/>
                <a:ea typeface="华文细黑" pitchFamily="2" charset="-122"/>
              </a:rPr>
              <a:t>数据组合分析表进行建模</a:t>
            </a:r>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pPr marL="285750" indent="-285750">
              <a:buFont typeface="Wingdings" panose="05000000000000000000" pitchFamily="2" charset="2"/>
              <a:buChar char="Ø"/>
            </a:pPr>
            <a:r>
              <a:rPr lang="zh-CN" altLang="en-US" b="1" dirty="0">
                <a:latin typeface="华文细黑" pitchFamily="2" charset="-122"/>
                <a:ea typeface="华文细黑" pitchFamily="2" charset="-122"/>
              </a:rPr>
              <a:t>等价类分析：</a:t>
            </a:r>
            <a:r>
              <a:rPr lang="zh-CN" altLang="en-US" dirty="0">
                <a:latin typeface="华文细黑" pitchFamily="2" charset="-122"/>
                <a:ea typeface="华文细黑" pitchFamily="2" charset="-122"/>
              </a:rPr>
              <a:t>首先对所有输入参数进行等价类分析，划分有效类和无效类</a:t>
            </a:r>
            <a:endParaRPr lang="en-US" altLang="zh-CN" dirty="0">
              <a:latin typeface="华文细黑" pitchFamily="2" charset="-122"/>
              <a:ea typeface="华文细黑" pitchFamily="2" charset="-122"/>
            </a:endParaRPr>
          </a:p>
          <a:p>
            <a:pPr marL="285750" indent="-285750">
              <a:buFont typeface="Wingdings" panose="05000000000000000000" pitchFamily="2" charset="2"/>
              <a:buChar char="Ø"/>
            </a:pPr>
            <a:r>
              <a:rPr lang="zh-CN" altLang="en-US" b="1" dirty="0">
                <a:latin typeface="华文细黑" pitchFamily="2" charset="-122"/>
                <a:ea typeface="华文细黑" pitchFamily="2" charset="-122"/>
              </a:rPr>
              <a:t>数据组合分析：</a:t>
            </a:r>
            <a:r>
              <a:rPr lang="zh-CN" altLang="en-US" dirty="0">
                <a:latin typeface="华文细黑" pitchFamily="2" charset="-122"/>
                <a:ea typeface="华文细黑" pitchFamily="2" charset="-122"/>
              </a:rPr>
              <a:t>然后对输入参数进行正交分析，分析参数之间是否存在耦合关系，由于在测试点分类时对参数之间的耦合关系进行了划分，因此在该模型中所有参数之间不需要考虑耦合关系。</a:t>
            </a:r>
            <a:endParaRPr lang="en-US" altLang="zh-CN" dirty="0">
              <a:latin typeface="华文细黑" pitchFamily="2" charset="-122"/>
              <a:ea typeface="华文细黑" pitchFamily="2" charset="-122"/>
            </a:endParaRPr>
          </a:p>
          <a:p>
            <a:pPr marL="285750" indent="-285750">
              <a:buFont typeface="Wingdings" panose="05000000000000000000" pitchFamily="2" charset="2"/>
              <a:buChar char="Ø"/>
            </a:pPr>
            <a:r>
              <a:rPr lang="zh-CN" altLang="en-US" b="1" dirty="0">
                <a:latin typeface="华文细黑" pitchFamily="2" charset="-122"/>
                <a:ea typeface="华文细黑" pitchFamily="2" charset="-122"/>
              </a:rPr>
              <a:t>逻辑用例设计：</a:t>
            </a:r>
            <a:r>
              <a:rPr lang="zh-CN" altLang="en-US" dirty="0">
                <a:latin typeface="华文细黑" pitchFamily="2" charset="-122"/>
                <a:ea typeface="华文细黑" pitchFamily="2" charset="-122"/>
              </a:rPr>
              <a:t>逻辑用例可以理解为一个表达式，即可以使用相同测试逻辑的用例。（例如</a:t>
            </a:r>
            <a:r>
              <a:rPr lang="en-US" altLang="zh-CN" dirty="0" err="1">
                <a:latin typeface="华文细黑" pitchFamily="2" charset="-122"/>
                <a:ea typeface="华文细黑" pitchFamily="2" charset="-122"/>
              </a:rPr>
              <a:t>a+b</a:t>
            </a:r>
            <a:r>
              <a:rPr lang="en-US" altLang="zh-CN" dirty="0">
                <a:latin typeface="华文细黑" pitchFamily="2" charset="-122"/>
                <a:ea typeface="华文细黑" pitchFamily="2" charset="-122"/>
              </a:rPr>
              <a:t>=c</a:t>
            </a:r>
            <a:r>
              <a:rPr lang="zh-CN" altLang="en-US" dirty="0">
                <a:latin typeface="华文细黑" pitchFamily="2" charset="-122"/>
                <a:ea typeface="华文细黑" pitchFamily="2" charset="-122"/>
              </a:rPr>
              <a:t>）</a:t>
            </a:r>
            <a:endParaRPr lang="en-US" altLang="zh-CN" dirty="0">
              <a:latin typeface="华文细黑" pitchFamily="2" charset="-122"/>
              <a:ea typeface="华文细黑" pitchFamily="2" charset="-122"/>
            </a:endParaRPr>
          </a:p>
          <a:p>
            <a:pPr marL="285750" indent="-285750">
              <a:buFont typeface="Wingdings" panose="05000000000000000000" pitchFamily="2" charset="2"/>
              <a:buChar char="Ø"/>
            </a:pPr>
            <a:r>
              <a:rPr lang="zh-CN" altLang="en-US" b="1" dirty="0">
                <a:latin typeface="华文细黑" pitchFamily="2" charset="-122"/>
                <a:ea typeface="华文细黑" pitchFamily="2" charset="-122"/>
              </a:rPr>
              <a:t>物理用例设计：</a:t>
            </a:r>
            <a:r>
              <a:rPr lang="zh-CN" altLang="en-US" dirty="0">
                <a:latin typeface="华文细黑" pitchFamily="2" charset="-122"/>
                <a:ea typeface="华文细黑" pitchFamily="2" charset="-122"/>
              </a:rPr>
              <a:t>物理用例可以理解为将数据带入到表达式中生成的实例。（测试数据</a:t>
            </a:r>
            <a:r>
              <a:rPr lang="en-US" altLang="zh-CN" dirty="0">
                <a:latin typeface="华文细黑" pitchFamily="2" charset="-122"/>
                <a:ea typeface="华文细黑" pitchFamily="2" charset="-122"/>
              </a:rPr>
              <a:t>a=1,2</a:t>
            </a:r>
            <a:r>
              <a:rPr lang="zh-CN" altLang="en-US" dirty="0">
                <a:latin typeface="华文细黑" pitchFamily="2" charset="-122"/>
                <a:ea typeface="华文细黑" pitchFamily="2" charset="-122"/>
              </a:rPr>
              <a:t>，</a:t>
            </a:r>
            <a:r>
              <a:rPr lang="en-US" altLang="zh-CN" dirty="0">
                <a:latin typeface="华文细黑" pitchFamily="2" charset="-122"/>
                <a:ea typeface="华文细黑" pitchFamily="2" charset="-122"/>
              </a:rPr>
              <a:t>b=2,3</a:t>
            </a:r>
            <a:r>
              <a:rPr lang="zh-CN" altLang="en-US" dirty="0">
                <a:latin typeface="华文细黑" pitchFamily="2" charset="-122"/>
                <a:ea typeface="华文细黑" pitchFamily="2" charset="-122"/>
              </a:rPr>
              <a:t>，</a:t>
            </a:r>
            <a:r>
              <a:rPr lang="en-US" altLang="zh-CN" dirty="0">
                <a:latin typeface="华文细黑" pitchFamily="2" charset="-122"/>
                <a:ea typeface="华文细黑" pitchFamily="2" charset="-122"/>
              </a:rPr>
              <a:t>c=3,5</a:t>
            </a:r>
            <a:r>
              <a:rPr lang="zh-CN" altLang="en-US" dirty="0">
                <a:latin typeface="华文细黑" pitchFamily="2" charset="-122"/>
                <a:ea typeface="华文细黑" pitchFamily="2" charset="-122"/>
              </a:rPr>
              <a:t>带入表达式</a:t>
            </a:r>
            <a:r>
              <a:rPr lang="en-US" altLang="zh-CN" dirty="0" err="1">
                <a:latin typeface="华文细黑" pitchFamily="2" charset="-122"/>
                <a:ea typeface="华文细黑" pitchFamily="2" charset="-122"/>
              </a:rPr>
              <a:t>a+b</a:t>
            </a:r>
            <a:r>
              <a:rPr lang="en-US" altLang="zh-CN" dirty="0">
                <a:latin typeface="华文细黑" pitchFamily="2" charset="-122"/>
                <a:ea typeface="华文细黑" pitchFamily="2" charset="-122"/>
              </a:rPr>
              <a:t>=c</a:t>
            </a:r>
            <a:r>
              <a:rPr lang="zh-CN" altLang="en-US" dirty="0">
                <a:latin typeface="华文细黑" pitchFamily="2" charset="-122"/>
                <a:ea typeface="华文细黑" pitchFamily="2" charset="-122"/>
              </a:rPr>
              <a:t>，生成实例</a:t>
            </a:r>
            <a:r>
              <a:rPr lang="en-US" altLang="zh-CN" dirty="0">
                <a:latin typeface="华文细黑" pitchFamily="2" charset="-122"/>
                <a:ea typeface="华文细黑" pitchFamily="2" charset="-122"/>
              </a:rPr>
              <a:t>1+2=3,2+3=5</a:t>
            </a:r>
            <a:r>
              <a:rPr lang="zh-CN" altLang="en-US" dirty="0">
                <a:latin typeface="华文细黑" pitchFamily="2" charset="-122"/>
                <a:ea typeface="华文细黑" pitchFamily="2" charset="-122"/>
              </a:rPr>
              <a:t>）</a:t>
            </a:r>
            <a:endParaRPr lang="en-US" altLang="zh-CN" dirty="0">
              <a:latin typeface="华文细黑" pitchFamily="2" charset="-122"/>
              <a:ea typeface="华文细黑" pitchFamily="2" charset="-122"/>
            </a:endParaRPr>
          </a:p>
          <a:p>
            <a:endParaRPr lang="en-US" altLang="zh-CN" dirty="0">
              <a:solidFill>
                <a:srgbClr val="000000"/>
              </a:solidFill>
              <a:latin typeface="华文细黑" pitchFamily="2" charset="-122"/>
              <a:ea typeface="华文细黑" pitchFamily="2" charset="-122"/>
            </a:endParaRPr>
          </a:p>
        </p:txBody>
      </p:sp>
      <p:pic>
        <p:nvPicPr>
          <p:cNvPr id="6" name="图片 5"/>
          <p:cNvPicPr>
            <a:picLocks noChangeAspect="1"/>
          </p:cNvPicPr>
          <p:nvPr/>
        </p:nvPicPr>
        <p:blipFill>
          <a:blip r:embed="rId2"/>
          <a:stretch>
            <a:fillRect/>
          </a:stretch>
        </p:blipFill>
        <p:spPr>
          <a:xfrm>
            <a:off x="5310553" y="997902"/>
            <a:ext cx="6772265" cy="5015726"/>
          </a:xfrm>
          <a:prstGeom prst="rect">
            <a:avLst/>
          </a:prstGeom>
        </p:spPr>
      </p:pic>
    </p:spTree>
    <p:extLst>
      <p:ext uri="{BB962C8B-B14F-4D97-AF65-F5344CB8AC3E}">
        <p14:creationId xmlns:p14="http://schemas.microsoft.com/office/powerpoint/2010/main" val="2010497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643771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等价类分析法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物理接口配置用例设计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24840" y="1007819"/>
            <a:ext cx="5520983" cy="4985980"/>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第三步：</a:t>
            </a:r>
            <a:r>
              <a:rPr lang="zh-CN" altLang="en-US" dirty="0">
                <a:latin typeface="华文细黑" pitchFamily="2" charset="-122"/>
                <a:ea typeface="华文细黑" pitchFamily="2" charset="-122"/>
              </a:rPr>
              <a:t>确定测试条件和测试数据</a:t>
            </a:r>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pPr marL="285750" indent="-285750">
              <a:buFont typeface="Wingdings" panose="05000000000000000000" pitchFamily="2" charset="2"/>
              <a:buChar char="l"/>
            </a:pPr>
            <a:r>
              <a:rPr lang="zh-CN" altLang="en-US" dirty="0">
                <a:latin typeface="华文细黑" pitchFamily="2" charset="-122"/>
                <a:ea typeface="华文细黑" pitchFamily="2" charset="-122"/>
              </a:rPr>
              <a:t>将等价类划分和数据组合分析结果的数据进行整合得到测试用例可以使用的测试数据</a:t>
            </a:r>
            <a:endParaRPr lang="en-US" altLang="zh-CN" dirty="0">
              <a:latin typeface="华文细黑" pitchFamily="2" charset="-122"/>
              <a:ea typeface="华文细黑" pitchFamily="2" charset="-122"/>
            </a:endParaRPr>
          </a:p>
          <a:p>
            <a:pPr marL="285750" indent="-285750">
              <a:buFont typeface="Wingdings" panose="05000000000000000000" pitchFamily="2" charset="2"/>
              <a:buChar char="l"/>
            </a:pPr>
            <a:r>
              <a:rPr lang="zh-CN" altLang="en-US" dirty="0">
                <a:latin typeface="华文细黑" pitchFamily="2" charset="-122"/>
                <a:ea typeface="华文细黑" pitchFamily="2" charset="-122"/>
              </a:rPr>
              <a:t>可以使用工具生成测试数据，参考测试数据生成工具，也可以手工生成。</a:t>
            </a:r>
            <a:endParaRPr lang="en-US" altLang="zh-CN" dirty="0">
              <a:latin typeface="华文细黑" pitchFamily="2" charset="-122"/>
              <a:ea typeface="华文细黑" pitchFamily="2" charset="-122"/>
            </a:endParaRPr>
          </a:p>
          <a:p>
            <a:pPr marL="285750" indent="-285750">
              <a:buFont typeface="Wingdings" panose="05000000000000000000" pitchFamily="2" charset="2"/>
              <a:buChar char="l"/>
            </a:pPr>
            <a:r>
              <a:rPr lang="zh-CN" altLang="en-US" dirty="0">
                <a:latin typeface="华文细黑" pitchFamily="2" charset="-122"/>
                <a:ea typeface="华文细黑" pitchFamily="2" charset="-122"/>
              </a:rPr>
              <a:t>逻辑用例可以使用测试数据生成物理用例。</a:t>
            </a:r>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r>
              <a:rPr lang="zh-CN" altLang="en-US" sz="1200" dirty="0">
                <a:latin typeface="华文细黑" pitchFamily="2" charset="-122"/>
                <a:ea typeface="华文细黑" pitchFamily="2" charset="-122"/>
              </a:rPr>
              <a:t>测试数据生成工具</a:t>
            </a:r>
            <a:endParaRPr lang="en-US" altLang="zh-CN" sz="1200" dirty="0">
              <a:latin typeface="华文细黑" pitchFamily="2" charset="-122"/>
              <a:ea typeface="华文细黑" pitchFamily="2" charset="-122"/>
            </a:endParaRPr>
          </a:p>
          <a:p>
            <a:r>
              <a:rPr lang="en-US" altLang="zh-CN" sz="1200" dirty="0">
                <a:latin typeface="华文细黑" pitchFamily="2" charset="-122"/>
                <a:ea typeface="华文细黑" pitchFamily="2" charset="-122"/>
              </a:rPr>
              <a:t>http://10.0.83.112/webdoc/view/Pub8a80d3f07ed22cae017fc53c84bb07d3.html</a:t>
            </a:r>
          </a:p>
          <a:p>
            <a:endParaRPr lang="en-US" altLang="zh-CN" sz="1200" dirty="0">
              <a:solidFill>
                <a:srgbClr val="000000"/>
              </a:solidFill>
              <a:latin typeface="华文细黑" pitchFamily="2" charset="-122"/>
              <a:ea typeface="华文细黑" pitchFamily="2" charset="-122"/>
            </a:endParaRPr>
          </a:p>
          <a:p>
            <a:r>
              <a:rPr lang="zh-CN" altLang="en-US" sz="1200" dirty="0">
                <a:solidFill>
                  <a:srgbClr val="000000"/>
                </a:solidFill>
                <a:latin typeface="华文细黑" pitchFamily="2" charset="-122"/>
                <a:ea typeface="华文细黑" pitchFamily="2" charset="-122"/>
              </a:rPr>
              <a:t>测试用例生成工具：</a:t>
            </a:r>
            <a:endParaRPr lang="en-US" altLang="zh-CN" sz="1200" dirty="0">
              <a:solidFill>
                <a:srgbClr val="000000"/>
              </a:solidFill>
              <a:latin typeface="华文细黑" pitchFamily="2" charset="-122"/>
              <a:ea typeface="华文细黑" pitchFamily="2" charset="-122"/>
            </a:endParaRPr>
          </a:p>
          <a:p>
            <a:r>
              <a:rPr lang="en-US" altLang="zh-CN" sz="1200" dirty="0">
                <a:solidFill>
                  <a:srgbClr val="000000"/>
                </a:solidFill>
                <a:latin typeface="华文细黑" pitchFamily="2" charset="-122"/>
                <a:ea typeface="华文细黑" pitchFamily="2" charset="-122"/>
              </a:rPr>
              <a:t>http://10.0.83.112/webdoc/view/Pub8a80d3f07ca17bf3017d323fbc0c0a8a.html</a:t>
            </a:r>
          </a:p>
          <a:p>
            <a:endParaRPr lang="en-US" altLang="zh-CN" dirty="0">
              <a:solidFill>
                <a:srgbClr val="000000"/>
              </a:solidFill>
              <a:latin typeface="华文细黑" pitchFamily="2" charset="-122"/>
              <a:ea typeface="华文细黑" pitchFamily="2" charset="-122"/>
            </a:endParaRPr>
          </a:p>
        </p:txBody>
      </p:sp>
      <p:pic>
        <p:nvPicPr>
          <p:cNvPr id="8" name="图片 7"/>
          <p:cNvPicPr>
            <a:picLocks noChangeAspect="1"/>
          </p:cNvPicPr>
          <p:nvPr/>
        </p:nvPicPr>
        <p:blipFill>
          <a:blip r:embed="rId2"/>
          <a:stretch>
            <a:fillRect/>
          </a:stretch>
        </p:blipFill>
        <p:spPr>
          <a:xfrm>
            <a:off x="6311379" y="1104816"/>
            <a:ext cx="5254902" cy="4720088"/>
          </a:xfrm>
          <a:prstGeom prst="rect">
            <a:avLst/>
          </a:prstGeom>
        </p:spPr>
      </p:pic>
    </p:spTree>
    <p:extLst>
      <p:ext uri="{BB962C8B-B14F-4D97-AF65-F5344CB8AC3E}">
        <p14:creationId xmlns:p14="http://schemas.microsoft.com/office/powerpoint/2010/main" val="1619396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643771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等价类分析法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物理接口配置用例设计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24840" y="1007819"/>
            <a:ext cx="8971964" cy="923330"/>
          </a:xfrm>
          <a:prstGeom prst="rect">
            <a:avLst/>
          </a:prstGeom>
        </p:spPr>
        <p:txBody>
          <a:bodyPr wrap="square">
            <a:spAutoFit/>
          </a:bodyPr>
          <a:lstStyle/>
          <a:p>
            <a:r>
              <a:rPr lang="zh-CN" altLang="en-US" dirty="0">
                <a:solidFill>
                  <a:srgbClr val="000000"/>
                </a:solidFill>
                <a:latin typeface="华文细黑" pitchFamily="2" charset="-122"/>
                <a:ea typeface="华文细黑" pitchFamily="2" charset="-122"/>
              </a:rPr>
              <a:t>第四步：</a:t>
            </a:r>
            <a:r>
              <a:rPr lang="zh-CN" altLang="en-US" dirty="0">
                <a:latin typeface="华文细黑" pitchFamily="2" charset="-122"/>
                <a:ea typeface="华文细黑" pitchFamily="2" charset="-122"/>
              </a:rPr>
              <a:t>根据经验扩展、补充测试用例</a:t>
            </a:r>
            <a:endParaRPr lang="en-US" altLang="zh-CN" dirty="0">
              <a:latin typeface="华文细黑" pitchFamily="2" charset="-122"/>
              <a:ea typeface="华文细黑" pitchFamily="2" charset="-122"/>
            </a:endParaRPr>
          </a:p>
          <a:p>
            <a:endParaRPr lang="en-US" altLang="zh-CN" dirty="0">
              <a:latin typeface="华文细黑" pitchFamily="2" charset="-122"/>
              <a:ea typeface="华文细黑" pitchFamily="2" charset="-122"/>
            </a:endParaRPr>
          </a:p>
          <a:p>
            <a:r>
              <a:rPr lang="zh-CN" altLang="en-US" dirty="0">
                <a:latin typeface="华文细黑" pitchFamily="2" charset="-122"/>
                <a:ea typeface="华文细黑" pitchFamily="2" charset="-122"/>
              </a:rPr>
              <a:t>根据经验补充接口增删和参数限制测试，以及模式切换默认值测试</a:t>
            </a:r>
            <a:endParaRPr lang="zh-CN" altLang="en-US" dirty="0"/>
          </a:p>
        </p:txBody>
      </p:sp>
      <p:pic>
        <p:nvPicPr>
          <p:cNvPr id="5" name="图片 4"/>
          <p:cNvPicPr>
            <a:picLocks noChangeAspect="1"/>
          </p:cNvPicPr>
          <p:nvPr/>
        </p:nvPicPr>
        <p:blipFill>
          <a:blip r:embed="rId2"/>
          <a:stretch>
            <a:fillRect/>
          </a:stretch>
        </p:blipFill>
        <p:spPr>
          <a:xfrm>
            <a:off x="707487" y="2011867"/>
            <a:ext cx="9769687" cy="1524132"/>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2044971409"/>
              </p:ext>
            </p:extLst>
          </p:nvPr>
        </p:nvGraphicFramePr>
        <p:xfrm>
          <a:off x="839373" y="4038750"/>
          <a:ext cx="1073450" cy="717890"/>
        </p:xfrm>
        <a:graphic>
          <a:graphicData uri="http://schemas.openxmlformats.org/presentationml/2006/ole">
            <mc:AlternateContent xmlns:mc="http://schemas.openxmlformats.org/markup-compatibility/2006">
              <mc:Choice xmlns:v="urn:schemas-microsoft-com:vml" Requires="v">
                <p:oleObj name="Worksheet" showAsIcon="1" r:id="rId3" imgW="914400" imgH="1020960" progId="Excel.Sheet.12">
                  <p:embed/>
                </p:oleObj>
              </mc:Choice>
              <mc:Fallback>
                <p:oleObj name="Worksheet" showAsIcon="1" r:id="rId3" imgW="914400" imgH="1020960" progId="Excel.Sheet.12">
                  <p:embed/>
                  <p:pic>
                    <p:nvPicPr>
                      <p:cNvPr id="0" name=""/>
                      <p:cNvPicPr/>
                      <p:nvPr/>
                    </p:nvPicPr>
                    <p:blipFill>
                      <a:blip r:embed="rId4"/>
                      <a:stretch>
                        <a:fillRect/>
                      </a:stretch>
                    </p:blipFill>
                    <p:spPr>
                      <a:xfrm>
                        <a:off x="839373" y="4038750"/>
                        <a:ext cx="1073450" cy="717890"/>
                      </a:xfrm>
                      <a:prstGeom prst="rect">
                        <a:avLst/>
                      </a:prstGeom>
                    </p:spPr>
                  </p:pic>
                </p:oleObj>
              </mc:Fallback>
            </mc:AlternateContent>
          </a:graphicData>
        </a:graphic>
      </p:graphicFrame>
    </p:spTree>
    <p:extLst>
      <p:ext uri="{BB962C8B-B14F-4D97-AF65-F5344CB8AC3E}">
        <p14:creationId xmlns:p14="http://schemas.microsoft.com/office/powerpoint/2010/main" val="3800881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643771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等价类分析法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静态路由转发用例设计</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24839" y="1245210"/>
            <a:ext cx="10405111" cy="923330"/>
          </a:xfrm>
          <a:prstGeom prst="rect">
            <a:avLst/>
          </a:prstGeom>
        </p:spPr>
        <p:txBody>
          <a:bodyPr wrap="square">
            <a:spAutoFit/>
          </a:bodyPr>
          <a:lstStyle/>
          <a:p>
            <a:r>
              <a:rPr lang="zh-CN" altLang="en-US" b="1" dirty="0">
                <a:solidFill>
                  <a:srgbClr val="000000"/>
                </a:solidFill>
                <a:latin typeface="华文细黑" pitchFamily="2" charset="-122"/>
                <a:ea typeface="华文细黑" pitchFamily="2" charset="-122"/>
              </a:rPr>
              <a:t>功能介绍</a:t>
            </a:r>
            <a:endParaRPr lang="en-US" altLang="zh-CN" b="1" dirty="0">
              <a:solidFill>
                <a:srgbClr val="000000"/>
              </a:solidFill>
              <a:latin typeface="华文细黑" pitchFamily="2" charset="-122"/>
              <a:ea typeface="华文细黑" pitchFamily="2" charset="-122"/>
            </a:endParaRPr>
          </a:p>
          <a:p>
            <a:pPr lvl="1"/>
            <a:r>
              <a:rPr lang="zh-CN" altLang="en-US" dirty="0">
                <a:solidFill>
                  <a:srgbClr val="000000"/>
                </a:solidFill>
                <a:latin typeface="华文细黑" pitchFamily="2" charset="-122"/>
                <a:ea typeface="华文细黑" pitchFamily="2" charset="-122"/>
              </a:rPr>
              <a:t>配置物理接口属性，物理接口包括路由、交换和接口对三种模式。每种模式下的配置方式不同，详情见下图</a:t>
            </a:r>
            <a:endParaRPr lang="en-US" altLang="zh-CN" dirty="0">
              <a:solidFill>
                <a:srgbClr val="000000"/>
              </a:solidFill>
              <a:latin typeface="华文细黑" pitchFamily="2" charset="-122"/>
              <a:ea typeface="华文细黑" pitchFamily="2" charset="-122"/>
            </a:endParaRPr>
          </a:p>
        </p:txBody>
      </p:sp>
      <p:pic>
        <p:nvPicPr>
          <p:cNvPr id="5" name="图片 4"/>
          <p:cNvPicPr>
            <a:picLocks noChangeAspect="1"/>
          </p:cNvPicPr>
          <p:nvPr/>
        </p:nvPicPr>
        <p:blipFill>
          <a:blip r:embed="rId2"/>
          <a:stretch>
            <a:fillRect/>
          </a:stretch>
        </p:blipFill>
        <p:spPr>
          <a:xfrm>
            <a:off x="703421" y="2675603"/>
            <a:ext cx="3642350" cy="2397558"/>
          </a:xfrm>
          <a:prstGeom prst="rect">
            <a:avLst/>
          </a:prstGeom>
          <a:effectLst>
            <a:glow rad="63500">
              <a:schemeClr val="accent1">
                <a:satMod val="175000"/>
                <a:alpha val="40000"/>
              </a:schemeClr>
            </a:glow>
            <a:reflection blurRad="50800" stA="45000" endPos="65000" dist="12700" dir="5400000" sy="-100000" algn="bl" rotWithShape="0"/>
          </a:effectLst>
        </p:spPr>
      </p:pic>
      <p:pic>
        <p:nvPicPr>
          <p:cNvPr id="6" name="图片 5"/>
          <p:cNvPicPr>
            <a:picLocks noChangeAspect="1"/>
          </p:cNvPicPr>
          <p:nvPr/>
        </p:nvPicPr>
        <p:blipFill>
          <a:blip r:embed="rId3"/>
          <a:stretch>
            <a:fillRect/>
          </a:stretch>
        </p:blipFill>
        <p:spPr>
          <a:xfrm>
            <a:off x="4400550" y="2675602"/>
            <a:ext cx="3626827" cy="2395303"/>
          </a:xfrm>
          <a:prstGeom prst="rect">
            <a:avLst/>
          </a:prstGeom>
          <a:effectLst>
            <a:glow rad="63500">
              <a:schemeClr val="accent1">
                <a:satMod val="175000"/>
                <a:alpha val="40000"/>
              </a:schemeClr>
            </a:glow>
            <a:reflection blurRad="50800" stA="45000" endPos="65000" dist="12700" dir="5400000" sy="-100000" algn="bl" rotWithShape="0"/>
          </a:effectLst>
        </p:spPr>
      </p:pic>
      <p:pic>
        <p:nvPicPr>
          <p:cNvPr id="8" name="图片 7"/>
          <p:cNvPicPr>
            <a:picLocks noChangeAspect="1"/>
          </p:cNvPicPr>
          <p:nvPr/>
        </p:nvPicPr>
        <p:blipFill>
          <a:blip r:embed="rId4"/>
          <a:stretch>
            <a:fillRect/>
          </a:stretch>
        </p:blipFill>
        <p:spPr>
          <a:xfrm>
            <a:off x="8082156" y="2675602"/>
            <a:ext cx="3590550" cy="2395303"/>
          </a:xfrm>
          <a:prstGeom prst="rect">
            <a:avLst/>
          </a:prstGeom>
          <a:effectLst>
            <a:glow rad="63500">
              <a:schemeClr val="accent1">
                <a:satMod val="175000"/>
                <a:alpha val="40000"/>
              </a:schemeClr>
            </a:glow>
            <a:reflection blurRad="50800" stA="45000" endPos="65000" dist="12700" dir="5400000" sy="-100000" algn="bl" rotWithShape="0"/>
          </a:effectLst>
        </p:spPr>
      </p:pic>
    </p:spTree>
    <p:extLst>
      <p:ext uri="{BB962C8B-B14F-4D97-AF65-F5344CB8AC3E}">
        <p14:creationId xmlns:p14="http://schemas.microsoft.com/office/powerpoint/2010/main" val="1726073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noChangeArrowheads="1"/>
          </p:cNvPicPr>
          <p:nvPr/>
        </p:nvPicPr>
        <p:blipFill>
          <a:blip r:embed="rId2" cstate="print"/>
          <a:srcRect/>
          <a:stretch>
            <a:fillRect/>
          </a:stretch>
        </p:blipFill>
        <p:spPr bwMode="auto">
          <a:xfrm>
            <a:off x="706348" y="2032651"/>
            <a:ext cx="3417438" cy="4182070"/>
          </a:xfrm>
          <a:prstGeom prst="rect">
            <a:avLst/>
          </a:prstGeom>
          <a:noFill/>
          <a:ln w="9525">
            <a:noFill/>
            <a:miter lim="800000"/>
            <a:headEnd/>
            <a:tailEnd/>
          </a:ln>
          <a:effectLst/>
        </p:spPr>
      </p:pic>
      <p:sp>
        <p:nvSpPr>
          <p:cNvPr id="3" name="矩形 2"/>
          <p:cNvSpPr/>
          <p:nvPr/>
        </p:nvSpPr>
        <p:spPr>
          <a:xfrm>
            <a:off x="624840" y="1007819"/>
            <a:ext cx="6096000" cy="923330"/>
          </a:xfrm>
          <a:prstGeom prst="rect">
            <a:avLst/>
          </a:prstGeom>
        </p:spPr>
        <p:txBody>
          <a:bodyPr>
            <a:spAutoFit/>
          </a:bodyPr>
          <a:lstStyle/>
          <a:p>
            <a:r>
              <a:rPr lang="zh-CN" altLang="en-US" dirty="0">
                <a:solidFill>
                  <a:srgbClr val="000000"/>
                </a:solidFill>
                <a:latin typeface="华文细黑" pitchFamily="2" charset="-122"/>
                <a:ea typeface="华文细黑" pitchFamily="2" charset="-122"/>
              </a:rPr>
              <a:t>流程分析法是将软件系统的某个流程看成路径，用路径分析的方法来设计测试用例。根据流程的顺序依次进行组合，使得流程的各个分支都能走到。</a:t>
            </a:r>
            <a:endParaRPr lang="en-US" altLang="zh-CN" dirty="0">
              <a:solidFill>
                <a:srgbClr val="000000"/>
              </a:solidFill>
              <a:latin typeface="华文细黑" pitchFamily="2" charset="-122"/>
              <a:ea typeface="华文细黑" pitchFamily="2" charset="-122"/>
            </a:endParaRPr>
          </a:p>
        </p:txBody>
      </p:sp>
      <p:sp>
        <p:nvSpPr>
          <p:cNvPr id="6" name="TextBox 4"/>
          <p:cNvSpPr txBox="1"/>
          <p:nvPr/>
        </p:nvSpPr>
        <p:spPr>
          <a:xfrm>
            <a:off x="4947888" y="2036785"/>
            <a:ext cx="4536504" cy="4278094"/>
          </a:xfrm>
          <a:prstGeom prst="rect">
            <a:avLst/>
          </a:prstGeom>
          <a:noFill/>
        </p:spPr>
        <p:txBody>
          <a:bodyPr wrap="square" rtlCol="0">
            <a:spAutoFit/>
          </a:bodyPr>
          <a:lstStyle/>
          <a:p>
            <a:r>
              <a:rPr lang="zh-CN" altLang="en-US" sz="1600" dirty="0">
                <a:solidFill>
                  <a:srgbClr val="000000"/>
                </a:solidFill>
                <a:latin typeface="华文细黑" pitchFamily="2" charset="-122"/>
                <a:ea typeface="华文细黑" pitchFamily="2" charset="-122"/>
              </a:rPr>
              <a:t>覆盖深度：以判定点或者活动为基点，可能的路径条数即为深度。</a:t>
            </a:r>
            <a:endParaRPr lang="en-US" altLang="zh-CN" sz="1600" dirty="0">
              <a:solidFill>
                <a:srgbClr val="000000"/>
              </a:solidFill>
              <a:latin typeface="华文细黑" pitchFamily="2" charset="-122"/>
              <a:ea typeface="华文细黑" pitchFamily="2" charset="-122"/>
            </a:endParaRPr>
          </a:p>
          <a:p>
            <a:endParaRPr lang="en-US" altLang="zh-CN" sz="1600" dirty="0">
              <a:solidFill>
                <a:srgbClr val="000000"/>
              </a:solidFill>
              <a:latin typeface="华文细黑" pitchFamily="2" charset="-122"/>
              <a:ea typeface="华文细黑" pitchFamily="2" charset="-122"/>
            </a:endParaRPr>
          </a:p>
          <a:p>
            <a:r>
              <a:rPr lang="zh-CN" altLang="en-US" sz="1600" dirty="0">
                <a:solidFill>
                  <a:srgbClr val="000000"/>
                </a:solidFill>
                <a:latin typeface="华文细黑" pitchFamily="2" charset="-122"/>
                <a:ea typeface="华文细黑" pitchFamily="2" charset="-122"/>
              </a:rPr>
              <a:t>例如</a:t>
            </a:r>
            <a:r>
              <a:rPr lang="en-US" altLang="zh-CN" sz="1600" dirty="0">
                <a:solidFill>
                  <a:srgbClr val="000000"/>
                </a:solidFill>
                <a:latin typeface="华文细黑" pitchFamily="2" charset="-122"/>
                <a:ea typeface="华文细黑" pitchFamily="2" charset="-122"/>
              </a:rPr>
              <a:t>D1</a:t>
            </a:r>
            <a:r>
              <a:rPr lang="zh-CN" altLang="en-US" sz="1600" dirty="0">
                <a:solidFill>
                  <a:srgbClr val="000000"/>
                </a:solidFill>
                <a:latin typeface="华文细黑" pitchFamily="2" charset="-122"/>
                <a:ea typeface="华文细黑" pitchFamily="2" charset="-122"/>
              </a:rPr>
              <a:t>覆盖深度为</a:t>
            </a:r>
            <a:r>
              <a:rPr lang="en-US" altLang="zh-CN" sz="1600" dirty="0">
                <a:solidFill>
                  <a:srgbClr val="000000"/>
                </a:solidFill>
                <a:latin typeface="华文细黑" pitchFamily="2" charset="-122"/>
                <a:ea typeface="华文细黑" pitchFamily="2" charset="-122"/>
              </a:rPr>
              <a:t>2</a:t>
            </a:r>
            <a:r>
              <a:rPr lang="zh-CN" altLang="en-US" sz="1600" dirty="0">
                <a:solidFill>
                  <a:srgbClr val="000000"/>
                </a:solidFill>
                <a:latin typeface="华文细黑" pitchFamily="2" charset="-122"/>
                <a:ea typeface="华文细黑" pitchFamily="2" charset="-122"/>
              </a:rPr>
              <a:t>的路径有</a:t>
            </a:r>
            <a:r>
              <a:rPr lang="en-US" altLang="zh-CN" sz="1600" dirty="0">
                <a:solidFill>
                  <a:srgbClr val="000000"/>
                </a:solidFill>
                <a:latin typeface="华文细黑" pitchFamily="2" charset="-122"/>
                <a:ea typeface="华文细黑" pitchFamily="2" charset="-122"/>
              </a:rPr>
              <a:t>4</a:t>
            </a:r>
            <a:r>
              <a:rPr lang="zh-CN" altLang="en-US" sz="1600" dirty="0">
                <a:solidFill>
                  <a:srgbClr val="000000"/>
                </a:solidFill>
                <a:latin typeface="华文细黑" pitchFamily="2" charset="-122"/>
                <a:ea typeface="华文细黑" pitchFamily="2" charset="-122"/>
              </a:rPr>
              <a:t>条</a:t>
            </a:r>
            <a:endParaRPr lang="en-US" altLang="zh-CN" sz="1600" dirty="0">
              <a:solidFill>
                <a:srgbClr val="000000"/>
              </a:solidFill>
              <a:latin typeface="华文细黑" pitchFamily="2" charset="-122"/>
              <a:ea typeface="华文细黑" pitchFamily="2" charset="-122"/>
            </a:endParaRPr>
          </a:p>
          <a:p>
            <a:r>
              <a:rPr lang="en-US" altLang="zh-CN" sz="1600" dirty="0">
                <a:solidFill>
                  <a:srgbClr val="000000"/>
                </a:solidFill>
                <a:latin typeface="华文细黑" pitchFamily="2" charset="-122"/>
                <a:ea typeface="华文细黑" pitchFamily="2" charset="-122"/>
              </a:rPr>
              <a:t>P1</a:t>
            </a:r>
            <a:r>
              <a:rPr lang="en-US" altLang="zh-CN" sz="1600" dirty="0">
                <a:solidFill>
                  <a:srgbClr val="000000"/>
                </a:solidFill>
                <a:latin typeface="华文细黑" pitchFamily="2" charset="-122"/>
                <a:ea typeface="华文细黑" pitchFamily="2" charset="-122"/>
                <a:sym typeface="Wingdings" pitchFamily="2" charset="2"/>
              </a:rPr>
              <a:t>P3,P1P4,P2P3,P2P4</a:t>
            </a:r>
          </a:p>
          <a:p>
            <a:endParaRPr lang="en-US" altLang="zh-CN" sz="1600" dirty="0">
              <a:solidFill>
                <a:srgbClr val="000000"/>
              </a:solidFill>
              <a:latin typeface="华文细黑" pitchFamily="2" charset="-122"/>
              <a:ea typeface="华文细黑" pitchFamily="2" charset="-122"/>
              <a:sym typeface="Wingdings" pitchFamily="2" charset="2"/>
            </a:endParaRPr>
          </a:p>
          <a:p>
            <a:r>
              <a:rPr lang="en-US" altLang="zh-CN" sz="1600" dirty="0">
                <a:solidFill>
                  <a:srgbClr val="000000"/>
                </a:solidFill>
                <a:latin typeface="华文细黑" pitchFamily="2" charset="-122"/>
                <a:ea typeface="华文细黑" pitchFamily="2" charset="-122"/>
                <a:sym typeface="Wingdings" pitchFamily="2" charset="2"/>
              </a:rPr>
              <a:t>D1</a:t>
            </a:r>
            <a:r>
              <a:rPr lang="zh-CN" altLang="en-US" sz="1600" dirty="0">
                <a:solidFill>
                  <a:srgbClr val="000000"/>
                </a:solidFill>
                <a:latin typeface="华文细黑" pitchFamily="2" charset="-122"/>
                <a:ea typeface="华文细黑" pitchFamily="2" charset="-122"/>
                <a:sym typeface="Wingdings" pitchFamily="2" charset="2"/>
              </a:rPr>
              <a:t>覆盖深度为</a:t>
            </a:r>
            <a:r>
              <a:rPr lang="en-US" altLang="zh-CN" sz="1600" dirty="0">
                <a:solidFill>
                  <a:srgbClr val="000000"/>
                </a:solidFill>
                <a:latin typeface="华文细黑" pitchFamily="2" charset="-122"/>
                <a:ea typeface="华文细黑" pitchFamily="2" charset="-122"/>
                <a:sym typeface="Wingdings" pitchFamily="2" charset="2"/>
              </a:rPr>
              <a:t>3</a:t>
            </a:r>
            <a:r>
              <a:rPr lang="zh-CN" altLang="en-US" sz="1600" dirty="0">
                <a:solidFill>
                  <a:srgbClr val="000000"/>
                </a:solidFill>
                <a:latin typeface="华文细黑" pitchFamily="2" charset="-122"/>
                <a:ea typeface="华文细黑" pitchFamily="2" charset="-122"/>
                <a:sym typeface="Wingdings" pitchFamily="2" charset="2"/>
              </a:rPr>
              <a:t>：有</a:t>
            </a:r>
            <a:r>
              <a:rPr lang="en-US" altLang="zh-CN" sz="1600" dirty="0">
                <a:solidFill>
                  <a:srgbClr val="000000"/>
                </a:solidFill>
                <a:latin typeface="华文细黑" pitchFamily="2" charset="-122"/>
                <a:ea typeface="华文细黑" pitchFamily="2" charset="-122"/>
                <a:sym typeface="Wingdings" pitchFamily="2" charset="2"/>
              </a:rPr>
              <a:t>8</a:t>
            </a:r>
            <a:r>
              <a:rPr lang="zh-CN" altLang="en-US" sz="1600" dirty="0">
                <a:solidFill>
                  <a:srgbClr val="000000"/>
                </a:solidFill>
                <a:latin typeface="华文细黑" pitchFamily="2" charset="-122"/>
                <a:ea typeface="华文细黑" pitchFamily="2" charset="-122"/>
                <a:sym typeface="Wingdings" pitchFamily="2" charset="2"/>
              </a:rPr>
              <a:t>条</a:t>
            </a:r>
            <a:endParaRPr lang="en-US" altLang="zh-CN" sz="1600" dirty="0">
              <a:solidFill>
                <a:srgbClr val="000000"/>
              </a:solidFill>
              <a:latin typeface="华文细黑" pitchFamily="2" charset="-122"/>
              <a:ea typeface="华文细黑" pitchFamily="2" charset="-122"/>
              <a:sym typeface="Wingdings" pitchFamily="2" charset="2"/>
            </a:endParaRPr>
          </a:p>
          <a:p>
            <a:r>
              <a:rPr lang="en-US" altLang="zh-CN" sz="1600" dirty="0">
                <a:solidFill>
                  <a:srgbClr val="000000"/>
                </a:solidFill>
                <a:latin typeface="华文细黑" pitchFamily="2" charset="-122"/>
                <a:ea typeface="华文细黑" pitchFamily="2" charset="-122"/>
                <a:sym typeface="Wingdings" pitchFamily="2" charset="2"/>
              </a:rPr>
              <a:t>P1P3P6,P1P3P7</a:t>
            </a:r>
          </a:p>
          <a:p>
            <a:r>
              <a:rPr lang="en-US" altLang="zh-CN" sz="1600" dirty="0">
                <a:solidFill>
                  <a:srgbClr val="000000"/>
                </a:solidFill>
                <a:latin typeface="华文细黑" pitchFamily="2" charset="-122"/>
                <a:ea typeface="华文细黑" pitchFamily="2" charset="-122"/>
                <a:sym typeface="Wingdings" pitchFamily="2" charset="2"/>
              </a:rPr>
              <a:t>P1P4P9,P1P4P2</a:t>
            </a:r>
          </a:p>
          <a:p>
            <a:r>
              <a:rPr lang="en-US" altLang="zh-CN" sz="1600" dirty="0">
                <a:solidFill>
                  <a:srgbClr val="000000"/>
                </a:solidFill>
                <a:latin typeface="华文细黑" pitchFamily="2" charset="-122"/>
                <a:ea typeface="华文细黑" pitchFamily="2" charset="-122"/>
                <a:sym typeface="Wingdings" pitchFamily="2" charset="2"/>
              </a:rPr>
              <a:t>P2P3P6,P2P3P7</a:t>
            </a:r>
          </a:p>
          <a:p>
            <a:r>
              <a:rPr lang="en-US" altLang="zh-CN" sz="1600" dirty="0">
                <a:solidFill>
                  <a:srgbClr val="000000"/>
                </a:solidFill>
                <a:latin typeface="华文细黑" pitchFamily="2" charset="-122"/>
                <a:ea typeface="华文细黑" pitchFamily="2" charset="-122"/>
                <a:sym typeface="Wingdings" pitchFamily="2" charset="2"/>
              </a:rPr>
              <a:t>P2P4P9,P2P4P2</a:t>
            </a:r>
          </a:p>
          <a:p>
            <a:endParaRPr lang="en-US" altLang="zh-CN" sz="1600" dirty="0">
              <a:solidFill>
                <a:srgbClr val="000000"/>
              </a:solidFill>
              <a:latin typeface="华文细黑" pitchFamily="2" charset="-122"/>
              <a:ea typeface="华文细黑" pitchFamily="2" charset="-122"/>
              <a:sym typeface="Wingdings" pitchFamily="2" charset="2"/>
            </a:endParaRPr>
          </a:p>
          <a:p>
            <a:r>
              <a:rPr lang="zh-CN" altLang="en-US" sz="1600" dirty="0">
                <a:solidFill>
                  <a:srgbClr val="000000"/>
                </a:solidFill>
                <a:latin typeface="华文细黑" pitchFamily="2" charset="-122"/>
                <a:ea typeface="华文细黑" pitchFamily="2" charset="-122"/>
                <a:sym typeface="Wingdings" pitchFamily="2" charset="2"/>
              </a:rPr>
              <a:t>由于覆盖深度为</a:t>
            </a:r>
            <a:r>
              <a:rPr lang="en-US" altLang="zh-CN" sz="1600" dirty="0">
                <a:solidFill>
                  <a:srgbClr val="000000"/>
                </a:solidFill>
                <a:latin typeface="华文细黑" pitchFamily="2" charset="-122"/>
                <a:ea typeface="华文细黑" pitchFamily="2" charset="-122"/>
                <a:sym typeface="Wingdings" pitchFamily="2" charset="2"/>
              </a:rPr>
              <a:t>3</a:t>
            </a:r>
            <a:r>
              <a:rPr lang="zh-CN" altLang="en-US" sz="1600" dirty="0">
                <a:solidFill>
                  <a:srgbClr val="000000"/>
                </a:solidFill>
                <a:latin typeface="华文细黑" pitchFamily="2" charset="-122"/>
                <a:ea typeface="华文细黑" pitchFamily="2" charset="-122"/>
                <a:sym typeface="Wingdings" pitchFamily="2" charset="2"/>
              </a:rPr>
              <a:t>存在很多重复的路径，因此通常使用覆盖深度为</a:t>
            </a:r>
            <a:r>
              <a:rPr lang="en-US" altLang="zh-CN" sz="1600" dirty="0">
                <a:solidFill>
                  <a:srgbClr val="000000"/>
                </a:solidFill>
                <a:latin typeface="华文细黑" pitchFamily="2" charset="-122"/>
                <a:ea typeface="华文细黑" pitchFamily="2" charset="-122"/>
                <a:sym typeface="Wingdings" pitchFamily="2" charset="2"/>
              </a:rPr>
              <a:t>2</a:t>
            </a:r>
          </a:p>
          <a:p>
            <a:endParaRPr lang="en-US" altLang="zh-CN" sz="1600" dirty="0">
              <a:solidFill>
                <a:srgbClr val="000000"/>
              </a:solidFill>
              <a:latin typeface="华文细黑" pitchFamily="2" charset="-122"/>
              <a:ea typeface="华文细黑" pitchFamily="2" charset="-122"/>
              <a:sym typeface="Wingdings" pitchFamily="2" charset="2"/>
            </a:endParaRPr>
          </a:p>
          <a:p>
            <a:endParaRPr lang="en-US" altLang="zh-CN" sz="1600" dirty="0">
              <a:solidFill>
                <a:srgbClr val="000000"/>
              </a:solidFill>
              <a:latin typeface="华文细黑" pitchFamily="2" charset="-122"/>
              <a:ea typeface="华文细黑" pitchFamily="2" charset="-122"/>
            </a:endParaRPr>
          </a:p>
          <a:p>
            <a:endParaRPr lang="zh-CN" altLang="en-US" sz="1600"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2833765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noChangeArrowheads="1"/>
          </p:cNvPicPr>
          <p:nvPr/>
        </p:nvPicPr>
        <p:blipFill>
          <a:blip r:embed="rId2" cstate="print"/>
          <a:srcRect/>
          <a:stretch>
            <a:fillRect/>
          </a:stretch>
        </p:blipFill>
        <p:spPr bwMode="auto">
          <a:xfrm>
            <a:off x="624840" y="1054999"/>
            <a:ext cx="4171950" cy="5105400"/>
          </a:xfrm>
          <a:prstGeom prst="rect">
            <a:avLst/>
          </a:prstGeom>
          <a:noFill/>
          <a:ln w="9525">
            <a:noFill/>
            <a:miter lim="800000"/>
            <a:headEnd/>
            <a:tailEnd/>
          </a:ln>
          <a:effectLst/>
        </p:spPr>
      </p:pic>
      <p:graphicFrame>
        <p:nvGraphicFramePr>
          <p:cNvPr id="8" name="表格 7"/>
          <p:cNvGraphicFramePr>
            <a:graphicFrameLocks noGrp="1"/>
          </p:cNvGraphicFramePr>
          <p:nvPr>
            <p:extLst>
              <p:ext uri="{D42A27DB-BD31-4B8C-83A1-F6EECF244321}">
                <p14:modId xmlns:p14="http://schemas.microsoft.com/office/powerpoint/2010/main" val="2647142539"/>
              </p:ext>
            </p:extLst>
          </p:nvPr>
        </p:nvGraphicFramePr>
        <p:xfrm>
          <a:off x="5109380" y="1411114"/>
          <a:ext cx="4032448" cy="1371600"/>
        </p:xfrm>
        <a:graphic>
          <a:graphicData uri="http://schemas.openxmlformats.org/drawingml/2006/table">
            <a:tbl>
              <a:tblPr firstRow="1" bandRow="1"/>
              <a:tblGrid>
                <a:gridCol w="1656184">
                  <a:extLst>
                    <a:ext uri="{9D8B030D-6E8A-4147-A177-3AD203B41FA5}">
                      <a16:colId xmlns:a16="http://schemas.microsoft.com/office/drawing/2014/main" val="20000"/>
                    </a:ext>
                  </a:extLst>
                </a:gridCol>
                <a:gridCol w="2376264">
                  <a:extLst>
                    <a:ext uri="{9D8B030D-6E8A-4147-A177-3AD203B41FA5}">
                      <a16:colId xmlns:a16="http://schemas.microsoft.com/office/drawing/2014/main" val="20001"/>
                    </a:ext>
                  </a:extLst>
                </a:gridCol>
              </a:tblGrid>
              <a:tr h="256002">
                <a:tc>
                  <a:txBody>
                    <a:bodyPr/>
                    <a:lstStyle>
                      <a:lvl1pPr marL="0" algn="l" defTabSz="914400" rtl="0" eaLnBrk="1" latinLnBrk="0" hangingPunct="1">
                        <a:defRPr sz="1800" b="1" kern="1200">
                          <a:solidFill>
                            <a:schemeClr val="lt1"/>
                          </a:solidFill>
                          <a:latin typeface="Tahoma"/>
                          <a:ea typeface="微软雅黑"/>
                        </a:defRPr>
                      </a:lvl1pPr>
                      <a:lvl2pPr marL="457200" algn="l" defTabSz="914400" rtl="0" eaLnBrk="1" latinLnBrk="0" hangingPunct="1">
                        <a:defRPr sz="1800" b="1" kern="1200">
                          <a:solidFill>
                            <a:schemeClr val="lt1"/>
                          </a:solidFill>
                          <a:latin typeface="Tahoma"/>
                          <a:ea typeface="微软雅黑"/>
                        </a:defRPr>
                      </a:lvl2pPr>
                      <a:lvl3pPr marL="914400" algn="l" defTabSz="914400" rtl="0" eaLnBrk="1" latinLnBrk="0" hangingPunct="1">
                        <a:defRPr sz="1800" b="1" kern="1200">
                          <a:solidFill>
                            <a:schemeClr val="lt1"/>
                          </a:solidFill>
                          <a:latin typeface="Tahoma"/>
                          <a:ea typeface="微软雅黑"/>
                        </a:defRPr>
                      </a:lvl3pPr>
                      <a:lvl4pPr marL="1371600" algn="l" defTabSz="914400" rtl="0" eaLnBrk="1" latinLnBrk="0" hangingPunct="1">
                        <a:defRPr sz="1800" b="1" kern="1200">
                          <a:solidFill>
                            <a:schemeClr val="lt1"/>
                          </a:solidFill>
                          <a:latin typeface="Tahoma"/>
                          <a:ea typeface="微软雅黑"/>
                        </a:defRPr>
                      </a:lvl4pPr>
                      <a:lvl5pPr marL="1828800" algn="l" defTabSz="914400" rtl="0" eaLnBrk="1" latinLnBrk="0" hangingPunct="1">
                        <a:defRPr sz="1800" b="1" kern="1200">
                          <a:solidFill>
                            <a:schemeClr val="lt1"/>
                          </a:solidFill>
                          <a:latin typeface="Tahoma"/>
                          <a:ea typeface="微软雅黑"/>
                        </a:defRPr>
                      </a:lvl5pPr>
                      <a:lvl6pPr marL="2286000" algn="l" defTabSz="914400" rtl="0" eaLnBrk="1" latinLnBrk="0" hangingPunct="1">
                        <a:defRPr sz="1800" b="1" kern="1200">
                          <a:solidFill>
                            <a:schemeClr val="lt1"/>
                          </a:solidFill>
                          <a:latin typeface="Tahoma"/>
                          <a:ea typeface="微软雅黑"/>
                        </a:defRPr>
                      </a:lvl6pPr>
                      <a:lvl7pPr marL="2743200" algn="l" defTabSz="914400" rtl="0" eaLnBrk="1" latinLnBrk="0" hangingPunct="1">
                        <a:defRPr sz="1800" b="1" kern="1200">
                          <a:solidFill>
                            <a:schemeClr val="lt1"/>
                          </a:solidFill>
                          <a:latin typeface="Tahoma"/>
                          <a:ea typeface="微软雅黑"/>
                        </a:defRPr>
                      </a:lvl7pPr>
                      <a:lvl8pPr marL="3200400" algn="l" defTabSz="914400" rtl="0" eaLnBrk="1" latinLnBrk="0" hangingPunct="1">
                        <a:defRPr sz="1800" b="1" kern="1200">
                          <a:solidFill>
                            <a:schemeClr val="lt1"/>
                          </a:solidFill>
                          <a:latin typeface="Tahoma"/>
                          <a:ea typeface="微软雅黑"/>
                        </a:defRPr>
                      </a:lvl8pPr>
                      <a:lvl9pPr marL="3657600" algn="l" defTabSz="914400" rtl="0" eaLnBrk="1" latinLnBrk="0" hangingPunct="1">
                        <a:defRPr sz="1800" b="1" kern="1200">
                          <a:solidFill>
                            <a:schemeClr val="lt1"/>
                          </a:solidFill>
                          <a:latin typeface="Tahoma"/>
                          <a:ea typeface="微软雅黑"/>
                        </a:defRPr>
                      </a:lvl9pPr>
                    </a:lstStyle>
                    <a:p>
                      <a:r>
                        <a:rPr lang="zh-CN" altLang="en-US" sz="1200" dirty="0"/>
                        <a:t>判定点</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2BCC2"/>
                    </a:solidFill>
                  </a:tcPr>
                </a:tc>
                <a:tc>
                  <a:txBody>
                    <a:bodyPr/>
                    <a:lstStyle>
                      <a:lvl1pPr marL="0" algn="l" defTabSz="914400" rtl="0" eaLnBrk="1" latinLnBrk="0" hangingPunct="1">
                        <a:defRPr sz="1800" b="1" kern="1200">
                          <a:solidFill>
                            <a:schemeClr val="lt1"/>
                          </a:solidFill>
                          <a:latin typeface="Tahoma"/>
                          <a:ea typeface="微软雅黑"/>
                        </a:defRPr>
                      </a:lvl1pPr>
                      <a:lvl2pPr marL="457200" algn="l" defTabSz="914400" rtl="0" eaLnBrk="1" latinLnBrk="0" hangingPunct="1">
                        <a:defRPr sz="1800" b="1" kern="1200">
                          <a:solidFill>
                            <a:schemeClr val="lt1"/>
                          </a:solidFill>
                          <a:latin typeface="Tahoma"/>
                          <a:ea typeface="微软雅黑"/>
                        </a:defRPr>
                      </a:lvl2pPr>
                      <a:lvl3pPr marL="914400" algn="l" defTabSz="914400" rtl="0" eaLnBrk="1" latinLnBrk="0" hangingPunct="1">
                        <a:defRPr sz="1800" b="1" kern="1200">
                          <a:solidFill>
                            <a:schemeClr val="lt1"/>
                          </a:solidFill>
                          <a:latin typeface="Tahoma"/>
                          <a:ea typeface="微软雅黑"/>
                        </a:defRPr>
                      </a:lvl3pPr>
                      <a:lvl4pPr marL="1371600" algn="l" defTabSz="914400" rtl="0" eaLnBrk="1" latinLnBrk="0" hangingPunct="1">
                        <a:defRPr sz="1800" b="1" kern="1200">
                          <a:solidFill>
                            <a:schemeClr val="lt1"/>
                          </a:solidFill>
                          <a:latin typeface="Tahoma"/>
                          <a:ea typeface="微软雅黑"/>
                        </a:defRPr>
                      </a:lvl4pPr>
                      <a:lvl5pPr marL="1828800" algn="l" defTabSz="914400" rtl="0" eaLnBrk="1" latinLnBrk="0" hangingPunct="1">
                        <a:defRPr sz="1800" b="1" kern="1200">
                          <a:solidFill>
                            <a:schemeClr val="lt1"/>
                          </a:solidFill>
                          <a:latin typeface="Tahoma"/>
                          <a:ea typeface="微软雅黑"/>
                        </a:defRPr>
                      </a:lvl5pPr>
                      <a:lvl6pPr marL="2286000" algn="l" defTabSz="914400" rtl="0" eaLnBrk="1" latinLnBrk="0" hangingPunct="1">
                        <a:defRPr sz="1800" b="1" kern="1200">
                          <a:solidFill>
                            <a:schemeClr val="lt1"/>
                          </a:solidFill>
                          <a:latin typeface="Tahoma"/>
                          <a:ea typeface="微软雅黑"/>
                        </a:defRPr>
                      </a:lvl6pPr>
                      <a:lvl7pPr marL="2743200" algn="l" defTabSz="914400" rtl="0" eaLnBrk="1" latinLnBrk="0" hangingPunct="1">
                        <a:defRPr sz="1800" b="1" kern="1200">
                          <a:solidFill>
                            <a:schemeClr val="lt1"/>
                          </a:solidFill>
                          <a:latin typeface="Tahoma"/>
                          <a:ea typeface="微软雅黑"/>
                        </a:defRPr>
                      </a:lvl7pPr>
                      <a:lvl8pPr marL="3200400" algn="l" defTabSz="914400" rtl="0" eaLnBrk="1" latinLnBrk="0" hangingPunct="1">
                        <a:defRPr sz="1800" b="1" kern="1200">
                          <a:solidFill>
                            <a:schemeClr val="lt1"/>
                          </a:solidFill>
                          <a:latin typeface="Tahoma"/>
                          <a:ea typeface="微软雅黑"/>
                        </a:defRPr>
                      </a:lvl8pPr>
                      <a:lvl9pPr marL="3657600" algn="l" defTabSz="914400" rtl="0" eaLnBrk="1" latinLnBrk="0" hangingPunct="1">
                        <a:defRPr sz="1800" b="1" kern="1200">
                          <a:solidFill>
                            <a:schemeClr val="lt1"/>
                          </a:solidFill>
                          <a:latin typeface="Tahoma"/>
                          <a:ea typeface="微软雅黑"/>
                        </a:defRPr>
                      </a:lvl9pPr>
                    </a:lstStyle>
                    <a:p>
                      <a:r>
                        <a:rPr lang="zh-CN" altLang="en-US" sz="1200" dirty="0"/>
                        <a:t>路径</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2BCC2"/>
                    </a:solidFill>
                  </a:tcPr>
                </a:tc>
                <a:extLst>
                  <a:ext uri="{0D108BD9-81ED-4DB2-BD59-A6C34878D82A}">
                    <a16:rowId xmlns:a16="http://schemas.microsoft.com/office/drawing/2014/main" val="10000"/>
                  </a:ext>
                </a:extLst>
              </a:tr>
              <a:tr h="189372">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r>
                        <a:rPr lang="en-US" altLang="zh-CN" sz="1200" dirty="0"/>
                        <a:t>D1</a:t>
                      </a:r>
                      <a:endParaRPr lang="zh-CN" altLang="en-US" sz="12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40000"/>
                      </a:srgbClr>
                    </a:solidFill>
                  </a:tcPr>
                </a:tc>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华文细黑" pitchFamily="2" charset="-122"/>
                          <a:ea typeface="华文细黑" pitchFamily="2" charset="-122"/>
                        </a:rPr>
                        <a:t>P1</a:t>
                      </a:r>
                      <a:r>
                        <a:rPr lang="en-US" altLang="zh-CN" sz="1200" dirty="0">
                          <a:solidFill>
                            <a:srgbClr val="000000"/>
                          </a:solidFill>
                          <a:latin typeface="华文细黑" pitchFamily="2" charset="-122"/>
                          <a:ea typeface="华文细黑" pitchFamily="2" charset="-122"/>
                          <a:sym typeface="Wingdings" pitchFamily="2" charset="2"/>
                        </a:rPr>
                        <a:t>P3,P1P4,P2P3,P2P4</a:t>
                      </a:r>
                      <a:endParaRPr lang="zh-CN" altLang="en-US" sz="12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40000"/>
                      </a:srgbClr>
                    </a:solidFill>
                  </a:tcPr>
                </a:tc>
                <a:extLst>
                  <a:ext uri="{0D108BD9-81ED-4DB2-BD59-A6C34878D82A}">
                    <a16:rowId xmlns:a16="http://schemas.microsoft.com/office/drawing/2014/main" val="10001"/>
                  </a:ext>
                </a:extLst>
              </a:tr>
              <a:tr h="189372">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r>
                        <a:rPr lang="en-US" altLang="zh-CN" sz="1200" dirty="0"/>
                        <a:t>D2</a:t>
                      </a:r>
                      <a:endParaRPr lang="zh-CN" altLang="en-US" sz="12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20000"/>
                      </a:srgbClr>
                    </a:solidFill>
                  </a:tcPr>
                </a:tc>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华文细黑" pitchFamily="2" charset="-122"/>
                          <a:ea typeface="华文细黑" pitchFamily="2" charset="-122"/>
                        </a:rPr>
                        <a:t>P3</a:t>
                      </a:r>
                      <a:r>
                        <a:rPr lang="en-US" altLang="zh-CN" sz="1200" dirty="0">
                          <a:solidFill>
                            <a:srgbClr val="000000"/>
                          </a:solidFill>
                          <a:latin typeface="华文细黑" pitchFamily="2" charset="-122"/>
                          <a:ea typeface="华文细黑" pitchFamily="2" charset="-122"/>
                          <a:sym typeface="Wingdings" pitchFamily="2" charset="2"/>
                        </a:rPr>
                        <a:t>P6,P3P7,P5P6,P5P7</a:t>
                      </a:r>
                      <a:endParaRPr lang="zh-CN" altLang="en-US" sz="12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20000"/>
                      </a:srgbClr>
                    </a:solidFill>
                  </a:tcPr>
                </a:tc>
                <a:extLst>
                  <a:ext uri="{0D108BD9-81ED-4DB2-BD59-A6C34878D82A}">
                    <a16:rowId xmlns:a16="http://schemas.microsoft.com/office/drawing/2014/main" val="10002"/>
                  </a:ext>
                </a:extLst>
              </a:tr>
              <a:tr h="189372">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r>
                        <a:rPr lang="en-US" altLang="zh-CN" sz="1200" dirty="0"/>
                        <a:t>A1</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40000"/>
                      </a:srgbClr>
                    </a:solidFill>
                  </a:tcPr>
                </a:tc>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华文细黑" pitchFamily="2" charset="-122"/>
                          <a:ea typeface="华文细黑" pitchFamily="2" charset="-122"/>
                        </a:rPr>
                        <a:t>P6</a:t>
                      </a:r>
                      <a:r>
                        <a:rPr lang="en-US" altLang="zh-CN" sz="1200" dirty="0">
                          <a:solidFill>
                            <a:srgbClr val="000000"/>
                          </a:solidFill>
                          <a:latin typeface="华文细黑" pitchFamily="2" charset="-122"/>
                          <a:ea typeface="华文细黑" pitchFamily="2" charset="-122"/>
                          <a:sym typeface="Wingdings" pitchFamily="2" charset="2"/>
                        </a:rPr>
                        <a:t>P8,P6P5,P7P5,P7P8</a:t>
                      </a:r>
                      <a:endParaRPr lang="zh-CN" altLang="en-US" sz="12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40000"/>
                      </a:srgbClr>
                    </a:solidFill>
                  </a:tcPr>
                </a:tc>
                <a:extLst>
                  <a:ext uri="{0D108BD9-81ED-4DB2-BD59-A6C34878D82A}">
                    <a16:rowId xmlns:a16="http://schemas.microsoft.com/office/drawing/2014/main" val="10003"/>
                  </a:ext>
                </a:extLst>
              </a:tr>
              <a:tr h="256002">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r>
                        <a:rPr lang="en-US" altLang="zh-CN" sz="1200" dirty="0"/>
                        <a:t>A2</a:t>
                      </a:r>
                      <a:endParaRPr lang="zh-CN" altLang="en-US" sz="12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20000"/>
                      </a:srgbClr>
                    </a:solidFill>
                  </a:tcPr>
                </a:tc>
                <a:tc>
                  <a:txBody>
                    <a:bodyPr/>
                    <a:lstStyle>
                      <a:lvl1pPr marL="0" algn="l" defTabSz="914400" rtl="0" eaLnBrk="1" latinLnBrk="0" hangingPunct="1">
                        <a:defRPr sz="1800" kern="1200">
                          <a:solidFill>
                            <a:schemeClr val="dk1"/>
                          </a:solidFill>
                          <a:latin typeface="Tahoma"/>
                          <a:ea typeface="微软雅黑"/>
                        </a:defRPr>
                      </a:lvl1pPr>
                      <a:lvl2pPr marL="457200" algn="l" defTabSz="914400" rtl="0" eaLnBrk="1" latinLnBrk="0" hangingPunct="1">
                        <a:defRPr sz="1800" kern="1200">
                          <a:solidFill>
                            <a:schemeClr val="dk1"/>
                          </a:solidFill>
                          <a:latin typeface="Tahoma"/>
                          <a:ea typeface="微软雅黑"/>
                        </a:defRPr>
                      </a:lvl2pPr>
                      <a:lvl3pPr marL="914400" algn="l" defTabSz="914400" rtl="0" eaLnBrk="1" latinLnBrk="0" hangingPunct="1">
                        <a:defRPr sz="1800" kern="1200">
                          <a:solidFill>
                            <a:schemeClr val="dk1"/>
                          </a:solidFill>
                          <a:latin typeface="Tahoma"/>
                          <a:ea typeface="微软雅黑"/>
                        </a:defRPr>
                      </a:lvl3pPr>
                      <a:lvl4pPr marL="1371600" algn="l" defTabSz="914400" rtl="0" eaLnBrk="1" latinLnBrk="0" hangingPunct="1">
                        <a:defRPr sz="1800" kern="1200">
                          <a:solidFill>
                            <a:schemeClr val="dk1"/>
                          </a:solidFill>
                          <a:latin typeface="Tahoma"/>
                          <a:ea typeface="微软雅黑"/>
                        </a:defRPr>
                      </a:lvl4pPr>
                      <a:lvl5pPr marL="1828800" algn="l" defTabSz="914400" rtl="0" eaLnBrk="1" latinLnBrk="0" hangingPunct="1">
                        <a:defRPr sz="1800" kern="1200">
                          <a:solidFill>
                            <a:schemeClr val="dk1"/>
                          </a:solidFill>
                          <a:latin typeface="Tahoma"/>
                          <a:ea typeface="微软雅黑"/>
                        </a:defRPr>
                      </a:lvl5pPr>
                      <a:lvl6pPr marL="2286000" algn="l" defTabSz="914400" rtl="0" eaLnBrk="1" latinLnBrk="0" hangingPunct="1">
                        <a:defRPr sz="1800" kern="1200">
                          <a:solidFill>
                            <a:schemeClr val="dk1"/>
                          </a:solidFill>
                          <a:latin typeface="Tahoma"/>
                          <a:ea typeface="微软雅黑"/>
                        </a:defRPr>
                      </a:lvl6pPr>
                      <a:lvl7pPr marL="2743200" algn="l" defTabSz="914400" rtl="0" eaLnBrk="1" latinLnBrk="0" hangingPunct="1">
                        <a:defRPr sz="1800" kern="1200">
                          <a:solidFill>
                            <a:schemeClr val="dk1"/>
                          </a:solidFill>
                          <a:latin typeface="Tahoma"/>
                          <a:ea typeface="微软雅黑"/>
                        </a:defRPr>
                      </a:lvl7pPr>
                      <a:lvl8pPr marL="3200400" algn="l" defTabSz="914400" rtl="0" eaLnBrk="1" latinLnBrk="0" hangingPunct="1">
                        <a:defRPr sz="1800" kern="1200">
                          <a:solidFill>
                            <a:schemeClr val="dk1"/>
                          </a:solidFill>
                          <a:latin typeface="Tahoma"/>
                          <a:ea typeface="微软雅黑"/>
                        </a:defRPr>
                      </a:lvl8pPr>
                      <a:lvl9pPr marL="3657600" algn="l" defTabSz="914400" rtl="0" eaLnBrk="1" latinLnBrk="0" hangingPunct="1">
                        <a:defRPr sz="1800" kern="1200">
                          <a:solidFill>
                            <a:schemeClr val="dk1"/>
                          </a:solidFill>
                          <a:latin typeface="Tahoma"/>
                          <a:ea typeface="微软雅黑"/>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000000"/>
                          </a:solidFill>
                          <a:latin typeface="华文细黑" pitchFamily="2" charset="-122"/>
                          <a:ea typeface="华文细黑" pitchFamily="2" charset="-122"/>
                        </a:rPr>
                        <a:t>P8</a:t>
                      </a:r>
                      <a:r>
                        <a:rPr lang="en-US" altLang="zh-CN" sz="1200" dirty="0">
                          <a:solidFill>
                            <a:srgbClr val="000000"/>
                          </a:solidFill>
                          <a:latin typeface="华文细黑" pitchFamily="2" charset="-122"/>
                          <a:ea typeface="华文细黑" pitchFamily="2" charset="-122"/>
                          <a:sym typeface="Wingdings" pitchFamily="2" charset="2"/>
                        </a:rPr>
                        <a:t>P9,P8P2,P4P9,P4P2</a:t>
                      </a:r>
                      <a:endParaRPr lang="zh-CN" altLang="en-US" sz="12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BCC2">
                        <a:tint val="20000"/>
                      </a:srgbClr>
                    </a:solidFill>
                  </a:tcPr>
                </a:tc>
                <a:extLst>
                  <a:ext uri="{0D108BD9-81ED-4DB2-BD59-A6C34878D82A}">
                    <a16:rowId xmlns:a16="http://schemas.microsoft.com/office/drawing/2014/main" val="10004"/>
                  </a:ext>
                </a:extLst>
              </a:tr>
            </a:tbl>
          </a:graphicData>
        </a:graphic>
      </p:graphicFrame>
      <p:sp>
        <p:nvSpPr>
          <p:cNvPr id="9" name="矩形 8"/>
          <p:cNvSpPr/>
          <p:nvPr/>
        </p:nvSpPr>
        <p:spPr>
          <a:xfrm>
            <a:off x="5031548" y="1072560"/>
            <a:ext cx="3528392" cy="338554"/>
          </a:xfrm>
          <a:prstGeom prst="rect">
            <a:avLst/>
          </a:prstGeom>
        </p:spPr>
        <p:txBody>
          <a:bodyPr wrap="square">
            <a:spAutoFit/>
          </a:bodyPr>
          <a:lstStyle/>
          <a:p>
            <a:pPr defTabSz="975299"/>
            <a:r>
              <a:rPr lang="zh-CN" altLang="en-US" sz="1600" dirty="0">
                <a:solidFill>
                  <a:srgbClr val="000000"/>
                </a:solidFill>
                <a:latin typeface="华文细黑" pitchFamily="2" charset="-122"/>
                <a:ea typeface="华文细黑" pitchFamily="2" charset="-122"/>
              </a:rPr>
              <a:t>单条件路径</a:t>
            </a:r>
          </a:p>
        </p:txBody>
      </p:sp>
      <p:sp>
        <p:nvSpPr>
          <p:cNvPr id="10" name="矩形 9"/>
          <p:cNvSpPr/>
          <p:nvPr/>
        </p:nvSpPr>
        <p:spPr>
          <a:xfrm>
            <a:off x="5031548" y="3121268"/>
            <a:ext cx="6107863" cy="2800767"/>
          </a:xfrm>
          <a:prstGeom prst="rect">
            <a:avLst/>
          </a:prstGeom>
        </p:spPr>
        <p:txBody>
          <a:bodyPr wrap="square">
            <a:spAutoFit/>
          </a:bodyPr>
          <a:lstStyle/>
          <a:p>
            <a:r>
              <a:rPr lang="zh-CN" altLang="en-US" sz="1600" dirty="0">
                <a:solidFill>
                  <a:srgbClr val="000000"/>
                </a:solidFill>
                <a:latin typeface="华文细黑" pitchFamily="2" charset="-122"/>
                <a:ea typeface="华文细黑" pitchFamily="2" charset="-122"/>
              </a:rPr>
              <a:t>组合路径</a:t>
            </a:r>
            <a:endParaRPr lang="en-US" altLang="zh-CN" sz="1600" dirty="0">
              <a:solidFill>
                <a:srgbClr val="000000"/>
              </a:solidFill>
              <a:latin typeface="华文细黑" pitchFamily="2" charset="-122"/>
              <a:ea typeface="华文细黑" pitchFamily="2" charset="-122"/>
            </a:endParaRPr>
          </a:p>
          <a:p>
            <a:r>
              <a:rPr lang="zh-CN" altLang="en-US" sz="1600" dirty="0">
                <a:solidFill>
                  <a:srgbClr val="000000"/>
                </a:solidFill>
                <a:latin typeface="华文细黑" pitchFamily="2" charset="-122"/>
                <a:ea typeface="华文细黑" pitchFamily="2" charset="-122"/>
              </a:rPr>
              <a:t>将</a:t>
            </a:r>
            <a:r>
              <a:rPr lang="en-US" altLang="zh-CN" sz="1600" dirty="0">
                <a:solidFill>
                  <a:srgbClr val="000000"/>
                </a:solidFill>
                <a:latin typeface="华文细黑" pitchFamily="2" charset="-122"/>
                <a:ea typeface="华文细黑" pitchFamily="2" charset="-122"/>
              </a:rPr>
              <a:t>D1</a:t>
            </a:r>
            <a:r>
              <a:rPr lang="zh-CN" altLang="en-US" sz="1600" dirty="0">
                <a:solidFill>
                  <a:srgbClr val="000000"/>
                </a:solidFill>
                <a:latin typeface="华文细黑" pitchFamily="2" charset="-122"/>
                <a:ea typeface="华文细黑" pitchFamily="2" charset="-122"/>
              </a:rPr>
              <a:t>和</a:t>
            </a:r>
            <a:r>
              <a:rPr lang="en-US" altLang="zh-CN" sz="1600" dirty="0">
                <a:solidFill>
                  <a:srgbClr val="000000"/>
                </a:solidFill>
                <a:latin typeface="华文细黑" pitchFamily="2" charset="-122"/>
                <a:ea typeface="华文细黑" pitchFamily="2" charset="-122"/>
              </a:rPr>
              <a:t>D2</a:t>
            </a:r>
            <a:r>
              <a:rPr lang="zh-CN" altLang="en-US" sz="1600" dirty="0">
                <a:solidFill>
                  <a:srgbClr val="000000"/>
                </a:solidFill>
                <a:latin typeface="华文细黑" pitchFamily="2" charset="-122"/>
                <a:ea typeface="华文细黑" pitchFamily="2" charset="-122"/>
              </a:rPr>
              <a:t>的路径进行组合，使整个路径完整，即从开始到结束。</a:t>
            </a:r>
            <a:endParaRPr lang="en-US" altLang="zh-CN" sz="1600" dirty="0">
              <a:solidFill>
                <a:srgbClr val="000000"/>
              </a:solidFill>
              <a:latin typeface="华文细黑" pitchFamily="2" charset="-122"/>
              <a:ea typeface="华文细黑" pitchFamily="2" charset="-122"/>
            </a:endParaRPr>
          </a:p>
          <a:p>
            <a:endParaRPr lang="en-US" altLang="zh-CN" sz="1600" dirty="0">
              <a:solidFill>
                <a:srgbClr val="000000"/>
              </a:solidFill>
              <a:latin typeface="华文细黑" pitchFamily="2" charset="-122"/>
              <a:ea typeface="华文细黑" pitchFamily="2" charset="-122"/>
            </a:endParaRPr>
          </a:p>
          <a:p>
            <a:r>
              <a:rPr lang="zh-CN" altLang="en-US" sz="1600" dirty="0">
                <a:solidFill>
                  <a:srgbClr val="000000"/>
                </a:solidFill>
                <a:latin typeface="华文细黑" pitchFamily="2" charset="-122"/>
                <a:ea typeface="华文细黑" pitchFamily="2" charset="-122"/>
              </a:rPr>
              <a:t>覆盖组合结果</a:t>
            </a:r>
            <a:r>
              <a:rPr lang="en-US" altLang="zh-CN" sz="1600" dirty="0">
                <a:solidFill>
                  <a:srgbClr val="000000"/>
                </a:solidFill>
                <a:latin typeface="华文细黑" pitchFamily="2" charset="-122"/>
                <a:ea typeface="华文细黑" pitchFamily="2" charset="-122"/>
              </a:rPr>
              <a:t>7</a:t>
            </a:r>
            <a:r>
              <a:rPr lang="zh-CN" altLang="en-US" sz="1600" dirty="0">
                <a:solidFill>
                  <a:srgbClr val="000000"/>
                </a:solidFill>
                <a:latin typeface="华文细黑" pitchFamily="2" charset="-122"/>
                <a:ea typeface="华文细黑" pitchFamily="2" charset="-122"/>
              </a:rPr>
              <a:t>条</a:t>
            </a:r>
            <a:endParaRPr lang="en-US" altLang="zh-CN" sz="1600" dirty="0">
              <a:solidFill>
                <a:srgbClr val="000000"/>
              </a:solidFill>
              <a:latin typeface="华文细黑" pitchFamily="2" charset="-122"/>
              <a:ea typeface="华文细黑" pitchFamily="2" charset="-122"/>
            </a:endParaRPr>
          </a:p>
          <a:p>
            <a:r>
              <a:rPr lang="en-US" altLang="zh-CN" sz="1600" dirty="0">
                <a:solidFill>
                  <a:srgbClr val="000000"/>
                </a:solidFill>
                <a:latin typeface="华文细黑" pitchFamily="2" charset="-122"/>
                <a:ea typeface="华文细黑" pitchFamily="2" charset="-122"/>
              </a:rPr>
              <a:t>P1</a:t>
            </a:r>
            <a:r>
              <a:rPr lang="en-US" altLang="zh-CN" sz="1600" dirty="0">
                <a:solidFill>
                  <a:srgbClr val="000000"/>
                </a:solidFill>
                <a:latin typeface="华文细黑" pitchFamily="2" charset="-122"/>
                <a:ea typeface="华文细黑" pitchFamily="2" charset="-122"/>
                <a:sym typeface="Wingdings" pitchFamily="2" charset="2"/>
              </a:rPr>
              <a:t>P3P6P8P9</a:t>
            </a:r>
            <a:r>
              <a:rPr lang="zh-CN" altLang="en-US" sz="1600" dirty="0">
                <a:solidFill>
                  <a:srgbClr val="000000"/>
                </a:solidFill>
                <a:latin typeface="华文细黑" pitchFamily="2" charset="-122"/>
                <a:ea typeface="华文细黑" pitchFamily="2" charset="-122"/>
                <a:sym typeface="Wingdings" pitchFamily="2" charset="2"/>
              </a:rPr>
              <a:t>（独立线性无关路径）</a:t>
            </a:r>
            <a:endParaRPr lang="en-US" altLang="zh-CN" sz="1600" dirty="0">
              <a:solidFill>
                <a:srgbClr val="000000"/>
              </a:solidFill>
              <a:latin typeface="华文细黑" pitchFamily="2" charset="-122"/>
              <a:ea typeface="华文细黑" pitchFamily="2" charset="-122"/>
              <a:sym typeface="Wingdings" pitchFamily="2" charset="2"/>
            </a:endParaRPr>
          </a:p>
          <a:p>
            <a:r>
              <a:rPr lang="en-US" altLang="zh-CN" sz="1600" dirty="0">
                <a:solidFill>
                  <a:srgbClr val="000000"/>
                </a:solidFill>
                <a:latin typeface="华文细黑" pitchFamily="2" charset="-122"/>
                <a:ea typeface="华文细黑" pitchFamily="2" charset="-122"/>
              </a:rPr>
              <a:t>P1</a:t>
            </a:r>
            <a:r>
              <a:rPr lang="en-US" altLang="zh-CN" sz="1600" dirty="0">
                <a:solidFill>
                  <a:srgbClr val="000000"/>
                </a:solidFill>
                <a:latin typeface="华文细黑" pitchFamily="2" charset="-122"/>
                <a:ea typeface="华文细黑" pitchFamily="2" charset="-122"/>
                <a:sym typeface="Wingdings" pitchFamily="2" charset="2"/>
              </a:rPr>
              <a:t>P3P7P8P9</a:t>
            </a:r>
          </a:p>
          <a:p>
            <a:r>
              <a:rPr lang="en-US" altLang="zh-CN" sz="1600" dirty="0">
                <a:solidFill>
                  <a:srgbClr val="000000"/>
                </a:solidFill>
                <a:latin typeface="华文细黑" pitchFamily="2" charset="-122"/>
                <a:ea typeface="华文细黑" pitchFamily="2" charset="-122"/>
              </a:rPr>
              <a:t>P1</a:t>
            </a:r>
            <a:r>
              <a:rPr lang="en-US" altLang="zh-CN" sz="1600" dirty="0">
                <a:solidFill>
                  <a:srgbClr val="000000"/>
                </a:solidFill>
                <a:latin typeface="华文细黑" pitchFamily="2" charset="-122"/>
                <a:ea typeface="华文细黑" pitchFamily="2" charset="-122"/>
                <a:sym typeface="Wingdings" pitchFamily="2" charset="2"/>
              </a:rPr>
              <a:t>P3P6P5P7P8P9</a:t>
            </a:r>
          </a:p>
          <a:p>
            <a:r>
              <a:rPr lang="en-US" altLang="zh-CN" sz="1600" dirty="0">
                <a:solidFill>
                  <a:srgbClr val="000000"/>
                </a:solidFill>
                <a:latin typeface="华文细黑" pitchFamily="2" charset="-122"/>
                <a:ea typeface="华文细黑" pitchFamily="2" charset="-122"/>
              </a:rPr>
              <a:t>P1</a:t>
            </a:r>
            <a:r>
              <a:rPr lang="en-US" altLang="zh-CN" sz="1600" dirty="0">
                <a:solidFill>
                  <a:srgbClr val="000000"/>
                </a:solidFill>
                <a:latin typeface="华文细黑" pitchFamily="2" charset="-122"/>
                <a:ea typeface="华文细黑" pitchFamily="2" charset="-122"/>
                <a:sym typeface="Wingdings" pitchFamily="2" charset="2"/>
              </a:rPr>
              <a:t>P3P7P5P6P8P9</a:t>
            </a:r>
          </a:p>
          <a:p>
            <a:r>
              <a:rPr lang="en-US" altLang="zh-CN" sz="1600" dirty="0">
                <a:solidFill>
                  <a:srgbClr val="000000"/>
                </a:solidFill>
                <a:latin typeface="华文细黑" pitchFamily="2" charset="-122"/>
                <a:ea typeface="华文细黑" pitchFamily="2" charset="-122"/>
              </a:rPr>
              <a:t>P1</a:t>
            </a:r>
            <a:r>
              <a:rPr lang="en-US" altLang="zh-CN" sz="1600" dirty="0">
                <a:solidFill>
                  <a:srgbClr val="000000"/>
                </a:solidFill>
                <a:latin typeface="华文细黑" pitchFamily="2" charset="-122"/>
                <a:ea typeface="华文细黑" pitchFamily="2" charset="-122"/>
                <a:sym typeface="Wingdings" pitchFamily="2" charset="2"/>
              </a:rPr>
              <a:t>P3P6P8P2P4P9</a:t>
            </a:r>
          </a:p>
          <a:p>
            <a:r>
              <a:rPr lang="en-US" altLang="zh-CN" sz="1600" dirty="0">
                <a:solidFill>
                  <a:srgbClr val="000000"/>
                </a:solidFill>
                <a:latin typeface="华文细黑" pitchFamily="2" charset="-122"/>
                <a:ea typeface="华文细黑" pitchFamily="2" charset="-122"/>
                <a:sym typeface="Wingdings" pitchFamily="2" charset="2"/>
              </a:rPr>
              <a:t>P1P4P9</a:t>
            </a:r>
          </a:p>
          <a:p>
            <a:r>
              <a:rPr lang="en-US" altLang="zh-CN" sz="1600" dirty="0">
                <a:solidFill>
                  <a:srgbClr val="000000"/>
                </a:solidFill>
                <a:latin typeface="华文细黑" pitchFamily="2" charset="-122"/>
                <a:ea typeface="华文细黑" pitchFamily="2" charset="-122"/>
                <a:sym typeface="Wingdings" pitchFamily="2" charset="2"/>
              </a:rPr>
              <a:t>P1P4P2P3P6P8P9</a:t>
            </a:r>
            <a:endParaRPr lang="zh-CN" altLang="en-US" sz="1600"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10333203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PPT"/>
          <p:cNvPicPr>
            <a:picLocks noChangeAspect="1"/>
          </p:cNvPicPr>
          <p:nvPr/>
        </p:nvPicPr>
        <p:blipFill>
          <a:blip r:embed="rId4"/>
          <a:stretch>
            <a:fillRect/>
          </a:stretch>
        </p:blipFill>
        <p:spPr>
          <a:xfrm>
            <a:off x="5639" y="-1691"/>
            <a:ext cx="12180722" cy="6861806"/>
          </a:xfrm>
          <a:prstGeom prst="rect">
            <a:avLst/>
          </a:prstGeom>
        </p:spPr>
      </p:pic>
      <p:pic>
        <p:nvPicPr>
          <p:cNvPr id="11" name="图片 10" descr="PPT"/>
          <p:cNvPicPr>
            <a:picLocks noChangeAspect="1"/>
          </p:cNvPicPr>
          <p:nvPr/>
        </p:nvPicPr>
        <p:blipFill>
          <a:blip r:embed="rId5"/>
          <a:stretch>
            <a:fillRect/>
          </a:stretch>
        </p:blipFill>
        <p:spPr>
          <a:xfrm>
            <a:off x="988556" y="6121659"/>
            <a:ext cx="2005590" cy="150567"/>
          </a:xfrm>
          <a:prstGeom prst="rect">
            <a:avLst/>
          </a:prstGeom>
        </p:spPr>
      </p:pic>
      <p:sp>
        <p:nvSpPr>
          <p:cNvPr id="12" name="文本框 11"/>
          <p:cNvSpPr txBox="1"/>
          <p:nvPr/>
        </p:nvSpPr>
        <p:spPr>
          <a:xfrm>
            <a:off x="1333060" y="2063418"/>
            <a:ext cx="3151853" cy="1732141"/>
          </a:xfrm>
          <a:prstGeom prst="rect">
            <a:avLst/>
          </a:prstGeom>
          <a:noFill/>
        </p:spPr>
        <p:txBody>
          <a:bodyPr wrap="square" rtlCol="0" anchor="t">
            <a:spAutoFit/>
          </a:bodyPr>
          <a:lstStyle>
            <a:defPPr>
              <a:defRPr lang="zh-CN"/>
            </a:defPPr>
            <a:lvl1pPr>
              <a:defRPr sz="5328" b="1">
                <a:solidFill>
                  <a:srgbClr val="03277F"/>
                </a:solidFill>
                <a:latin typeface="微软雅黑" panose="020B0503020204020204" pitchFamily="34" charset="-122"/>
                <a:ea typeface="微软雅黑" panose="020B0503020204020204" pitchFamily="34" charset="-122"/>
              </a:defRPr>
            </a:lvl1pPr>
          </a:lstStyle>
          <a:p>
            <a:r>
              <a:rPr lang="zh-CN" altLang="en-US" dirty="0"/>
              <a:t>感谢各位同学聆听</a:t>
            </a:r>
          </a:p>
        </p:txBody>
      </p:sp>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3300" y="530075"/>
            <a:ext cx="1709365" cy="665881"/>
          </a:xfrm>
          <a:prstGeom prst="rect">
            <a:avLst/>
          </a:prstGeom>
        </p:spPr>
      </p:pic>
      <p:pic>
        <p:nvPicPr>
          <p:cNvPr id="10" name="图片 9" descr="PPT调整"/>
          <p:cNvPicPr>
            <a:picLocks noChangeAspect="1"/>
          </p:cNvPicPr>
          <p:nvPr/>
        </p:nvPicPr>
        <p:blipFill>
          <a:blip r:embed="rId7"/>
          <a:stretch>
            <a:fillRect/>
          </a:stretch>
        </p:blipFill>
        <p:spPr>
          <a:xfrm>
            <a:off x="5990265" y="-1691"/>
            <a:ext cx="6196096" cy="6861806"/>
          </a:xfrm>
          <a:prstGeom prst="rect">
            <a:avLst/>
          </a:prstGeom>
        </p:spPr>
      </p:pic>
    </p:spTree>
    <p:custDataLst>
      <p:tags r:id="rId1"/>
    </p:custDataLst>
    <p:extLst>
      <p:ext uri="{BB962C8B-B14F-4D97-AF65-F5344CB8AC3E}">
        <p14:creationId xmlns:p14="http://schemas.microsoft.com/office/powerpoint/2010/main" val="34570286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13959</TotalTime>
  <Words>3636</Words>
  <Application>Microsoft Office PowerPoint</Application>
  <PresentationFormat>宽屏</PresentationFormat>
  <Paragraphs>601</Paragraphs>
  <Slides>40</Slides>
  <Notes>10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7" baseType="lpstr">
      <vt:lpstr>Microsoft YaHei Light</vt:lpstr>
      <vt:lpstr>PingFang SC</vt:lpstr>
      <vt:lpstr>等线</vt:lpstr>
      <vt:lpstr>华文细黑</vt:lpstr>
      <vt:lpstr>宋体</vt:lpstr>
      <vt:lpstr>微软雅黑</vt:lpstr>
      <vt:lpstr>微软雅黑</vt:lpstr>
      <vt:lpstr>Agency FB</vt:lpstr>
      <vt:lpstr>Arial</vt:lpstr>
      <vt:lpstr>Calibri</vt:lpstr>
      <vt:lpstr>Calibri Light</vt:lpstr>
      <vt:lpstr>Century Schoolbook</vt:lpstr>
      <vt:lpstr>Tahoma</vt:lpstr>
      <vt:lpstr>Times New Roman</vt:lpstr>
      <vt:lpstr>Wingdings</vt:lpstr>
      <vt:lpstr>Office 主题</vt:lpstr>
      <vt:lpstr>Microsoft Excel 工作表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Administrator</cp:lastModifiedBy>
  <cp:revision>503</cp:revision>
  <dcterms:created xsi:type="dcterms:W3CDTF">2019-07-12T06:45:30Z</dcterms:created>
  <dcterms:modified xsi:type="dcterms:W3CDTF">2024-01-15T06:22:49Z</dcterms:modified>
</cp:coreProperties>
</file>